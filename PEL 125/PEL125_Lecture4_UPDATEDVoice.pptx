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embeddedFontLst>
    <p:embeddedFont>
      <p:font typeface="Century Gothic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izg3ysZNxci/q/lAru0s9yJkqa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7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CenturyGothic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CenturyGothic-italic.fntdata"/><Relationship Id="rId16" Type="http://schemas.openxmlformats.org/officeDocument/2006/relationships/slide" Target="slides/slide10.xml"/><Relationship Id="rId38" Type="http://schemas.openxmlformats.org/officeDocument/2006/relationships/font" Target="fonts/CenturyGothic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8" name="Google Shape;1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5" name="Google Shape;1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1" name="Google Shape;33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38" name="Google Shape;33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45" name="Google Shape;34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58" name="Google Shape;35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65" name="Google Shape;36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525" y="-3175"/>
            <a:ext cx="9153525" cy="68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2"/>
          <p:cNvSpPr txBox="1"/>
          <p:nvPr>
            <p:ph type="ctrTitle"/>
          </p:nvPr>
        </p:nvSpPr>
        <p:spPr>
          <a:xfrm>
            <a:off x="1547813" y="1125538"/>
            <a:ext cx="6908800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subTitle"/>
          </p:nvPr>
        </p:nvSpPr>
        <p:spPr>
          <a:xfrm>
            <a:off x="1547813" y="2351088"/>
            <a:ext cx="691356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457200" y="117475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2" type="body"/>
          </p:nvPr>
        </p:nvSpPr>
        <p:spPr>
          <a:xfrm>
            <a:off x="4648200" y="117475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39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0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40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2095500" y="-463550"/>
            <a:ext cx="4953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2"/>
          <p:cNvSpPr txBox="1"/>
          <p:nvPr>
            <p:ph type="title"/>
          </p:nvPr>
        </p:nvSpPr>
        <p:spPr>
          <a:xfrm rot="5400000">
            <a:off x="4689475" y="2130425"/>
            <a:ext cx="593725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" type="body"/>
          </p:nvPr>
        </p:nvSpPr>
        <p:spPr>
          <a:xfrm rot="5400000">
            <a:off x="498475" y="149225"/>
            <a:ext cx="593725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4" name="Google Shape;84;p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4"/>
          <p:cNvSpPr txBox="1"/>
          <p:nvPr>
            <p:ph type="ctrTitle"/>
          </p:nvPr>
        </p:nvSpPr>
        <p:spPr>
          <a:xfrm>
            <a:off x="1279525" y="1600200"/>
            <a:ext cx="708501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4"/>
          <p:cNvSpPr txBox="1"/>
          <p:nvPr>
            <p:ph idx="1" type="subTitle"/>
          </p:nvPr>
        </p:nvSpPr>
        <p:spPr>
          <a:xfrm>
            <a:off x="1279525" y="2819400"/>
            <a:ext cx="52562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5" name="Google Shape;95;p44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44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7" name="Google Shape;97;p44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5"/>
          <p:cNvSpPr txBox="1"/>
          <p:nvPr>
            <p:ph type="title"/>
          </p:nvPr>
        </p:nvSpPr>
        <p:spPr>
          <a:xfrm>
            <a:off x="1279525" y="685800"/>
            <a:ext cx="7086600" cy="73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5"/>
          <p:cNvSpPr txBox="1"/>
          <p:nvPr>
            <p:ph idx="1" type="body"/>
          </p:nvPr>
        </p:nvSpPr>
        <p:spPr>
          <a:xfrm>
            <a:off x="1279525" y="1600200"/>
            <a:ext cx="5257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1" name="Google Shape;101;p45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2" name="Google Shape;102;p45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3" name="Google Shape;103;p45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9pPr>
          </a:lstStyle>
          <a:p/>
        </p:txBody>
      </p:sp>
      <p:sp>
        <p:nvSpPr>
          <p:cNvPr id="107" name="Google Shape;107;p46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46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46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/>
          <p:nvPr>
            <p:ph type="title"/>
          </p:nvPr>
        </p:nvSpPr>
        <p:spPr>
          <a:xfrm>
            <a:off x="1279525" y="685800"/>
            <a:ext cx="7086600" cy="73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7"/>
          <p:cNvSpPr txBox="1"/>
          <p:nvPr>
            <p:ph idx="1" type="body"/>
          </p:nvPr>
        </p:nvSpPr>
        <p:spPr>
          <a:xfrm>
            <a:off x="1279525" y="1600200"/>
            <a:ext cx="25527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9pPr>
          </a:lstStyle>
          <a:p/>
        </p:txBody>
      </p:sp>
      <p:sp>
        <p:nvSpPr>
          <p:cNvPr id="113" name="Google Shape;113;p47"/>
          <p:cNvSpPr txBox="1"/>
          <p:nvPr>
            <p:ph idx="2" type="body"/>
          </p:nvPr>
        </p:nvSpPr>
        <p:spPr>
          <a:xfrm>
            <a:off x="3984625" y="1600200"/>
            <a:ext cx="25527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»"/>
              <a:defRPr sz="1800"/>
            </a:lvl9pPr>
          </a:lstStyle>
          <a:p/>
        </p:txBody>
      </p:sp>
      <p:sp>
        <p:nvSpPr>
          <p:cNvPr id="114" name="Google Shape;114;p47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5" name="Google Shape;115;p47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47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9pPr>
          </a:lstStyle>
          <a:p/>
        </p:txBody>
      </p:sp>
      <p:sp>
        <p:nvSpPr>
          <p:cNvPr id="120" name="Google Shape;120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9pPr>
          </a:lstStyle>
          <a:p/>
        </p:txBody>
      </p:sp>
      <p:sp>
        <p:nvSpPr>
          <p:cNvPr id="121" name="Google Shape;121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9pPr>
          </a:lstStyle>
          <a:p/>
        </p:txBody>
      </p:sp>
      <p:sp>
        <p:nvSpPr>
          <p:cNvPr id="122" name="Google Shape;122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sz="1600"/>
            </a:lvl9pPr>
          </a:lstStyle>
          <a:p/>
        </p:txBody>
      </p:sp>
      <p:sp>
        <p:nvSpPr>
          <p:cNvPr id="123" name="Google Shape;123;p48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4" name="Google Shape;124;p48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5" name="Google Shape;125;p48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9"/>
          <p:cNvSpPr txBox="1"/>
          <p:nvPr>
            <p:ph type="title"/>
          </p:nvPr>
        </p:nvSpPr>
        <p:spPr>
          <a:xfrm>
            <a:off x="1279525" y="685800"/>
            <a:ext cx="7086600" cy="73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9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9" name="Google Shape;129;p49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49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0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3" name="Google Shape;133;p50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4" name="Google Shape;134;p50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»"/>
              <a:defRPr sz="2000"/>
            </a:lvl9pPr>
          </a:lstStyle>
          <a:p/>
        </p:txBody>
      </p:sp>
      <p:sp>
        <p:nvSpPr>
          <p:cNvPr id="138" name="Google Shape;138;p5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9pPr>
          </a:lstStyle>
          <a:p/>
        </p:txBody>
      </p:sp>
      <p:sp>
        <p:nvSpPr>
          <p:cNvPr id="139" name="Google Shape;139;p51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51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1" name="Google Shape;141;p51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5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5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9pPr>
          </a:lstStyle>
          <a:p/>
        </p:txBody>
      </p:sp>
      <p:sp>
        <p:nvSpPr>
          <p:cNvPr id="146" name="Google Shape;146;p52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7" name="Google Shape;147;p52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8" name="Google Shape;148;p52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3"/>
          <p:cNvSpPr txBox="1"/>
          <p:nvPr>
            <p:ph type="title"/>
          </p:nvPr>
        </p:nvSpPr>
        <p:spPr>
          <a:xfrm>
            <a:off x="1279525" y="685800"/>
            <a:ext cx="7086600" cy="73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3"/>
          <p:cNvSpPr txBox="1"/>
          <p:nvPr>
            <p:ph idx="1" type="body"/>
          </p:nvPr>
        </p:nvSpPr>
        <p:spPr>
          <a:xfrm rot="5400000">
            <a:off x="1645444" y="1234282"/>
            <a:ext cx="4525963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2" name="Google Shape;152;p53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53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p53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4"/>
          <p:cNvSpPr txBox="1"/>
          <p:nvPr>
            <p:ph type="title"/>
          </p:nvPr>
        </p:nvSpPr>
        <p:spPr>
          <a:xfrm rot="5400000">
            <a:off x="4760119" y="2520157"/>
            <a:ext cx="5440363" cy="1771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4"/>
          <p:cNvSpPr txBox="1"/>
          <p:nvPr>
            <p:ph idx="1" type="body"/>
          </p:nvPr>
        </p:nvSpPr>
        <p:spPr>
          <a:xfrm rot="5400000">
            <a:off x="1140619" y="824707"/>
            <a:ext cx="5440363" cy="5162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8" name="Google Shape;158;p54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9" name="Google Shape;159;p54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54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4" name="Google Shape;164;p5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5" name="Google Shape;165;p5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8763" cy="68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1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3"/>
          <p:cNvSpPr txBox="1"/>
          <p:nvPr>
            <p:ph type="title"/>
          </p:nvPr>
        </p:nvSpPr>
        <p:spPr>
          <a:xfrm>
            <a:off x="1279525" y="685800"/>
            <a:ext cx="7086600" cy="73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8" name="Google Shape;88;p43"/>
          <p:cNvSpPr txBox="1"/>
          <p:nvPr>
            <p:ph idx="1" type="body"/>
          </p:nvPr>
        </p:nvSpPr>
        <p:spPr>
          <a:xfrm>
            <a:off x="1279525" y="1600200"/>
            <a:ext cx="5257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–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–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»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9" name="Google Shape;89;p43"/>
          <p:cNvSpPr txBox="1"/>
          <p:nvPr>
            <p:ph idx="10" type="dt"/>
          </p:nvPr>
        </p:nvSpPr>
        <p:spPr>
          <a:xfrm>
            <a:off x="457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0" name="Google Shape;90;p43"/>
          <p:cNvSpPr txBox="1"/>
          <p:nvPr>
            <p:ph idx="11" type="ftr"/>
          </p:nvPr>
        </p:nvSpPr>
        <p:spPr>
          <a:xfrm>
            <a:off x="3124200" y="6429375"/>
            <a:ext cx="2895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1" name="Google Shape;91;p43"/>
          <p:cNvSpPr txBox="1"/>
          <p:nvPr>
            <p:ph idx="12" type="sldNum"/>
          </p:nvPr>
        </p:nvSpPr>
        <p:spPr>
          <a:xfrm>
            <a:off x="6553200" y="642937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  <a:defRPr b="0" i="0" sz="1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"/>
          <p:cNvSpPr txBox="1"/>
          <p:nvPr>
            <p:ph type="ctrTitle"/>
          </p:nvPr>
        </p:nvSpPr>
        <p:spPr>
          <a:xfrm>
            <a:off x="1547813" y="1125538"/>
            <a:ext cx="6908800" cy="108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8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FORMING PASSIVE SENTENCES </a:t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 txBox="1"/>
          <p:nvPr>
            <p:ph idx="1" type="subTitle"/>
          </p:nvPr>
        </p:nvSpPr>
        <p:spPr>
          <a:xfrm>
            <a:off x="5570220" y="2351405"/>
            <a:ext cx="289115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Week 4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Verbs and Voice</a:t>
            </a:r>
            <a:endParaRPr b="1" i="0" sz="4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 txBox="1"/>
          <p:nvPr>
            <p:ph idx="1" type="body"/>
          </p:nvPr>
        </p:nvSpPr>
        <p:spPr>
          <a:xfrm>
            <a:off x="457200" y="1174750"/>
            <a:ext cx="457708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imes New Roman"/>
              <a:buChar char="•"/>
            </a:pPr>
            <a:r>
              <a:rPr b="1" lang="en-US" sz="2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</a:t>
            </a:r>
            <a:r>
              <a:rPr b="1" lang="en-US" sz="2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is the form a verb takes to indicate whether the subject of the verb performs or receives the action.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There are two types of voice:  </a:t>
            </a:r>
            <a:r>
              <a:rPr b="1" lang="en-US" sz="2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voice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2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 voice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571625"/>
            <a:ext cx="3209290" cy="41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265" y="1511935"/>
            <a:ext cx="6263005" cy="4491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Active Voice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imes New Roman"/>
              <a:buChar char="•"/>
            </a:pPr>
            <a:r>
              <a:rPr b="1" lang="en-US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Voice</a:t>
            </a:r>
            <a:r>
              <a:rPr b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– indicates that the subject of the verb is acting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Because the subject does or "acts upon" the verb in such sentences, the sentences are said to be in the </a:t>
            </a:r>
            <a:r>
              <a:rPr b="1" i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voice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Active Voice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Char char="▪"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examples show that the </a:t>
            </a:r>
            <a:r>
              <a:rPr b="1" i="0" lang="en-US" sz="3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  </a:t>
            </a:r>
            <a:r>
              <a:rPr b="1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doing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verb's action.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1925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04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leopard is chasing the antelope.</a:t>
            </a:r>
            <a:endParaRPr b="1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996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leopard (</a:t>
            </a: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doing the chasing (</a:t>
            </a: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996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996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04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Kristy will give a book report to the class.</a:t>
            </a:r>
            <a:endParaRPr b="1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996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Kristy (</a:t>
            </a: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doing the giving (</a:t>
            </a: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996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1" i="1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1925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Identify the subject</a:t>
            </a:r>
            <a:endParaRPr/>
          </a:p>
        </p:txBody>
      </p:sp>
      <p:pic>
        <p:nvPicPr>
          <p:cNvPr id="206" name="Google Shape;206;p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555" y="1198245"/>
            <a:ext cx="8018780" cy="441833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 txBox="1"/>
          <p:nvPr>
            <p:ph idx="1" type="body"/>
          </p:nvPr>
        </p:nvSpPr>
        <p:spPr>
          <a:xfrm>
            <a:off x="457200" y="5523865"/>
            <a:ext cx="4038600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975995" y="5744210"/>
            <a:ext cx="712914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leopard is chasing antelope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Passive Voice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 a </a:t>
            </a:r>
            <a:r>
              <a:rPr b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 voice sentence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subject and object flip-flop. The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becomes the passive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recipient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the action.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Because the subject is being "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acted upon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 (or is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passive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), such sentences are said to be in the </a:t>
            </a:r>
            <a:r>
              <a:rPr b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 voice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Passive Voice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These examples show the </a:t>
            </a:r>
            <a:r>
              <a:rPr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being acted upon by the verb. 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 boy was jumped on by the dog.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Boy (</a:t>
            </a:r>
            <a:r>
              <a:rPr i="1"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)  was being jumped on (</a:t>
            </a:r>
            <a:r>
              <a:rPr i="1"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 book report will be given by Kristy to the class.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Report (</a:t>
            </a:r>
            <a:r>
              <a:rPr i="1"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) will be given (</a:t>
            </a:r>
            <a:r>
              <a:rPr i="1"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i="1"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My paper was eaten by the computer.	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</a:pP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Paper (</a:t>
            </a:r>
            <a:r>
              <a:rPr i="1"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) was being eaten (</a:t>
            </a:r>
            <a:r>
              <a:rPr i="1"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</a:t>
            </a:r>
            <a:r>
              <a:rPr i="1" lang="en-US" sz="3200"/>
              <a:t>).</a:t>
            </a:r>
            <a:endParaRPr b="1" i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Reasons to Use the Active Voice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prefer to use active voice because it is more direct.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imes New Roman"/>
              <a:buChar char="•"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imes New Roman"/>
              <a:buChar char="–"/>
            </a:pPr>
            <a:r>
              <a:rPr i="1"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The waiter dropped the tray of food.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imes New Roman"/>
              <a:buChar char="–"/>
            </a:pPr>
            <a:r>
              <a:rPr i="1" lang="en-US" sz="32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The tray of food was dropped by the waiter.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Reasons to Use the Active Voice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Char char="▪"/>
            </a:pPr>
            <a:r>
              <a:rPr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active voice is less awkward and clearly states relationship between subject and action.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660"/>
              <a:buFont typeface="Noto Sans Symbols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Char char="▪"/>
            </a:pPr>
            <a:r>
              <a:rPr i="0" lang="en-US" sz="3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04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i="0" lang="en-US" sz="2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</a:t>
            </a:r>
            <a:r>
              <a:rPr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Your request for funding has been denied by the review committee.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04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i="0" lang="en-US" sz="2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r>
              <a:rPr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review committee denied your request for funding.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When to Use Passive Voice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 txBox="1"/>
          <p:nvPr>
            <p:ph idx="1" type="body"/>
          </p:nvPr>
        </p:nvSpPr>
        <p:spPr>
          <a:xfrm>
            <a:off x="457200" y="1174750"/>
            <a:ext cx="8229600" cy="541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Noto Sans Symbols"/>
              <a:buChar char="❖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agent is not known, is 'people in general', is unimportant, or is obvious, we prefer passives.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Noto Sans Symbols"/>
              <a:buChar char="❖"/>
            </a:pPr>
            <a:r>
              <a:rPr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Arial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My office was broken into when I was on holiday, (unknown agent)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Arial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order form can be found on page 2. (agent = people in general)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Arial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boxes should be handled with care, (unimportant agent)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80"/>
              <a:buFont typeface="Arial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 is being treated in hospital, (obvious agent; presumably 'doctors')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>
            <p:ph idx="1" type="body"/>
          </p:nvPr>
        </p:nvSpPr>
        <p:spPr>
          <a:xfrm>
            <a:off x="457200" y="963295"/>
            <a:ext cx="8309610" cy="1709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In </a:t>
            </a:r>
            <a:r>
              <a:rPr lang="en-US" sz="2400">
                <a:solidFill>
                  <a:srgbClr val="FF0000"/>
                </a:solidFill>
              </a:rPr>
              <a:t>factual</a:t>
            </a:r>
            <a:r>
              <a:rPr lang="en-US" sz="2400"/>
              <a:t> writing, particularly in describing procedures or processes, we often wish to omit the agent, and use passives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e.g.</a:t>
            </a:r>
            <a:endParaRPr sz="2400"/>
          </a:p>
        </p:txBody>
      </p:sp>
      <p:sp>
        <p:nvSpPr>
          <p:cNvPr id="250" name="Google Shape;250;p12"/>
          <p:cNvSpPr/>
          <p:nvPr/>
        </p:nvSpPr>
        <p:spPr>
          <a:xfrm>
            <a:off x="1574165" y="2220595"/>
            <a:ext cx="7285990" cy="3360420"/>
          </a:xfrm>
          <a:prstGeom prst="roundRect">
            <a:avLst>
              <a:gd fmla="val 16667" name="adj"/>
            </a:avLst>
          </a:prstGeom>
          <a:solidFill>
            <a:srgbClr val="C0C0C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Nuclear waste will still be radioactive even after 20,000 years,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it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must be disposed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</a:t>
            </a:r>
            <a:r>
              <a:rPr lang="en-US" sz="2000">
                <a:solidFill>
                  <a:schemeClr val="dk1"/>
                </a:solidFill>
              </a:rPr>
              <a:t>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very carefully. It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be stored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liquid in stainless-steel containers which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 encased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concrete. The most dangerous nuclear waste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be</a:t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turned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glass. It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 planned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store this glass in deep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underground mines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227965" y="5634990"/>
            <a:ext cx="8687435" cy="1146810"/>
          </a:xfrm>
          <a:prstGeom prst="flowChartProcess">
            <a:avLst/>
          </a:prstGeom>
          <a:solidFill>
            <a:srgbClr val="EAEAE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spoken English, we often use a subject such as people, somebody, they, we, or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you even when we do not know who the agent is. In formal English, particularly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writing, we often prefer to use a passive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</a:t>
            </a:r>
            <a:endParaRPr/>
          </a:p>
        </p:txBody>
      </p:sp>
      <p:pic>
        <p:nvPicPr>
          <p:cNvPr id="257" name="Google Shape;25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796030"/>
            <a:ext cx="5774690" cy="263017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 txBox="1"/>
          <p:nvPr/>
        </p:nvSpPr>
        <p:spPr>
          <a:xfrm>
            <a:off x="2896870" y="5458460"/>
            <a:ext cx="4723130" cy="1052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381000" y="1143000"/>
            <a:ext cx="8155305" cy="232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Transitive verbs can have a passive form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They destroyed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building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«—• 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building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destroyed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 txBox="1"/>
          <p:nvPr>
            <p:ph idx="1" type="body"/>
          </p:nvPr>
        </p:nvSpPr>
        <p:spPr>
          <a:xfrm>
            <a:off x="457200" y="1174750"/>
            <a:ext cx="8405495" cy="2494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/>
              <a:t>Intransitive verb</a:t>
            </a:r>
            <a:r>
              <a:rPr lang="en-US"/>
              <a:t> can’t have passive forms.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For e.g.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 slept for nearly ten hours last night.</a:t>
            </a:r>
            <a:endParaRPr/>
          </a:p>
        </p:txBody>
      </p:sp>
      <p:pic>
        <p:nvPicPr>
          <p:cNvPr id="266" name="Google Shape;266;p1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910" y="3907155"/>
            <a:ext cx="720471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ACTIVITY : Identify the transitive verbs</a:t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838200" y="1676400"/>
            <a:ext cx="7467600" cy="3938905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arrive        destroy         deteriorate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    follow           exist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happen     need           prevent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recede      release       wear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</a:t>
            </a:r>
            <a:endParaRPr/>
          </a:p>
        </p:txBody>
      </p:sp>
      <p:sp>
        <p:nvSpPr>
          <p:cNvPr id="278" name="Google Shape;278;p16"/>
          <p:cNvSpPr txBox="1"/>
          <p:nvPr>
            <p:ph idx="1" type="body"/>
          </p:nvPr>
        </p:nvSpPr>
        <p:spPr>
          <a:xfrm>
            <a:off x="457200" y="117475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Transitive Verbs: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Destroy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Follow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Need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Prevent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Release</a:t>
            </a:r>
            <a:endParaRPr/>
          </a:p>
        </p:txBody>
      </p:sp>
      <p:sp>
        <p:nvSpPr>
          <p:cNvPr id="279" name="Google Shape;279;p16"/>
          <p:cNvSpPr txBox="1"/>
          <p:nvPr>
            <p:ph idx="2" type="body"/>
          </p:nvPr>
        </p:nvSpPr>
        <p:spPr>
          <a:xfrm>
            <a:off x="4648200" y="1174750"/>
            <a:ext cx="4038600" cy="5467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Intransitive Verbs: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Arrive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Deteriorate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Develop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Exist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Happen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Recede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Wear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CFFEC"/>
            </a:gs>
            <a:gs pos="74000">
              <a:srgbClr val="5DFF5D"/>
            </a:gs>
            <a:gs pos="83000">
              <a:srgbClr val="5DFF5D"/>
            </a:gs>
            <a:gs pos="100000">
              <a:srgbClr val="93FF93"/>
            </a:gs>
          </a:gsLst>
          <a:lin ang="5400000" scaled="0"/>
        </a:gra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Exception </a:t>
            </a:r>
            <a:endParaRPr/>
          </a:p>
        </p:txBody>
      </p:sp>
      <p:sp>
        <p:nvSpPr>
          <p:cNvPr id="285" name="Google Shape;285;p17"/>
          <p:cNvSpPr txBox="1"/>
          <p:nvPr>
            <p:ph idx="1" type="body"/>
          </p:nvPr>
        </p:nvSpPr>
        <p:spPr>
          <a:xfrm>
            <a:off x="457200" y="117475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457200" y="1148080"/>
            <a:ext cx="8263255" cy="533019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verbs can be used at different times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and without objects - that is, they can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both transitive and intransitive.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e.g. 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Are they meeting him at the station? (transitive)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he being met at the airport? (passive)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When shall we meet?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(intransitive; no passive possible)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Double object</a:t>
            </a:r>
            <a:endParaRPr/>
          </a:p>
        </p:txBody>
      </p:sp>
      <p:sp>
        <p:nvSpPr>
          <p:cNvPr id="292" name="Google Shape;292;p18"/>
          <p:cNvSpPr txBox="1"/>
          <p:nvPr>
            <p:ph idx="1" type="body"/>
          </p:nvPr>
        </p:nvSpPr>
        <p:spPr>
          <a:xfrm>
            <a:off x="457200" y="5046345"/>
            <a:ext cx="8142605" cy="1081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582295" y="1379855"/>
            <a:ext cx="8028305" cy="4980305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Verbs that can be followed by either 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+ object or 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+ prepositional object in active clauses 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have </a:t>
            </a:r>
            <a:r>
              <a:rPr b="1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corresponding passive forms. </a:t>
            </a:r>
            <a:endParaRPr b="0" i="0" sz="32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0500"/>
            <a:ext cx="8305800" cy="621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 txBox="1"/>
          <p:nvPr>
            <p:ph idx="2" type="body"/>
          </p:nvPr>
        </p:nvSpPr>
        <p:spPr>
          <a:xfrm>
            <a:off x="499745" y="1174750"/>
            <a:ext cx="818705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 </a:t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>
            <a:off x="894080" y="1027430"/>
            <a:ext cx="4363720" cy="4336415"/>
          </a:xfrm>
          <a:prstGeom prst="ellipse">
            <a:avLst/>
          </a:prstGeom>
          <a:solidFill>
            <a:srgbClr val="DDFF7D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demonstrate,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explain, 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introduce, describe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mention, 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report, suggest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4724400" y="1676400"/>
            <a:ext cx="3897630" cy="2438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verbs have only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one passive form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609600" y="5486400"/>
            <a:ext cx="8382000" cy="1295400"/>
          </a:xfrm>
          <a:prstGeom prst="flowChartProcess">
            <a:avLst/>
          </a:prstGeom>
          <a:solidFill>
            <a:srgbClr val="D5D5D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 described the situation to me.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:  The situation was described to me.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Change the voice</a:t>
            </a:r>
            <a:endParaRPr/>
          </a:p>
        </p:txBody>
      </p:sp>
      <p:sp>
        <p:nvSpPr>
          <p:cNvPr id="314" name="Google Shape;314;p21"/>
          <p:cNvSpPr txBox="1"/>
          <p:nvPr>
            <p:ph idx="1" type="body"/>
          </p:nvPr>
        </p:nvSpPr>
        <p:spPr>
          <a:xfrm>
            <a:off x="457200" y="1174750"/>
            <a:ext cx="808101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Someone mentioned the problem to me.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Someone had reported the theft to the police.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Someone told the story to me.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Someone has given £1,000 to the charity.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Someone will demonstrate the game to the children.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Answers</a:t>
            </a:r>
            <a:endParaRPr/>
          </a:p>
        </p:txBody>
      </p:sp>
      <p:sp>
        <p:nvSpPr>
          <p:cNvPr id="320" name="Google Shape;320;p22"/>
          <p:cNvSpPr txBox="1"/>
          <p:nvPr>
            <p:ph idx="1" type="body"/>
          </p:nvPr>
        </p:nvSpPr>
        <p:spPr>
          <a:xfrm>
            <a:off x="457200" y="1174750"/>
            <a:ext cx="777621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The problem was mentioned to me.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 The theft had been reported to the police.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 I was told the story. / The story was told to me.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  The charity has been given £1,000. / £1,000 has been given to the charity.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The game will be demonstrated to the children.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"/>
          <p:cNvSpPr txBox="1"/>
          <p:nvPr>
            <p:ph idx="1" type="body"/>
          </p:nvPr>
        </p:nvSpPr>
        <p:spPr>
          <a:xfrm>
            <a:off x="457200" y="117475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 txBox="1"/>
          <p:nvPr>
            <p:ph idx="2" type="body"/>
          </p:nvPr>
        </p:nvSpPr>
        <p:spPr>
          <a:xfrm>
            <a:off x="4648200" y="117475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253365" y="1001395"/>
            <a:ext cx="8698865" cy="5603240"/>
          </a:xfrm>
          <a:prstGeom prst="flowChartProcess">
            <a:avLst/>
          </a:prstGeom>
          <a:solidFill>
            <a:srgbClr val="D5D5D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make a passive form of transitive two- and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three-word verbs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Martha talked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buying a motorbike.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(= V + object + preposition) and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was talked into buying a motorbike by Martha.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They gave over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whole programme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 from Bosnia. (= V + adverb + object +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preposition) and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whole programme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was given over to a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 from Bosnia.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 of Passive Voice Verbs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4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▪"/>
            </a:pPr>
            <a:r>
              <a:rPr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Writers should be familiar with the forms of "to be" , often called linking verbs, so that they can easily identify the passive voice in their work.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9860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Char char="▪"/>
            </a:pPr>
            <a:r>
              <a:rPr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forms of "</a:t>
            </a:r>
            <a:r>
              <a:rPr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be</a:t>
            </a:r>
            <a:r>
              <a:rPr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": 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041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880"/>
              <a:buFont typeface="Noto Sans Symbols"/>
              <a:buChar char="🢭"/>
            </a:pPr>
            <a:r>
              <a:rPr i="1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am, is, are, was, were, be, being, been</a:t>
            </a:r>
            <a:endParaRPr i="1" sz="3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3040"/>
              <a:buFont typeface="Noto Sans Symbols"/>
              <a:buNone/>
            </a:pPr>
            <a:r>
              <a:t/>
            </a:r>
            <a:endParaRPr i="1" sz="3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 of Passive Voice Verbs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5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Note the forms of "to be" in the examples of the verb "to kick" in various forms of the passive voice: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kicked----------------had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been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kicked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was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kicked-------------is going to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kicked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being kicked---------will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kicked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has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been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kicked-------can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kicked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was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being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kicked------should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kicked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 of Passive Voice Verbs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6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 passive voice sentences will contain a 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b="1" i="0" lang="en-US" sz="3000" u="none" cap="none" strike="noStrike">
                <a:solidFill>
                  <a:srgbClr val="D0FF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phrase</a:t>
            </a: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indicting who or what performed the action.</a:t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Passive sentences can be easily transformed into active sentences when the object of the preposition "</a:t>
            </a:r>
            <a:r>
              <a:rPr b="0" i="0" lang="en-US" sz="3000" u="none" cap="none" strike="noStrike">
                <a:solidFill>
                  <a:srgbClr val="D0FF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is moved to the subject position in the sentence.</a:t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1925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490" y="128905"/>
            <a:ext cx="8676640" cy="65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Let’s Practice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8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Char char="▪"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Directions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Change the sentences below to the </a:t>
            </a:r>
            <a:r>
              <a:rPr b="1" i="0" lang="en-US" sz="3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voice</a:t>
            </a:r>
            <a:r>
              <a:rPr b="0" i="0" lang="en-US" sz="3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3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690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statue is being visited by hundreds of tourists every year.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690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books were stolen by someone yesterday.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690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books had been left in the classroom by a careless student.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690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Coffee is raised in many parts of Hawaii by plantation workers.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6901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house had been broken into by someone while the owners were on vacation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Let’s Practice</a:t>
            </a:r>
            <a:endParaRPr b="1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9"/>
          <p:cNvSpPr txBox="1"/>
          <p:nvPr>
            <p:ph idx="1"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Char char="▪"/>
            </a:pPr>
            <a:r>
              <a:rPr b="1" i="0" lang="en-US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Directions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Change the sentences below to the </a:t>
            </a:r>
            <a:r>
              <a:rPr b="1" i="0" lang="en-US" sz="3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 voice</a:t>
            </a: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186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Children cannot open these bottles easily.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186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government built a road right outside her front door.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186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Ross broke the antique vase as he walked through the store.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186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she arrived, the changes amazed her. 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186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Arial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construction workers are making street repairs all month long.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41148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"/>
          <p:cNvSpPr txBox="1"/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4866005" cy="271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ack of books design templat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2001-09-07T04:38:00Z</dcterms:created>
  <dc:creator>Dawn Marie Coleman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379A98A10A6948F0AC6C8111C5F37FF3_13</vt:lpwstr>
  </property>
  <property fmtid="{D5CDD505-2E9C-101B-9397-08002B2CF9AE}" pid="3" name="KSOProductBuildVer">
    <vt:lpwstr>1033-12.2.0.13431</vt:lpwstr>
  </property>
</Properties>
</file>