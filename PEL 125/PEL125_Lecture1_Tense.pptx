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81556"/>
            <a:ext cx="12192000" cy="43094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1488" y="1944700"/>
            <a:ext cx="1020902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2948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1881" y="183007"/>
            <a:ext cx="596823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2140" y="1250645"/>
            <a:ext cx="11167719" cy="4708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7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12" Type="http://schemas.openxmlformats.org/officeDocument/2006/relationships/image" Target="../media/image16.jpg"/><Relationship Id="rId2" Type="http://schemas.openxmlformats.org/officeDocument/2006/relationships/image" Target="../media/image6.jpg"/><Relationship Id="rId16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15.jpg"/><Relationship Id="rId5" Type="http://schemas.openxmlformats.org/officeDocument/2006/relationships/image" Target="../media/image9.jpg"/><Relationship Id="rId15" Type="http://schemas.openxmlformats.org/officeDocument/2006/relationships/image" Target="../media/image19.jpg"/><Relationship Id="rId10" Type="http://schemas.openxmlformats.org/officeDocument/2006/relationships/image" Target="../media/image14.jpg"/><Relationship Id="rId4" Type="http://schemas.openxmlformats.org/officeDocument/2006/relationships/image" Target="../media/image8.jpg"/><Relationship Id="rId9" Type="http://schemas.openxmlformats.org/officeDocument/2006/relationships/image" Target="../media/image13.jpg"/><Relationship Id="rId14" Type="http://schemas.openxmlformats.org/officeDocument/2006/relationships/image" Target="../media/image18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7509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T</a:t>
            </a:r>
            <a:r>
              <a:rPr spc="-15" dirty="0"/>
              <a:t>en</a:t>
            </a:r>
            <a:r>
              <a:rPr dirty="0"/>
              <a:t>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7034" y="2952445"/>
            <a:ext cx="31794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PEL125_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Arial MT"/>
                <a:cs typeface="Arial MT"/>
              </a:rPr>
              <a:t>Week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5879" y="183007"/>
            <a:ext cx="4465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Present</a:t>
            </a:r>
            <a:r>
              <a:rPr spc="-35" dirty="0"/>
              <a:t> </a:t>
            </a:r>
            <a:r>
              <a:rPr spc="-5" dirty="0"/>
              <a:t>Simple</a:t>
            </a:r>
            <a:r>
              <a:rPr spc="-60" dirty="0"/>
              <a:t> </a:t>
            </a:r>
            <a:r>
              <a:rPr spc="-80" dirty="0"/>
              <a:t>Tense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23822"/>
            <a:ext cx="10160000" cy="3830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Times New Roman"/>
                <a:cs typeface="Times New Roman"/>
              </a:rPr>
              <a:t>1.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simple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describe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things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are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always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true,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situations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exist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and,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know,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will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indefinitely: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255904" indent="-243840">
              <a:lnSpc>
                <a:spcPct val="100000"/>
              </a:lnSpc>
              <a:buChar char="•"/>
              <a:tabLst>
                <a:tab pos="256540" algn="l"/>
              </a:tabLst>
            </a:pP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takes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me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five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minutes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get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school.</a:t>
            </a:r>
            <a:endParaRPr sz="3200">
              <a:latin typeface="Times New Roman"/>
              <a:cs typeface="Times New Roman"/>
            </a:endParaRPr>
          </a:p>
          <a:p>
            <a:pPr marL="250190" indent="-238125">
              <a:lnSpc>
                <a:spcPct val="100000"/>
              </a:lnSpc>
              <a:spcBef>
                <a:spcPts val="770"/>
              </a:spcBef>
              <a:buChar char="•"/>
              <a:tabLst>
                <a:tab pos="250825" algn="l"/>
              </a:tabLst>
            </a:pPr>
            <a:r>
              <a:rPr sz="3200" spc="-35" dirty="0">
                <a:latin typeface="Times New Roman"/>
                <a:cs typeface="Times New Roman"/>
              </a:rPr>
              <a:t>Trees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grow </a:t>
            </a:r>
            <a:r>
              <a:rPr sz="3200" spc="-20" dirty="0">
                <a:latin typeface="Times New Roman"/>
                <a:cs typeface="Times New Roman"/>
              </a:rPr>
              <a:t>more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quickly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summer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winter.</a:t>
            </a:r>
            <a:endParaRPr sz="3200">
              <a:latin typeface="Times New Roman"/>
              <a:cs typeface="Times New Roman"/>
            </a:endParaRPr>
          </a:p>
          <a:p>
            <a:pPr marL="255904" indent="-243840">
              <a:lnSpc>
                <a:spcPct val="100000"/>
              </a:lnSpc>
              <a:spcBef>
                <a:spcPts val="770"/>
              </a:spcBef>
              <a:buChar char="•"/>
              <a:tabLst>
                <a:tab pos="256540" algn="l"/>
              </a:tabLst>
            </a:pPr>
            <a:r>
              <a:rPr sz="3200" spc="-5" dirty="0">
                <a:latin typeface="Times New Roman"/>
                <a:cs typeface="Times New Roman"/>
              </a:rPr>
              <a:t>Liz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plays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violin</a:t>
            </a:r>
            <a:r>
              <a:rPr sz="3200" spc="-25" dirty="0">
                <a:latin typeface="Times New Roman"/>
                <a:cs typeface="Times New Roman"/>
              </a:rPr>
              <a:t> brilliantly.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96467"/>
            <a:ext cx="10107930" cy="2756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3200" spc="-5" dirty="0">
                <a:latin typeface="Times New Roman"/>
                <a:cs typeface="Times New Roman"/>
              </a:rPr>
              <a:t>2.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simple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talk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about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habits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things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happen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regular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basis: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255904" indent="-243840">
              <a:lnSpc>
                <a:spcPct val="100000"/>
              </a:lnSpc>
              <a:buChar char="•"/>
              <a:tabLst>
                <a:tab pos="256540" algn="l"/>
              </a:tabLst>
            </a:pPr>
            <a:r>
              <a:rPr sz="3200" spc="-5" dirty="0">
                <a:latin typeface="Times New Roman"/>
                <a:cs typeface="Times New Roman"/>
              </a:rPr>
              <a:t>I leave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work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 </a:t>
            </a:r>
            <a:r>
              <a:rPr sz="3200" dirty="0">
                <a:latin typeface="Times New Roman"/>
                <a:cs typeface="Times New Roman"/>
              </a:rPr>
              <a:t>5.30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most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days.</a:t>
            </a:r>
            <a:endParaRPr sz="3200">
              <a:latin typeface="Times New Roman"/>
              <a:cs typeface="Times New Roman"/>
            </a:endParaRPr>
          </a:p>
          <a:p>
            <a:pPr marL="255904" indent="-243840">
              <a:lnSpc>
                <a:spcPct val="100000"/>
              </a:lnSpc>
              <a:spcBef>
                <a:spcPts val="770"/>
              </a:spcBef>
              <a:buChar char="•"/>
              <a:tabLst>
                <a:tab pos="256540" algn="l"/>
              </a:tabLst>
            </a:pPr>
            <a:r>
              <a:rPr sz="3200" spc="-10" dirty="0">
                <a:latin typeface="Times New Roman"/>
                <a:cs typeface="Times New Roman"/>
              </a:rPr>
              <a:t>Each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July </a:t>
            </a:r>
            <a:r>
              <a:rPr sz="3200" spc="-10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Turkey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holiday.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211072"/>
            <a:ext cx="10250805" cy="48545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88265">
              <a:lnSpc>
                <a:spcPts val="3460"/>
              </a:lnSpc>
              <a:spcBef>
                <a:spcPts val="525"/>
              </a:spcBef>
            </a:pPr>
            <a:r>
              <a:rPr sz="3200" spc="-5" dirty="0">
                <a:latin typeface="Arial MT"/>
                <a:cs typeface="Arial MT"/>
              </a:rPr>
              <a:t>3. </a:t>
            </a: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often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simple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verbs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perform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they describe:</a:t>
            </a:r>
            <a:endParaRPr sz="3200">
              <a:latin typeface="Times New Roman"/>
              <a:cs typeface="Times New Roman"/>
            </a:endParaRPr>
          </a:p>
          <a:p>
            <a:pPr marL="255904" indent="-243840">
              <a:lnSpc>
                <a:spcPct val="100000"/>
              </a:lnSpc>
              <a:spcBef>
                <a:spcPts val="330"/>
              </a:spcBef>
              <a:buChar char="•"/>
              <a:tabLst>
                <a:tab pos="256540" algn="l"/>
              </a:tabLst>
            </a:pP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admit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can't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well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to.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(=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admission)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815"/>
              </a:spcBef>
              <a:buChar char="•"/>
              <a:tabLst>
                <a:tab pos="256540" algn="l"/>
              </a:tabLst>
            </a:pP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refuse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believe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didn't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know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was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stolen.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(=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refusal)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250">
              <a:latin typeface="Times New Roman"/>
              <a:cs typeface="Times New Roman"/>
            </a:endParaRPr>
          </a:p>
          <a:p>
            <a:pPr marL="12700" marR="68580">
              <a:lnSpc>
                <a:spcPct val="90000"/>
              </a:lnSpc>
            </a:pPr>
            <a:r>
              <a:rPr sz="3200" spc="-5" dirty="0">
                <a:latin typeface="Times New Roman"/>
                <a:cs typeface="Times New Roman"/>
              </a:rPr>
              <a:t>Other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verbs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like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(sometimes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performative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verbs)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include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accept,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acknowledge,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advise,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apologise,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assume,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deny,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guarantee,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hope,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inform,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predict, </a:t>
            </a:r>
            <a:r>
              <a:rPr sz="3200" spc="-10" dirty="0">
                <a:latin typeface="Times New Roman"/>
                <a:cs typeface="Times New Roman"/>
              </a:rPr>
              <a:t>promise,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recommend, 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suggest,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suppose,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warn</a:t>
            </a:r>
            <a:r>
              <a:rPr sz="320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644" y="1196467"/>
            <a:ext cx="9764395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1198245" algn="l"/>
              </a:tabLst>
            </a:pPr>
            <a:r>
              <a:rPr sz="3200" spc="-5" dirty="0">
                <a:solidFill>
                  <a:srgbClr val="000000"/>
                </a:solidFill>
              </a:rPr>
              <a:t>4. </a:t>
            </a:r>
            <a:r>
              <a:rPr sz="3200" spc="-150" dirty="0">
                <a:solidFill>
                  <a:srgbClr val="000000"/>
                </a:solidFill>
                <a:latin typeface="Times New Roman"/>
                <a:cs typeface="Times New Roman"/>
              </a:rPr>
              <a:t>We	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use</a:t>
            </a:r>
            <a:r>
              <a:rPr sz="32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present</a:t>
            </a:r>
            <a:r>
              <a:rPr sz="32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5" dirty="0">
                <a:solidFill>
                  <a:srgbClr val="000000"/>
                </a:solidFill>
                <a:latin typeface="Times New Roman"/>
                <a:cs typeface="Times New Roman"/>
              </a:rPr>
              <a:t>simple</a:t>
            </a:r>
            <a:r>
              <a:rPr sz="32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32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describe</a:t>
            </a:r>
            <a:r>
              <a:rPr sz="32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something</a:t>
            </a:r>
            <a:r>
              <a:rPr sz="32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that we </a:t>
            </a:r>
            <a:r>
              <a:rPr sz="3200" spc="-7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regularly</a:t>
            </a:r>
            <a:r>
              <a:rPr sz="32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do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at</a:t>
            </a:r>
            <a:r>
              <a:rPr sz="32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2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Times New Roman"/>
                <a:cs typeface="Times New Roman"/>
              </a:rPr>
              <a:t>particular</a:t>
            </a:r>
            <a:r>
              <a:rPr sz="32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00"/>
                </a:solidFill>
                <a:latin typeface="Times New Roman"/>
                <a:cs typeface="Times New Roman"/>
              </a:rPr>
              <a:t>time.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644" y="2854909"/>
            <a:ext cx="10551795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Char char="•"/>
              <a:tabLst>
                <a:tab pos="250825" algn="l"/>
              </a:tabLst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usually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watch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news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TV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9.00. (=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start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watching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9.00)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0692" y="197053"/>
            <a:ext cx="53797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Present</a:t>
            </a:r>
            <a:r>
              <a:rPr spc="-20" dirty="0"/>
              <a:t> </a:t>
            </a:r>
            <a:r>
              <a:rPr spc="-10" dirty="0"/>
              <a:t>Continuous</a:t>
            </a:r>
            <a:r>
              <a:rPr spc="-25" dirty="0"/>
              <a:t> </a:t>
            </a:r>
            <a:r>
              <a:rPr spc="-80" dirty="0"/>
              <a:t>Tense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269568"/>
            <a:ext cx="10347960" cy="43620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Times New Roman"/>
                <a:cs typeface="Times New Roman"/>
              </a:rPr>
              <a:t>1.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talk</a:t>
            </a:r>
            <a:r>
              <a:rPr sz="3200" dirty="0">
                <a:latin typeface="Times New Roman"/>
                <a:cs typeface="Times New Roman"/>
              </a:rPr>
              <a:t> about</a:t>
            </a:r>
            <a:r>
              <a:rPr sz="3200" spc="-5" dirty="0">
                <a:latin typeface="Times New Roman"/>
                <a:cs typeface="Times New Roman"/>
              </a:rPr>
              <a:t> particular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actions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events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have</a:t>
            </a:r>
            <a:r>
              <a:rPr sz="3200" dirty="0">
                <a:latin typeface="Times New Roman"/>
                <a:cs typeface="Times New Roman"/>
              </a:rPr>
              <a:t> begun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have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5" dirty="0">
                <a:latin typeface="Times New Roman"/>
                <a:cs typeface="Times New Roman"/>
              </a:rPr>
              <a:t> ended at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20" dirty="0">
                <a:latin typeface="Times New Roman"/>
                <a:cs typeface="Times New Roman"/>
              </a:rPr>
              <a:t>time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speaking,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e.g.</a:t>
            </a:r>
            <a:endParaRPr sz="3200" dirty="0">
              <a:latin typeface="Times New Roman"/>
              <a:cs typeface="Times New Roman"/>
            </a:endParaRPr>
          </a:p>
          <a:p>
            <a:pPr marL="451484" indent="-43942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51484" algn="l"/>
                <a:tab pos="45212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isn't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starting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again.</a:t>
            </a:r>
            <a:endParaRPr sz="3200" dirty="0">
              <a:latin typeface="Times New Roman"/>
              <a:cs typeface="Times New Roman"/>
            </a:endParaRPr>
          </a:p>
          <a:p>
            <a:pPr marL="457200" indent="-445134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3200" spc="-10" dirty="0">
                <a:latin typeface="Times New Roman"/>
                <a:cs typeface="Times New Roman"/>
              </a:rPr>
              <a:t>'Who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you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phoning?'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'I'm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trying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get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through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Joan.'</a:t>
            </a:r>
            <a:endParaRPr sz="3200" dirty="0">
              <a:latin typeface="Times New Roman"/>
              <a:cs typeface="Times New Roman"/>
            </a:endParaRPr>
          </a:p>
          <a:p>
            <a:pPr marL="12700" marR="154305">
              <a:lnSpc>
                <a:spcPct val="100000"/>
              </a:lnSpc>
              <a:spcBef>
                <a:spcPts val="775"/>
              </a:spcBef>
            </a:pPr>
            <a:r>
              <a:rPr sz="3200" spc="-150" smtClean="0">
                <a:latin typeface="Times New Roman"/>
                <a:cs typeface="Times New Roman"/>
              </a:rPr>
              <a:t>We</a:t>
            </a:r>
            <a:r>
              <a:rPr sz="3200" spc="35" smtClean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often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time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expressions </a:t>
            </a:r>
            <a:r>
              <a:rPr sz="3200" dirty="0">
                <a:latin typeface="Times New Roman"/>
                <a:cs typeface="Times New Roman"/>
              </a:rPr>
              <a:t>such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3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moment,</a:t>
            </a:r>
            <a:r>
              <a:rPr sz="32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at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present,</a:t>
            </a:r>
            <a:r>
              <a:rPr sz="3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currently,</a:t>
            </a:r>
            <a:r>
              <a:rPr sz="32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just,</a:t>
            </a:r>
            <a:r>
              <a:rPr sz="32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still</a:t>
            </a:r>
            <a:r>
              <a:rPr sz="32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emphasise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action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event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happening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now: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96467"/>
            <a:ext cx="10387965" cy="3244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3200" spc="-5" dirty="0">
                <a:latin typeface="Times New Roman"/>
                <a:cs typeface="Times New Roman"/>
              </a:rPr>
              <a:t>2.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When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describe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repeated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actions 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events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are 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happening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around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20" dirty="0">
                <a:latin typeface="Times New Roman"/>
                <a:cs typeface="Times New Roman"/>
              </a:rPr>
              <a:t>time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speaking,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continuous: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250190" indent="-238125">
              <a:lnSpc>
                <a:spcPct val="100000"/>
              </a:lnSpc>
              <a:buChar char="•"/>
              <a:tabLst>
                <a:tab pos="250825" algn="l"/>
              </a:tabLst>
            </a:pPr>
            <a:r>
              <a:rPr sz="3200" spc="-10" dirty="0">
                <a:latin typeface="Times New Roman"/>
                <a:cs typeface="Times New Roman"/>
              </a:rPr>
              <a:t>Why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you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jumping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down?</a:t>
            </a:r>
            <a:endParaRPr sz="3200">
              <a:latin typeface="Times New Roman"/>
              <a:cs typeface="Times New Roman"/>
            </a:endParaRPr>
          </a:p>
          <a:p>
            <a:pPr marL="255904" indent="-243840">
              <a:lnSpc>
                <a:spcPct val="100000"/>
              </a:lnSpc>
              <a:spcBef>
                <a:spcPts val="770"/>
              </a:spcBef>
              <a:buChar char="•"/>
              <a:tabLst>
                <a:tab pos="256540" algn="l"/>
              </a:tabLst>
            </a:pPr>
            <a:r>
              <a:rPr sz="3200" spc="-5" dirty="0">
                <a:latin typeface="Times New Roman"/>
                <a:cs typeface="Times New Roman"/>
              </a:rPr>
              <a:t>I'm hearing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 lot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good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reports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about </a:t>
            </a:r>
            <a:r>
              <a:rPr sz="3200" spc="-10" dirty="0">
                <a:latin typeface="Times New Roman"/>
                <a:cs typeface="Times New Roman"/>
              </a:rPr>
              <a:t>your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work these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days.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96467"/>
            <a:ext cx="10165080" cy="3731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3200" spc="-5" dirty="0">
                <a:latin typeface="Arial MT"/>
                <a:cs typeface="Arial MT"/>
              </a:rPr>
              <a:t>3.</a:t>
            </a:r>
            <a:r>
              <a:rPr sz="3200" spc="-140" dirty="0">
                <a:latin typeface="Arial MT"/>
                <a:cs typeface="Arial MT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continuous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imply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situation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may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 </a:t>
            </a:r>
            <a:r>
              <a:rPr sz="3200" spc="-35" dirty="0">
                <a:latin typeface="Times New Roman"/>
                <a:cs typeface="Times New Roman"/>
              </a:rPr>
              <a:t>temporary.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356870" marR="607695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60" dirty="0">
                <a:latin typeface="Times New Roman"/>
                <a:cs typeface="Times New Roman"/>
              </a:rPr>
              <a:t>We're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usually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watching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news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TV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9.00.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(=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we're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already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watching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9.00)</a:t>
            </a:r>
            <a:endParaRPr sz="3200">
              <a:latin typeface="Times New Roman"/>
              <a:cs typeface="Times New Roman"/>
            </a:endParaRPr>
          </a:p>
          <a:p>
            <a:pPr marL="356870" marR="480695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Banks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lending</a:t>
            </a:r>
            <a:r>
              <a:rPr sz="3200" spc="-20" dirty="0">
                <a:latin typeface="Times New Roman"/>
                <a:cs typeface="Times New Roman"/>
              </a:rPr>
              <a:t> more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money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(these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days)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encourage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businesses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expand,</a:t>
            </a:r>
            <a:r>
              <a:rPr sz="3200" spc="-15" dirty="0">
                <a:latin typeface="Times New Roman"/>
                <a:cs typeface="Times New Roman"/>
              </a:rPr>
              <a:t> (implies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temporary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arrangement)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421" y="307847"/>
            <a:ext cx="9991217" cy="627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624660"/>
            <a:ext cx="9982200" cy="409447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563245">
              <a:lnSpc>
                <a:spcPts val="2790"/>
              </a:lnSpc>
              <a:spcBef>
                <a:spcPts val="775"/>
              </a:spcBef>
              <a:tabLst>
                <a:tab pos="5070475" algn="l"/>
              </a:tabLst>
            </a:pPr>
            <a:r>
              <a:rPr sz="2900" spc="-135" dirty="0">
                <a:latin typeface="Times New Roman"/>
                <a:cs typeface="Times New Roman"/>
              </a:rPr>
              <a:t>We</a:t>
            </a:r>
            <a:r>
              <a:rPr sz="2900" spc="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often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prefer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to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use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the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present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simple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rather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than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present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continuous</a:t>
            </a:r>
            <a:r>
              <a:rPr sz="2900" spc="-7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with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verbs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describing	</a:t>
            </a:r>
            <a:r>
              <a:rPr sz="2900" dirty="0">
                <a:latin typeface="Times New Roman"/>
                <a:cs typeface="Times New Roman"/>
              </a:rPr>
              <a:t>states:</a:t>
            </a:r>
            <a:endParaRPr sz="2900">
              <a:latin typeface="Times New Roman"/>
              <a:cs typeface="Times New Roman"/>
            </a:endParaRPr>
          </a:p>
          <a:p>
            <a:pPr marL="233045" indent="-220979">
              <a:lnSpc>
                <a:spcPct val="100000"/>
              </a:lnSpc>
              <a:spcBef>
                <a:spcPts val="15"/>
              </a:spcBef>
              <a:buChar char="•"/>
              <a:tabLst>
                <a:tab pos="233679" algn="l"/>
              </a:tabLst>
            </a:pPr>
            <a:r>
              <a:rPr sz="2900" dirty="0">
                <a:latin typeface="Times New Roman"/>
                <a:cs typeface="Times New Roman"/>
              </a:rPr>
              <a:t>I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really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enjoy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travelling.</a:t>
            </a:r>
            <a:endParaRPr sz="2900">
              <a:latin typeface="Times New Roman"/>
              <a:cs typeface="Times New Roman"/>
            </a:endParaRPr>
          </a:p>
          <a:p>
            <a:pPr marL="12700" marR="469265">
              <a:lnSpc>
                <a:spcPct val="80000"/>
              </a:lnSpc>
              <a:spcBef>
                <a:spcPts val="700"/>
              </a:spcBef>
              <a:buChar char="•"/>
              <a:tabLst>
                <a:tab pos="226695" algn="l"/>
              </a:tabLst>
            </a:pPr>
            <a:r>
              <a:rPr sz="2900" spc="5" dirty="0">
                <a:latin typeface="Times New Roman"/>
                <a:cs typeface="Times New Roman"/>
              </a:rPr>
              <a:t>The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group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currently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consists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b="1" spc="5" dirty="0">
                <a:latin typeface="Times New Roman"/>
                <a:cs typeface="Times New Roman"/>
              </a:rPr>
              <a:t>of</a:t>
            </a:r>
            <a:r>
              <a:rPr sz="2900" b="1" spc="-4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five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people,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but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we </a:t>
            </a:r>
            <a:r>
              <a:rPr sz="2900" spc="5" dirty="0">
                <a:latin typeface="Times New Roman"/>
                <a:cs typeface="Times New Roman"/>
              </a:rPr>
              <a:t>hope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to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get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more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members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soon.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2900" spc="-5" dirty="0">
                <a:latin typeface="Times New Roman"/>
                <a:cs typeface="Times New Roman"/>
              </a:rPr>
              <a:t>Common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state</a:t>
            </a:r>
            <a:r>
              <a:rPr sz="2900" spc="-7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verbs:</a:t>
            </a:r>
            <a:endParaRPr sz="2900">
              <a:latin typeface="Times New Roman"/>
              <a:cs typeface="Times New Roman"/>
            </a:endParaRPr>
          </a:p>
          <a:p>
            <a:pPr marL="12700" marR="5080">
              <a:lnSpc>
                <a:spcPts val="2790"/>
              </a:lnSpc>
              <a:spcBef>
                <a:spcPts val="670"/>
              </a:spcBef>
            </a:pPr>
            <a:r>
              <a:rPr sz="2900" dirty="0">
                <a:latin typeface="Times New Roman"/>
                <a:cs typeface="Times New Roman"/>
              </a:rPr>
              <a:t>agree,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assume,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believe,</a:t>
            </a:r>
            <a:r>
              <a:rPr sz="2900" spc="-7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belong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to,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contain,</a:t>
            </a:r>
            <a:r>
              <a:rPr sz="2900" spc="-7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cost,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disagree,</a:t>
            </a:r>
            <a:r>
              <a:rPr sz="2900" spc="-7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feel,</a:t>
            </a:r>
            <a:r>
              <a:rPr sz="2900" spc="4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hate, </a:t>
            </a:r>
            <a:r>
              <a:rPr sz="2900" spc="-71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have, hope, </a:t>
            </a:r>
            <a:r>
              <a:rPr sz="2900" spc="-35" dirty="0">
                <a:latin typeface="Times New Roman"/>
                <a:cs typeface="Times New Roman"/>
              </a:rPr>
              <a:t>know, </a:t>
            </a:r>
            <a:r>
              <a:rPr sz="2900" spc="5" dirty="0">
                <a:latin typeface="Times New Roman"/>
                <a:cs typeface="Times New Roman"/>
              </a:rPr>
              <a:t>like, look, love, </a:t>
            </a:r>
            <a:r>
              <a:rPr sz="2900" dirty="0">
                <a:latin typeface="Times New Roman"/>
                <a:cs typeface="Times New Roman"/>
              </a:rPr>
              <a:t>own, </a:t>
            </a:r>
            <a:r>
              <a:rPr sz="2900" spc="-20" dirty="0">
                <a:latin typeface="Times New Roman"/>
                <a:cs typeface="Times New Roman"/>
              </a:rPr>
              <a:t>prefer, </a:t>
            </a:r>
            <a:r>
              <a:rPr sz="2900" dirty="0">
                <a:latin typeface="Times New Roman"/>
                <a:cs typeface="Times New Roman"/>
              </a:rPr>
              <a:t>realise, regret, </a:t>
            </a:r>
            <a:r>
              <a:rPr sz="2900" spc="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resemble,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smell,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taste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etc.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1184" y="183007"/>
            <a:ext cx="2027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Exception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644" y="1196467"/>
            <a:ext cx="10579735" cy="3731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09220" indent="112395">
              <a:lnSpc>
                <a:spcPct val="100000"/>
              </a:lnSpc>
              <a:spcBef>
                <a:spcPts val="90"/>
              </a:spcBef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continuous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some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state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verbs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want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to </a:t>
            </a:r>
            <a:r>
              <a:rPr sz="3200" b="1" spc="-10" dirty="0">
                <a:latin typeface="Times New Roman"/>
                <a:cs typeface="Times New Roman"/>
              </a:rPr>
              <a:t>emphasise</a:t>
            </a:r>
            <a:r>
              <a:rPr sz="3200" b="1" spc="7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that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a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situation is</a:t>
            </a:r>
            <a:r>
              <a:rPr sz="3200" b="1" spc="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temporary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period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time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around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present.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Compare: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255904" indent="-243840">
              <a:lnSpc>
                <a:spcPct val="100000"/>
              </a:lnSpc>
              <a:buChar char="•"/>
              <a:tabLst>
                <a:tab pos="256540" algn="l"/>
              </a:tabLst>
            </a:pP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consider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him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extremely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fortunate. </a:t>
            </a:r>
            <a:r>
              <a:rPr sz="3200" spc="-10" dirty="0">
                <a:latin typeface="Times New Roman"/>
                <a:cs typeface="Times New Roman"/>
              </a:rPr>
              <a:t>(This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my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view)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  <a:p>
            <a:pPr marL="12700" marR="141605">
              <a:lnSpc>
                <a:spcPct val="100000"/>
              </a:lnSpc>
              <a:spcBef>
                <a:spcPts val="770"/>
              </a:spcBef>
              <a:buChar char="•"/>
              <a:tabLst>
                <a:tab pos="256540" algn="l"/>
              </a:tabLst>
            </a:pPr>
            <a:r>
              <a:rPr sz="3200" spc="-5" dirty="0">
                <a:latin typeface="Times New Roman"/>
                <a:cs typeface="Times New Roman"/>
              </a:rPr>
              <a:t>I'm considering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taking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early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retirement.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(This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something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I'm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thinking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now)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182370"/>
            <a:ext cx="10625455" cy="5514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94155">
              <a:lnSpc>
                <a:spcPct val="100000"/>
              </a:lnSpc>
              <a:spcBef>
                <a:spcPts val="100"/>
              </a:spcBef>
            </a:pPr>
            <a:r>
              <a:rPr sz="3000" spc="-120" dirty="0">
                <a:latin typeface="Times New Roman"/>
                <a:cs typeface="Times New Roman"/>
              </a:rPr>
              <a:t>We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present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continuous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we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talk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about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changes,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developments,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and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trends:</a:t>
            </a:r>
            <a:endParaRPr sz="3000">
              <a:latin typeface="Times New Roman"/>
              <a:cs typeface="Times New Roman"/>
            </a:endParaRPr>
          </a:p>
          <a:p>
            <a:pPr marL="234950" indent="-222885">
              <a:lnSpc>
                <a:spcPct val="100000"/>
              </a:lnSpc>
              <a:spcBef>
                <a:spcPts val="720"/>
              </a:spcBef>
              <a:buChar char="•"/>
              <a:tabLst>
                <a:tab pos="235585" algn="l"/>
              </a:tabLst>
            </a:pPr>
            <a:r>
              <a:rPr sz="3000" spc="-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 growing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number</a:t>
            </a:r>
            <a:r>
              <a:rPr sz="3000" dirty="0">
                <a:latin typeface="Times New Roman"/>
                <a:cs typeface="Times New Roman"/>
              </a:rPr>
              <a:t> of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visitors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10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damaging</a:t>
            </a:r>
            <a:r>
              <a:rPr sz="3000" b="1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footpaths.</a:t>
            </a:r>
            <a:endParaRPr sz="30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725"/>
              </a:spcBef>
              <a:buChar char="•"/>
              <a:tabLst>
                <a:tab pos="241300" algn="l"/>
              </a:tabLst>
            </a:pPr>
            <a:r>
              <a:rPr sz="3000" spc="5" dirty="0">
                <a:latin typeface="Times New Roman"/>
                <a:cs typeface="Times New Roman"/>
              </a:rPr>
              <a:t>I'</a:t>
            </a:r>
            <a:r>
              <a:rPr sz="3000" b="1" spc="5" dirty="0">
                <a:latin typeface="Times New Roman"/>
                <a:cs typeface="Times New Roman"/>
              </a:rPr>
              <a:t>m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beginning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realise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how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difficult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 to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teacher.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43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While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telling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 story/joke,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we </a:t>
            </a:r>
            <a:r>
              <a:rPr sz="3000" dirty="0">
                <a:latin typeface="Times New Roman"/>
                <a:cs typeface="Times New Roman"/>
              </a:rPr>
              <a:t>often describe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b="1" spc="-15" dirty="0">
                <a:latin typeface="Times New Roman"/>
                <a:cs typeface="Times New Roman"/>
              </a:rPr>
              <a:t>main</a:t>
            </a:r>
            <a:r>
              <a:rPr sz="3000" b="1" spc="30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events</a:t>
            </a:r>
            <a:r>
              <a:rPr sz="3000" b="1" spc="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using 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" dirty="0">
                <a:latin typeface="Times New Roman"/>
                <a:cs typeface="Times New Roman"/>
              </a:rPr>
              <a:t> present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(or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past)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simple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and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longer,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background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events</a:t>
            </a:r>
            <a:r>
              <a:rPr sz="3000" b="1" spc="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present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(or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past)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continuous:</a:t>
            </a:r>
            <a:endParaRPr sz="3000">
              <a:latin typeface="Times New Roman"/>
              <a:cs typeface="Times New Roman"/>
            </a:endParaRPr>
          </a:p>
          <a:p>
            <a:pPr marL="12700" marR="639445">
              <a:lnSpc>
                <a:spcPct val="100000"/>
              </a:lnSpc>
              <a:spcBef>
                <a:spcPts val="72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She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goes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(or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went)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man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and</a:t>
            </a:r>
            <a:r>
              <a:rPr sz="3000" dirty="0">
                <a:latin typeface="Times New Roman"/>
                <a:cs typeface="Times New Roman"/>
              </a:rPr>
              <a:t> looks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(or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looked)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straight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into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his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eyes.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She's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carrying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(or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was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carrying)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bag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full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shopping...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96467"/>
            <a:ext cx="10800715" cy="490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75945">
              <a:lnSpc>
                <a:spcPct val="100000"/>
              </a:lnSpc>
              <a:spcBef>
                <a:spcPts val="90"/>
              </a:spcBef>
              <a:tabLst>
                <a:tab pos="747395" algn="l"/>
              </a:tabLst>
            </a:pPr>
            <a:r>
              <a:rPr sz="3200" spc="-150" dirty="0">
                <a:latin typeface="Times New Roman"/>
                <a:cs typeface="Times New Roman"/>
              </a:rPr>
              <a:t>We	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present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simple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continuous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commentaries</a:t>
            </a:r>
            <a:r>
              <a:rPr sz="3200" b="1" spc="11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(for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example,</a:t>
            </a:r>
            <a:r>
              <a:rPr sz="3200" b="1" spc="2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on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sports</a:t>
            </a:r>
            <a:r>
              <a:rPr sz="3200" b="1" spc="2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events)</a:t>
            </a:r>
            <a:r>
              <a:rPr sz="3200" b="1" spc="3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and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in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giving </a:t>
            </a:r>
            <a:r>
              <a:rPr sz="3200" b="1" spc="-78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instructions: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00">
              <a:latin typeface="Times New Roman"/>
              <a:cs typeface="Times New Roman"/>
            </a:endParaRPr>
          </a:p>
          <a:p>
            <a:pPr marL="12700" marR="5080">
              <a:lnSpc>
                <a:spcPct val="120100"/>
              </a:lnSpc>
              <a:buChar char="•"/>
              <a:tabLst>
                <a:tab pos="256540" algn="l"/>
              </a:tabLst>
            </a:pPr>
            <a:r>
              <a:rPr sz="3200" spc="-10" dirty="0">
                <a:latin typeface="Times New Roman"/>
                <a:cs typeface="Times New Roman"/>
              </a:rPr>
              <a:t>King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serves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left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court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Adams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makes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wonderful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return.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She's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playing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magnificent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tennis</a:t>
            </a:r>
            <a:r>
              <a:rPr sz="3200" spc="-5" dirty="0">
                <a:latin typeface="Times New Roman"/>
                <a:cs typeface="Times New Roman"/>
              </a:rPr>
              <a:t> 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this </a:t>
            </a:r>
            <a:r>
              <a:rPr sz="3200" spc="-15" dirty="0">
                <a:latin typeface="Times New Roman"/>
                <a:cs typeface="Times New Roman"/>
              </a:rPr>
              <a:t>match...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12700" marR="527685">
              <a:lnSpc>
                <a:spcPct val="100000"/>
              </a:lnSpc>
              <a:buChar char="•"/>
              <a:tabLst>
                <a:tab pos="241935" algn="l"/>
                <a:tab pos="1118870" algn="l"/>
              </a:tabLst>
            </a:pPr>
            <a:r>
              <a:rPr sz="3200" spc="-110" dirty="0">
                <a:latin typeface="Times New Roman"/>
                <a:cs typeface="Times New Roman"/>
              </a:rPr>
              <a:t>You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hold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10" dirty="0">
                <a:latin typeface="Times New Roman"/>
                <a:cs typeface="Times New Roman"/>
              </a:rPr>
              <a:t>can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-5" dirty="0">
                <a:latin typeface="Times New Roman"/>
                <a:cs typeface="Times New Roman"/>
              </a:rPr>
              <a:t> hand.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Right,</a:t>
            </a:r>
            <a:r>
              <a:rPr sz="3200" spc="-10" dirty="0">
                <a:latin typeface="Times New Roman"/>
                <a:cs typeface="Times New Roman"/>
              </a:rPr>
              <a:t> you</a:t>
            </a:r>
            <a:r>
              <a:rPr sz="3200" b="1" spc="-10" dirty="0">
                <a:latin typeface="Times New Roman"/>
                <a:cs typeface="Times New Roman"/>
              </a:rPr>
              <a:t>'re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holding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 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hand;	</a:t>
            </a:r>
            <a:r>
              <a:rPr sz="3200" spc="-5" dirty="0">
                <a:latin typeface="Times New Roman"/>
                <a:cs typeface="Times New Roman"/>
              </a:rPr>
              <a:t>now</a:t>
            </a:r>
            <a:r>
              <a:rPr sz="3200" spc="-10" dirty="0">
                <a:latin typeface="Times New Roman"/>
                <a:cs typeface="Times New Roman"/>
              </a:rPr>
              <a:t> you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take</a:t>
            </a:r>
            <a:r>
              <a:rPr sz="3200" b="1" spc="3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off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lid with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30" dirty="0">
                <a:latin typeface="Times New Roman"/>
                <a:cs typeface="Times New Roman"/>
              </a:rPr>
              <a:t>other.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7" y="365759"/>
            <a:ext cx="10695432" cy="62392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" y="359663"/>
            <a:ext cx="10942320" cy="61081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0808" y="293954"/>
            <a:ext cx="48501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Uses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" dirty="0"/>
              <a:t>Present Perfect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18208"/>
            <a:ext cx="9793605" cy="45542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3000" dirty="0">
                <a:latin typeface="Arial MT"/>
                <a:cs typeface="Arial MT"/>
              </a:rPr>
              <a:t>1.</a:t>
            </a:r>
            <a:r>
              <a:rPr sz="3000" spc="-17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Actions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started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in</a:t>
            </a:r>
            <a:r>
              <a:rPr sz="3000" dirty="0">
                <a:latin typeface="Arial MT"/>
                <a:cs typeface="Arial MT"/>
              </a:rPr>
              <a:t> 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past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continuing</a:t>
            </a:r>
            <a:r>
              <a:rPr sz="3000" spc="-7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in</a:t>
            </a:r>
            <a:r>
              <a:rPr sz="3000" dirty="0">
                <a:latin typeface="Arial MT"/>
                <a:cs typeface="Arial MT"/>
              </a:rPr>
              <a:t> 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present</a:t>
            </a:r>
            <a:endParaRPr sz="30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65"/>
              </a:spcBef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Arial MT"/>
                <a:cs typeface="Arial MT"/>
              </a:rPr>
              <a:t>They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haven't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lived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here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spc="5" dirty="0">
                <a:latin typeface="Arial MT"/>
                <a:cs typeface="Arial MT"/>
              </a:rPr>
              <a:t>for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years.</a:t>
            </a:r>
            <a:endParaRPr sz="30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60"/>
              </a:spcBef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Arial MT"/>
                <a:cs typeface="Arial MT"/>
              </a:rPr>
              <a:t>She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worked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bank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for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five</a:t>
            </a:r>
            <a:r>
              <a:rPr sz="3000" spc="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years.</a:t>
            </a:r>
            <a:endParaRPr sz="30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60"/>
              </a:spcBef>
              <a:buChar char="•"/>
              <a:tabLst>
                <a:tab pos="356870" algn="l"/>
                <a:tab pos="357505" algn="l"/>
              </a:tabLst>
            </a:pPr>
            <a:r>
              <a:rPr sz="3000" spc="-10" dirty="0">
                <a:latin typeface="Arial MT"/>
                <a:cs typeface="Arial MT"/>
              </a:rPr>
              <a:t>Have</a:t>
            </a:r>
            <a:r>
              <a:rPr sz="3000" spc="1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you</a:t>
            </a:r>
            <a:r>
              <a:rPr sz="3000" spc="1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played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piano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since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spc="-15" dirty="0">
                <a:latin typeface="Arial MT"/>
                <a:cs typeface="Arial MT"/>
              </a:rPr>
              <a:t>you</a:t>
            </a:r>
            <a:r>
              <a:rPr sz="3000" spc="1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were</a:t>
            </a:r>
            <a:r>
              <a:rPr sz="3000" dirty="0">
                <a:latin typeface="Arial MT"/>
                <a:cs typeface="Arial MT"/>
              </a:rPr>
              <a:t> a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child?</a:t>
            </a:r>
            <a:endParaRPr sz="3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Arial MT"/>
                <a:cs typeface="Arial MT"/>
              </a:rPr>
              <a:t>2.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10" dirty="0">
                <a:latin typeface="Arial MT"/>
                <a:cs typeface="Arial MT"/>
              </a:rPr>
              <a:t>When</a:t>
            </a:r>
            <a:r>
              <a:rPr sz="3000" spc="-8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time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period</a:t>
            </a:r>
            <a:r>
              <a:rPr sz="3000" spc="-85" dirty="0">
                <a:latin typeface="Arial MT"/>
                <a:cs typeface="Arial MT"/>
              </a:rPr>
              <a:t> </a:t>
            </a:r>
            <a:r>
              <a:rPr sz="3000" spc="5" dirty="0">
                <a:latin typeface="Arial MT"/>
                <a:cs typeface="Arial MT"/>
              </a:rPr>
              <a:t>referred</a:t>
            </a:r>
            <a:r>
              <a:rPr sz="3000" spc="-8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has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not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finished</a:t>
            </a:r>
            <a:endParaRPr sz="30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60"/>
              </a:spcBef>
              <a:buChar char="•"/>
              <a:tabLst>
                <a:tab pos="356870" algn="l"/>
                <a:tab pos="357505" algn="l"/>
              </a:tabLst>
            </a:pPr>
            <a:r>
              <a:rPr sz="3000" dirty="0">
                <a:latin typeface="Arial MT"/>
                <a:cs typeface="Arial MT"/>
              </a:rPr>
              <a:t>I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have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worked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hard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this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week.</a:t>
            </a:r>
            <a:endParaRPr sz="30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60"/>
              </a:spcBef>
              <a:buChar char="•"/>
              <a:tabLst>
                <a:tab pos="356870" algn="l"/>
                <a:tab pos="357505" algn="l"/>
              </a:tabLst>
            </a:pPr>
            <a:r>
              <a:rPr sz="3000" dirty="0">
                <a:latin typeface="Arial MT"/>
                <a:cs typeface="Arial MT"/>
              </a:rPr>
              <a:t>It </a:t>
            </a:r>
            <a:r>
              <a:rPr sz="3000" spc="5" dirty="0">
                <a:latin typeface="Arial MT"/>
                <a:cs typeface="Arial MT"/>
              </a:rPr>
              <a:t>has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spc="5" dirty="0">
                <a:latin typeface="Arial MT"/>
                <a:cs typeface="Arial MT"/>
              </a:rPr>
              <a:t>rained</a:t>
            </a:r>
            <a:r>
              <a:rPr sz="3000" spc="-9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lot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this</a:t>
            </a:r>
            <a:r>
              <a:rPr sz="3000" spc="-40" dirty="0">
                <a:latin typeface="Arial MT"/>
                <a:cs typeface="Arial MT"/>
              </a:rPr>
              <a:t> year.</a:t>
            </a:r>
            <a:endParaRPr sz="30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65"/>
              </a:spcBef>
              <a:buChar char="•"/>
              <a:tabLst>
                <a:tab pos="356870" algn="l"/>
                <a:tab pos="357505" algn="l"/>
              </a:tabLst>
            </a:pPr>
            <a:r>
              <a:rPr sz="3000" spc="10" dirty="0">
                <a:latin typeface="Arial MT"/>
                <a:cs typeface="Arial MT"/>
              </a:rPr>
              <a:t>We</a:t>
            </a:r>
            <a:r>
              <a:rPr sz="3000" spc="-9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haven't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seen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her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spc="-40" dirty="0">
                <a:latin typeface="Arial MT"/>
                <a:cs typeface="Arial MT"/>
              </a:rPr>
              <a:t>today.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994613"/>
            <a:ext cx="10285095" cy="4513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Actions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repeated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unspecified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period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between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now.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They have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seen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film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six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times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happened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several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times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already.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imes New Roman"/>
                <a:cs typeface="Times New Roman"/>
              </a:rPr>
              <a:t>Actions </a:t>
            </a:r>
            <a:r>
              <a:rPr sz="3200" spc="-10" dirty="0">
                <a:latin typeface="Times New Roman"/>
                <a:cs typeface="Times New Roman"/>
              </a:rPr>
              <a:t>completed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very recent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 (+just)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Have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you</a:t>
            </a:r>
            <a:r>
              <a:rPr sz="3200" spc="-5" dirty="0">
                <a:latin typeface="Times New Roman"/>
                <a:cs typeface="Times New Roman"/>
              </a:rPr>
              <a:t> just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finished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work?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have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just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eaten.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96467"/>
            <a:ext cx="10744200" cy="2268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latin typeface="Times New Roman"/>
                <a:cs typeface="Times New Roman"/>
              </a:rPr>
              <a:t>When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precise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time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action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important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known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Times New Roman"/>
                <a:cs typeface="Times New Roman"/>
              </a:rPr>
              <a:t>Someone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eaten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my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soup!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Have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you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seen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'Gone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Wind'?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50895" y="0"/>
            <a:ext cx="648779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past tense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to talk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about: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644" y="1097457"/>
            <a:ext cx="9339580" cy="529526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200" spc="-5" dirty="0">
                <a:latin typeface="Times New Roman"/>
                <a:cs typeface="Times New Roman"/>
              </a:rPr>
              <a:t>1.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something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happened</a:t>
            </a:r>
            <a:r>
              <a:rPr sz="3200" dirty="0">
                <a:latin typeface="Times New Roman"/>
                <a:cs typeface="Times New Roman"/>
              </a:rPr>
              <a:t> once</a:t>
            </a:r>
            <a:r>
              <a:rPr sz="3200" spc="-5" dirty="0">
                <a:latin typeface="Times New Roman"/>
                <a:cs typeface="Times New Roman"/>
              </a:rPr>
              <a:t> in the past: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met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my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wife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1983.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went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Spain</a:t>
            </a:r>
            <a:r>
              <a:rPr sz="3200" dirty="0">
                <a:latin typeface="Times New Roman"/>
                <a:cs typeface="Times New Roman"/>
              </a:rPr>
              <a:t> for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holidays.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They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home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late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last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night.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2.</a:t>
            </a:r>
            <a:r>
              <a:rPr sz="3200" spc="-10" dirty="0">
                <a:latin typeface="Times New Roman"/>
                <a:cs typeface="Times New Roman"/>
              </a:rPr>
              <a:t> something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happened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several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times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past: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Times New Roman"/>
                <a:cs typeface="Times New Roman"/>
              </a:rPr>
              <a:t>When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boy,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walked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mile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school</a:t>
            </a:r>
            <a:r>
              <a:rPr sz="3200" spc="-5" dirty="0">
                <a:latin typeface="Times New Roman"/>
                <a:cs typeface="Times New Roman"/>
              </a:rPr>
              <a:t> every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day.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swam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while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were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holiday.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They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always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enjoyed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visiting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their friends.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96467"/>
            <a:ext cx="8542655" cy="285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" dirty="0">
                <a:latin typeface="Times New Roman"/>
                <a:cs typeface="Times New Roman"/>
              </a:rPr>
              <a:t>3.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something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true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some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time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lived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abroad</a:t>
            </a:r>
            <a:r>
              <a:rPr sz="3200" dirty="0">
                <a:latin typeface="Times New Roman"/>
                <a:cs typeface="Times New Roman"/>
              </a:rPr>
              <a:t> for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ten</a:t>
            </a:r>
            <a:r>
              <a:rPr sz="3200" spc="-10" dirty="0">
                <a:latin typeface="Times New Roman"/>
                <a:cs typeface="Times New Roman"/>
              </a:rPr>
              <a:t> years.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enjoyed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student.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She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played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tennis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she</a:t>
            </a:r>
            <a:r>
              <a:rPr sz="3200" spc="-10" dirty="0">
                <a:latin typeface="Times New Roman"/>
                <a:cs typeface="Times New Roman"/>
              </a:rPr>
              <a:t> was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younger.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432" y="192023"/>
            <a:ext cx="10469118" cy="6675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7728" y="1935479"/>
            <a:ext cx="3971544" cy="74066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70432" y="1935479"/>
            <a:ext cx="10514965" cy="4368165"/>
            <a:chOff x="1170432" y="1935479"/>
            <a:chExt cx="10514965" cy="436816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7360" y="1935479"/>
              <a:ext cx="3971544" cy="7406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7360" y="3014471"/>
              <a:ext cx="3980688" cy="7284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67728" y="3026663"/>
              <a:ext cx="3971544" cy="7284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9576" y="3742944"/>
              <a:ext cx="10466832" cy="3596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4792" y="4090415"/>
              <a:ext cx="3953255" cy="7376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67728" y="4102607"/>
              <a:ext cx="3971544" cy="7406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9576" y="4809744"/>
              <a:ext cx="5084064" cy="381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50735" y="4809744"/>
              <a:ext cx="4988814" cy="381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64792" y="5190744"/>
              <a:ext cx="3980687" cy="7345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67728" y="5202935"/>
              <a:ext cx="3980687" cy="7467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70533" y="5925311"/>
              <a:ext cx="10514584" cy="3779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70432" y="2657855"/>
              <a:ext cx="5093208" cy="3962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50735" y="2660903"/>
              <a:ext cx="4988814" cy="39014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42288" y="859536"/>
            <a:ext cx="4358640" cy="107632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2384" rIns="0" bIns="0" rtlCol="0">
            <a:spAutoFit/>
          </a:bodyPr>
          <a:lstStyle/>
          <a:p>
            <a:pPr marL="1577340" marR="365125" indent="-1204595">
              <a:lnSpc>
                <a:spcPct val="100000"/>
              </a:lnSpc>
              <a:spcBef>
                <a:spcPts val="254"/>
              </a:spcBef>
            </a:pPr>
            <a:r>
              <a:rPr sz="3200" b="1" spc="-50" dirty="0">
                <a:latin typeface="Tahoma"/>
                <a:cs typeface="Tahoma"/>
              </a:rPr>
              <a:t>P</a:t>
            </a:r>
            <a:r>
              <a:rPr sz="3200" b="1" spc="-70" dirty="0">
                <a:latin typeface="Tahoma"/>
                <a:cs typeface="Tahoma"/>
              </a:rPr>
              <a:t>R</a:t>
            </a:r>
            <a:r>
              <a:rPr sz="3200" b="1" spc="-180" dirty="0">
                <a:latin typeface="Tahoma"/>
                <a:cs typeface="Tahoma"/>
              </a:rPr>
              <a:t>ESENT</a:t>
            </a:r>
            <a:r>
              <a:rPr sz="3200" b="1" spc="-114" dirty="0">
                <a:latin typeface="Tahoma"/>
                <a:cs typeface="Tahoma"/>
              </a:rPr>
              <a:t> </a:t>
            </a:r>
            <a:r>
              <a:rPr sz="3200" b="1" spc="-60" dirty="0">
                <a:latin typeface="Tahoma"/>
                <a:cs typeface="Tahoma"/>
              </a:rPr>
              <a:t>PE</a:t>
            </a:r>
            <a:r>
              <a:rPr sz="3200" b="1" spc="-80" dirty="0">
                <a:latin typeface="Tahoma"/>
                <a:cs typeface="Tahoma"/>
              </a:rPr>
              <a:t>R</a:t>
            </a:r>
            <a:r>
              <a:rPr sz="3200" b="1" spc="5" dirty="0">
                <a:latin typeface="Tahoma"/>
                <a:cs typeface="Tahoma"/>
              </a:rPr>
              <a:t>F</a:t>
            </a:r>
            <a:r>
              <a:rPr sz="3200" b="1" spc="-65" dirty="0">
                <a:latin typeface="Tahoma"/>
                <a:cs typeface="Tahoma"/>
              </a:rPr>
              <a:t>EC</a:t>
            </a:r>
            <a:r>
              <a:rPr sz="3200" b="1" spc="-150" dirty="0">
                <a:latin typeface="Tahoma"/>
                <a:cs typeface="Tahoma"/>
              </a:rPr>
              <a:t>T  </a:t>
            </a:r>
            <a:r>
              <a:rPr sz="3200" b="1" spc="-185" dirty="0">
                <a:latin typeface="Tahoma"/>
                <a:cs typeface="Tahoma"/>
              </a:rPr>
              <a:t>TENSE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6775704" y="859536"/>
            <a:ext cx="4358640" cy="10175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2384" rIns="0" bIns="0" rtlCol="0">
            <a:spAutoFit/>
          </a:bodyPr>
          <a:lstStyle/>
          <a:p>
            <a:pPr marL="1577975" marR="365125" indent="-1204595" algn="ctr">
              <a:lnSpc>
                <a:spcPct val="100000"/>
              </a:lnSpc>
              <a:spcBef>
                <a:spcPts val="254"/>
              </a:spcBef>
            </a:pPr>
            <a:r>
              <a:rPr lang="en-IN" sz="3200" b="1" spc="-50" smtClean="0">
                <a:solidFill>
                  <a:srgbClr val="000000"/>
                </a:solidFill>
                <a:latin typeface="Tahoma"/>
                <a:cs typeface="Tahoma"/>
              </a:rPr>
              <a:t>SIMPLE PAST</a:t>
            </a:r>
            <a:r>
              <a:rPr lang="en-IN" sz="3200" b="1" spc="-15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200" b="1" spc="-185" smtClean="0">
                <a:solidFill>
                  <a:srgbClr val="000000"/>
                </a:solidFill>
                <a:latin typeface="Tahoma"/>
                <a:cs typeface="Tahoma"/>
              </a:rPr>
              <a:t>TENSE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" y="533400"/>
            <a:ext cx="11009376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2584" y="183007"/>
            <a:ext cx="2254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Exceptions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644" y="1196467"/>
            <a:ext cx="10776585" cy="4317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354965" indent="-344805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perfect when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talk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about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something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happened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period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time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present.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905510" algn="l"/>
              </a:tabLst>
            </a:pPr>
            <a:r>
              <a:rPr sz="3200" spc="-5" dirty="0">
                <a:latin typeface="Times New Roman"/>
                <a:cs typeface="Times New Roman"/>
              </a:rPr>
              <a:t>e.g.	Science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has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spc="-15" dirty="0">
                <a:latin typeface="Times New Roman"/>
                <a:cs typeface="Times New Roman"/>
              </a:rPr>
              <a:t>made</a:t>
            </a:r>
            <a:r>
              <a:rPr sz="3200" b="1" spc="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many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major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advances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this</a:t>
            </a:r>
            <a:r>
              <a:rPr sz="3200" b="1" spc="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century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simple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talk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something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happened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particular,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finished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time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past.</a:t>
            </a:r>
            <a:endParaRPr sz="3200">
              <a:latin typeface="Times New Roman"/>
              <a:cs typeface="Times New Roman"/>
            </a:endParaRPr>
          </a:p>
          <a:p>
            <a:pPr marL="12700" marR="274320">
              <a:lnSpc>
                <a:spcPct val="100000"/>
              </a:lnSpc>
              <a:spcBef>
                <a:spcPts val="770"/>
              </a:spcBef>
              <a:tabLst>
                <a:tab pos="905510" algn="l"/>
              </a:tabLst>
            </a:pPr>
            <a:r>
              <a:rPr sz="3200" spc="-5" dirty="0">
                <a:latin typeface="Times New Roman"/>
                <a:cs typeface="Times New Roman"/>
              </a:rPr>
              <a:t>e.g.	Scientists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b="1" spc="-15" dirty="0">
                <a:latin typeface="Times New Roman"/>
                <a:cs typeface="Times New Roman"/>
              </a:rPr>
              <a:t>made</a:t>
            </a:r>
            <a:r>
              <a:rPr sz="3200" b="1" spc="4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some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fundamental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discoveries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in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the</a:t>
            </a:r>
            <a:r>
              <a:rPr sz="3200" b="1" spc="2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18th </a:t>
            </a:r>
            <a:r>
              <a:rPr sz="3200" b="1" spc="-78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century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96467"/>
            <a:ext cx="10681335" cy="5293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237490" indent="-344805" algn="just">
              <a:lnSpc>
                <a:spcPct val="100000"/>
              </a:lnSpc>
              <a:spcBef>
                <a:spcPts val="90"/>
              </a:spcBef>
              <a:buChar char="•"/>
              <a:tabLst>
                <a:tab pos="357505" algn="l"/>
              </a:tabLst>
            </a:pPr>
            <a:r>
              <a:rPr sz="3200" spc="-150" dirty="0">
                <a:latin typeface="Times New Roman"/>
                <a:cs typeface="Times New Roman"/>
              </a:rPr>
              <a:t>We </a:t>
            </a:r>
            <a:r>
              <a:rPr sz="3200" spc="-5" dirty="0">
                <a:latin typeface="Times New Roman"/>
                <a:cs typeface="Times New Roman"/>
              </a:rPr>
              <a:t>can use either the present perfect or the past </a:t>
            </a:r>
            <a:r>
              <a:rPr sz="3200" spc="-15" dirty="0">
                <a:latin typeface="Times New Roman"/>
                <a:cs typeface="Times New Roman"/>
              </a:rPr>
              <a:t>simple </a:t>
            </a:r>
            <a:r>
              <a:rPr sz="3200" spc="-5" dirty="0">
                <a:latin typeface="Times New Roman"/>
                <a:cs typeface="Times New Roman"/>
              </a:rPr>
              <a:t>to talk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repeated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actions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events.</a:t>
            </a:r>
            <a:endParaRPr sz="320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ct val="100000"/>
              </a:lnSpc>
              <a:spcBef>
                <a:spcPts val="770"/>
              </a:spcBef>
              <a:buFont typeface="Times New Roman"/>
              <a:buChar char="•"/>
              <a:tabLst>
                <a:tab pos="452120" algn="l"/>
              </a:tabLst>
            </a:pPr>
            <a:r>
              <a:rPr dirty="0"/>
              <a:t>	</a:t>
            </a:r>
            <a:r>
              <a:rPr sz="3200" spc="-120" dirty="0">
                <a:latin typeface="Times New Roman"/>
                <a:cs typeface="Times New Roman"/>
              </a:rPr>
              <a:t>To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suggest </a:t>
            </a:r>
            <a:r>
              <a:rPr sz="3200" spc="-5" dirty="0">
                <a:latin typeface="Times New Roman"/>
                <a:cs typeface="Times New Roman"/>
              </a:rPr>
              <a:t>that the </a:t>
            </a:r>
            <a:r>
              <a:rPr sz="3200" b="1" spc="-5" dirty="0">
                <a:latin typeface="Times New Roman"/>
                <a:cs typeface="Times New Roman"/>
              </a:rPr>
              <a:t>action or event </a:t>
            </a:r>
            <a:r>
              <a:rPr sz="3200" b="1" spc="-10" dirty="0">
                <a:latin typeface="Times New Roman"/>
                <a:cs typeface="Times New Roman"/>
              </a:rPr>
              <a:t>might </a:t>
            </a:r>
            <a:r>
              <a:rPr sz="3200" b="1" spc="-5" dirty="0">
                <a:latin typeface="Times New Roman"/>
                <a:cs typeface="Times New Roman"/>
              </a:rPr>
              <a:t>happen </a:t>
            </a:r>
            <a:r>
              <a:rPr sz="3200" b="1" spc="5" dirty="0">
                <a:latin typeface="Times New Roman"/>
                <a:cs typeface="Times New Roman"/>
              </a:rPr>
              <a:t>again,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 the </a:t>
            </a:r>
            <a:r>
              <a:rPr sz="3200" b="1" spc="-15" dirty="0">
                <a:latin typeface="Times New Roman"/>
                <a:cs typeface="Times New Roman"/>
              </a:rPr>
              <a:t>present </a:t>
            </a:r>
            <a:r>
              <a:rPr sz="3200" b="1" spc="-5" dirty="0">
                <a:latin typeface="Times New Roman"/>
                <a:cs typeface="Times New Roman"/>
              </a:rPr>
              <a:t>perfect.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Example </a:t>
            </a:r>
            <a:r>
              <a:rPr sz="3200" b="1" spc="-5" dirty="0">
                <a:latin typeface="Times New Roman"/>
                <a:cs typeface="Times New Roman"/>
              </a:rPr>
              <a:t>: </a:t>
            </a:r>
            <a:r>
              <a:rPr sz="3200" spc="-35" dirty="0">
                <a:latin typeface="Times New Roman"/>
                <a:cs typeface="Times New Roman"/>
              </a:rPr>
              <a:t>Timson </a:t>
            </a:r>
            <a:r>
              <a:rPr sz="3200" spc="-5" dirty="0">
                <a:latin typeface="Times New Roman"/>
                <a:cs typeface="Times New Roman"/>
              </a:rPr>
              <a:t>has </a:t>
            </a:r>
            <a:r>
              <a:rPr sz="3200" spc="-20" dirty="0">
                <a:latin typeface="Times New Roman"/>
                <a:cs typeface="Times New Roman"/>
              </a:rPr>
              <a:t>made </a:t>
            </a:r>
            <a:r>
              <a:rPr sz="3200" spc="-5" dirty="0">
                <a:latin typeface="Times New Roman"/>
                <a:cs typeface="Times New Roman"/>
              </a:rPr>
              <a:t>13 </a:t>
            </a:r>
            <a:r>
              <a:rPr sz="3200" spc="-15" dirty="0">
                <a:latin typeface="Times New Roman"/>
                <a:cs typeface="Times New Roman"/>
              </a:rPr>
              <a:t>films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think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her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latest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the best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3200" spc="-120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suggest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it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finished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b="1" spc="5" dirty="0">
                <a:latin typeface="Times New Roman"/>
                <a:cs typeface="Times New Roman"/>
              </a:rPr>
              <a:t>won't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happen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5" dirty="0">
                <a:latin typeface="Times New Roman"/>
                <a:cs typeface="Times New Roman"/>
              </a:rPr>
              <a:t>again</a:t>
            </a:r>
            <a:r>
              <a:rPr sz="3200" spc="5" dirty="0">
                <a:latin typeface="Times New Roman"/>
                <a:cs typeface="Times New Roman"/>
              </a:rPr>
              <a:t>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endParaRPr sz="32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latin typeface="Times New Roman"/>
                <a:cs typeface="Times New Roman"/>
              </a:rPr>
              <a:t>simple</a:t>
            </a:r>
            <a:r>
              <a:rPr sz="3200" b="1" spc="3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past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tense</a:t>
            </a:r>
            <a:endParaRPr sz="3200">
              <a:latin typeface="Times New Roman"/>
              <a:cs typeface="Times New Roman"/>
            </a:endParaRPr>
          </a:p>
          <a:p>
            <a:pPr marL="12700" marR="99695" indent="813435">
              <a:lnSpc>
                <a:spcPct val="100000"/>
              </a:lnSpc>
              <a:spcBef>
                <a:spcPts val="770"/>
              </a:spcBef>
              <a:tabLst>
                <a:tab pos="2771140" algn="l"/>
              </a:tabLst>
            </a:pPr>
            <a:r>
              <a:rPr sz="3200" b="1" spc="-10" dirty="0">
                <a:latin typeface="Times New Roman"/>
                <a:cs typeface="Times New Roman"/>
              </a:rPr>
              <a:t>Example</a:t>
            </a:r>
            <a:r>
              <a:rPr sz="3200" b="1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:	</a:t>
            </a:r>
            <a:r>
              <a:rPr sz="3200" spc="-35" dirty="0">
                <a:latin typeface="Times New Roman"/>
                <a:cs typeface="Times New Roman"/>
              </a:rPr>
              <a:t>Timson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made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13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films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before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tragically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killed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car accident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96467"/>
            <a:ext cx="10548620" cy="3829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perfect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talk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about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existed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still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exists </a:t>
            </a:r>
            <a:r>
              <a:rPr sz="3200" spc="-50" dirty="0">
                <a:latin typeface="Times New Roman"/>
                <a:cs typeface="Times New Roman"/>
              </a:rPr>
              <a:t>now.</a:t>
            </a:r>
            <a:endParaRPr sz="3200">
              <a:latin typeface="Times New Roman"/>
              <a:cs typeface="Times New Roman"/>
            </a:endParaRPr>
          </a:p>
          <a:p>
            <a:pPr marL="356870" marR="129794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have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known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him</a:t>
            </a:r>
            <a:r>
              <a:rPr sz="3200" spc="-20" dirty="0">
                <a:latin typeface="Times New Roman"/>
                <a:cs typeface="Times New Roman"/>
              </a:rPr>
              <a:t> most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my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working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life. </a:t>
            </a:r>
            <a:r>
              <a:rPr sz="3200" spc="-10" dirty="0">
                <a:latin typeface="Times New Roman"/>
                <a:cs typeface="Times New Roman"/>
              </a:rPr>
              <a:t>(I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am still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working)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past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simple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if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longer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exists.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• I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b="1" spc="-15" dirty="0">
                <a:latin typeface="Times New Roman"/>
                <a:cs typeface="Times New Roman"/>
              </a:rPr>
              <a:t>knew</a:t>
            </a:r>
            <a:r>
              <a:rPr sz="3200" b="1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were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both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working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Rome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248" y="734568"/>
            <a:ext cx="11234928" cy="550773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Simple Past </a:t>
            </a:r>
            <a:r>
              <a:rPr spc="-10" dirty="0"/>
              <a:t>and </a:t>
            </a:r>
            <a:r>
              <a:rPr spc="-5" dirty="0"/>
              <a:t>Past Perfect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131773"/>
            <a:ext cx="10318750" cy="431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246379" indent="-344805">
              <a:lnSpc>
                <a:spcPct val="100000"/>
              </a:lnSpc>
              <a:spcBef>
                <a:spcPts val="9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simple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rather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perfect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simply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talk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about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single </a:t>
            </a:r>
            <a:r>
              <a:rPr sz="3200" spc="-5" dirty="0">
                <a:latin typeface="Times New Roman"/>
                <a:cs typeface="Times New Roman"/>
              </a:rPr>
              <a:t>activity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event in 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past: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handed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letter 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him.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6870" marR="809625" indent="-344805">
              <a:lnSpc>
                <a:spcPct val="100000"/>
              </a:lnSpc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50" dirty="0">
                <a:latin typeface="Times New Roman"/>
                <a:cs typeface="Times New Roman"/>
              </a:rPr>
              <a:t>We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past perfect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 say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what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wanted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hoped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(etc.)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didn't:</a:t>
            </a:r>
            <a:endParaRPr sz="32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  <a:tab pos="1362710" algn="l"/>
              </a:tabLst>
            </a:pPr>
            <a:r>
              <a:rPr sz="3200" spc="-5" dirty="0">
                <a:latin typeface="Times New Roman"/>
                <a:cs typeface="Times New Roman"/>
              </a:rPr>
              <a:t>e.g.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:	I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had </a:t>
            </a:r>
            <a:r>
              <a:rPr sz="3200" b="1" dirty="0">
                <a:latin typeface="Times New Roman"/>
                <a:cs typeface="Times New Roman"/>
              </a:rPr>
              <a:t>wanted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visit the gallery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before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 left Florence,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but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it's closed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Sundays.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199845"/>
            <a:ext cx="9972040" cy="431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867410" indent="-344805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7505" algn="l"/>
              </a:tabLst>
            </a:pPr>
            <a:r>
              <a:rPr sz="3200" spc="-10" dirty="0">
                <a:latin typeface="Times New Roman"/>
                <a:cs typeface="Times New Roman"/>
              </a:rPr>
              <a:t>When </a:t>
            </a:r>
            <a:r>
              <a:rPr sz="3200" spc="-5" dirty="0">
                <a:latin typeface="Times New Roman"/>
                <a:cs typeface="Times New Roman"/>
              </a:rPr>
              <a:t>we use a </a:t>
            </a:r>
            <a:r>
              <a:rPr sz="3200" spc="-20" dirty="0">
                <a:latin typeface="Times New Roman"/>
                <a:cs typeface="Times New Roman"/>
              </a:rPr>
              <a:t>time </a:t>
            </a:r>
            <a:r>
              <a:rPr sz="3200" spc="-5" dirty="0">
                <a:latin typeface="Times New Roman"/>
                <a:cs typeface="Times New Roman"/>
              </a:rPr>
              <a:t>expression (e.g. </a:t>
            </a:r>
            <a:r>
              <a:rPr sz="3200" spc="-25" dirty="0">
                <a:latin typeface="Times New Roman"/>
                <a:cs typeface="Times New Roman"/>
              </a:rPr>
              <a:t>after, </a:t>
            </a:r>
            <a:r>
              <a:rPr sz="3200" spc="-5" dirty="0">
                <a:latin typeface="Times New Roman"/>
                <a:cs typeface="Times New Roman"/>
              </a:rPr>
              <a:t>as </a:t>
            </a:r>
            <a:r>
              <a:rPr sz="3200" dirty="0">
                <a:latin typeface="Times New Roman"/>
                <a:cs typeface="Times New Roman"/>
              </a:rPr>
              <a:t>soon </a:t>
            </a:r>
            <a:r>
              <a:rPr sz="3200" spc="-5" dirty="0">
                <a:latin typeface="Times New Roman"/>
                <a:cs typeface="Times New Roman"/>
              </a:rPr>
              <a:t>as,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before, by the </a:t>
            </a:r>
            <a:r>
              <a:rPr sz="3200" spc="-20" dirty="0">
                <a:latin typeface="Times New Roman"/>
                <a:cs typeface="Times New Roman"/>
              </a:rPr>
              <a:t>time </a:t>
            </a:r>
            <a:r>
              <a:rPr sz="3200" spc="-5" dirty="0">
                <a:latin typeface="Times New Roman"/>
                <a:cs typeface="Times New Roman"/>
              </a:rPr>
              <a:t>(that), when) to say that one event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happened after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another,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6870" marR="201295" indent="-344805">
              <a:lnSpc>
                <a:spcPct val="100000"/>
              </a:lnSpc>
              <a:buChar char="•"/>
              <a:tabLst>
                <a:tab pos="356870" algn="l"/>
                <a:tab pos="357505" algn="l"/>
                <a:tab pos="1680210" algn="l"/>
              </a:tabLst>
            </a:pP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	</a:t>
            </a:r>
            <a:r>
              <a:rPr sz="3200" b="1" spc="-5" dirty="0">
                <a:latin typeface="Times New Roman"/>
                <a:cs typeface="Times New Roman"/>
              </a:rPr>
              <a:t>past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perfect</a:t>
            </a:r>
            <a:r>
              <a:rPr sz="3200" b="1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event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happened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first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b="1" spc="-5" dirty="0">
                <a:latin typeface="Times New Roman"/>
                <a:cs typeface="Times New Roman"/>
              </a:rPr>
              <a:t>past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simple</a:t>
            </a:r>
            <a:r>
              <a:rPr sz="3200" b="1" spc="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event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happened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second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buFont typeface="Times New Roman"/>
              <a:buChar char="•"/>
              <a:tabLst>
                <a:tab pos="356870" algn="l"/>
                <a:tab pos="357505" algn="l"/>
                <a:tab pos="1216660" algn="l"/>
              </a:tabLst>
            </a:pPr>
            <a:r>
              <a:rPr sz="3200" b="1" spc="-5" dirty="0">
                <a:latin typeface="Times New Roman"/>
                <a:cs typeface="Times New Roman"/>
              </a:rPr>
              <a:t>E.g.	</a:t>
            </a:r>
            <a:r>
              <a:rPr sz="3200" spc="-5" dirty="0">
                <a:latin typeface="Times New Roman"/>
                <a:cs typeface="Times New Roman"/>
              </a:rPr>
              <a:t>After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Ivan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(had)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finished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reading,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he put</a:t>
            </a:r>
            <a:r>
              <a:rPr sz="3200" dirty="0">
                <a:latin typeface="Times New Roman"/>
                <a:cs typeface="Times New Roman"/>
              </a:rPr>
              <a:t> out </a:t>
            </a:r>
            <a:r>
              <a:rPr sz="3200" spc="-5" dirty="0">
                <a:latin typeface="Times New Roman"/>
                <a:cs typeface="Times New Roman"/>
              </a:rPr>
              <a:t>the light.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964" y="183007"/>
            <a:ext cx="83540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Past</a:t>
            </a:r>
            <a:r>
              <a:rPr spc="5" dirty="0"/>
              <a:t> </a:t>
            </a:r>
            <a:r>
              <a:rPr spc="-5" dirty="0"/>
              <a:t>Perfect</a:t>
            </a:r>
            <a:r>
              <a:rPr spc="-20" dirty="0"/>
              <a:t> </a:t>
            </a:r>
            <a:r>
              <a:rPr spc="-10" dirty="0"/>
              <a:t>continuous</a:t>
            </a:r>
            <a:r>
              <a:rPr spc="45" dirty="0"/>
              <a:t> </a:t>
            </a:r>
            <a:r>
              <a:rPr spc="-10" dirty="0"/>
              <a:t>and</a:t>
            </a:r>
            <a:r>
              <a:rPr spc="15" dirty="0"/>
              <a:t> </a:t>
            </a:r>
            <a:r>
              <a:rPr spc="-5" dirty="0"/>
              <a:t>Past Perfect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1365" marR="5080" indent="-344805">
              <a:lnSpc>
                <a:spcPct val="100000"/>
              </a:lnSpc>
              <a:spcBef>
                <a:spcPts val="95"/>
              </a:spcBef>
              <a:buChar char="•"/>
              <a:tabLst>
                <a:tab pos="762000" algn="l"/>
                <a:tab pos="762635" algn="l"/>
              </a:tabLst>
            </a:pPr>
            <a:r>
              <a:rPr spc="-150" dirty="0"/>
              <a:t>We</a:t>
            </a:r>
            <a:r>
              <a:rPr spc="30" dirty="0"/>
              <a:t> </a:t>
            </a:r>
            <a:r>
              <a:rPr spc="-5" dirty="0"/>
              <a:t>use</a:t>
            </a:r>
            <a:r>
              <a:rPr spc="15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b="1" spc="-5" dirty="0">
                <a:latin typeface="Times New Roman"/>
                <a:cs typeface="Times New Roman"/>
              </a:rPr>
              <a:t>past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perfect</a:t>
            </a:r>
            <a:r>
              <a:rPr b="1" spc="4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continuous</a:t>
            </a:r>
            <a:r>
              <a:rPr b="1" spc="20" dirty="0">
                <a:latin typeface="Times New Roman"/>
                <a:cs typeface="Times New Roman"/>
              </a:rPr>
              <a:t> </a:t>
            </a:r>
            <a:r>
              <a:rPr spc="-5" dirty="0"/>
              <a:t>when</a:t>
            </a:r>
            <a:r>
              <a:rPr spc="10" dirty="0"/>
              <a:t> </a:t>
            </a:r>
            <a:r>
              <a:rPr spc="-5" dirty="0"/>
              <a:t>we</a:t>
            </a:r>
            <a:r>
              <a:rPr dirty="0"/>
              <a:t> </a:t>
            </a:r>
            <a:r>
              <a:rPr spc="-5" dirty="0"/>
              <a:t>talk</a:t>
            </a:r>
            <a:r>
              <a:rPr spc="20" dirty="0"/>
              <a:t> </a:t>
            </a:r>
            <a:r>
              <a:rPr dirty="0"/>
              <a:t>about</a:t>
            </a:r>
            <a:r>
              <a:rPr spc="-30" dirty="0"/>
              <a:t> </a:t>
            </a:r>
            <a:r>
              <a:rPr spc="-5" dirty="0"/>
              <a:t>the </a:t>
            </a:r>
            <a:r>
              <a:rPr dirty="0"/>
              <a:t> </a:t>
            </a:r>
            <a:r>
              <a:rPr b="1" spc="-5" dirty="0">
                <a:latin typeface="Times New Roman"/>
                <a:cs typeface="Times New Roman"/>
              </a:rPr>
              <a:t>continuity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spc="-5" dirty="0"/>
              <a:t>or</a:t>
            </a:r>
            <a:r>
              <a:rPr dirty="0"/>
              <a:t> </a:t>
            </a:r>
            <a:r>
              <a:rPr spc="-5" dirty="0"/>
              <a:t>duration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situation</a:t>
            </a:r>
            <a:r>
              <a:rPr spc="40" dirty="0"/>
              <a:t> </a:t>
            </a:r>
            <a:r>
              <a:rPr spc="-5" dirty="0"/>
              <a:t>or</a:t>
            </a:r>
            <a:r>
              <a:rPr spc="-10" dirty="0"/>
              <a:t> </a:t>
            </a:r>
            <a:r>
              <a:rPr spc="-30" dirty="0"/>
              <a:t>activity,</a:t>
            </a:r>
            <a:r>
              <a:rPr spc="25" dirty="0"/>
              <a:t> </a:t>
            </a:r>
            <a:r>
              <a:rPr spc="-5" dirty="0"/>
              <a:t>and</a:t>
            </a:r>
            <a:r>
              <a:rPr spc="10" dirty="0"/>
              <a:t> </a:t>
            </a:r>
            <a:r>
              <a:rPr spc="-5" dirty="0"/>
              <a:t>the</a:t>
            </a:r>
            <a:r>
              <a:rPr spc="40" dirty="0"/>
              <a:t> </a:t>
            </a:r>
            <a:r>
              <a:rPr b="1" dirty="0">
                <a:latin typeface="Times New Roman"/>
                <a:cs typeface="Times New Roman"/>
              </a:rPr>
              <a:t>past 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perfect</a:t>
            </a:r>
            <a:r>
              <a:rPr b="1" spc="30" dirty="0">
                <a:latin typeface="Times New Roman"/>
                <a:cs typeface="Times New Roman"/>
              </a:rPr>
              <a:t> </a:t>
            </a:r>
            <a:r>
              <a:rPr spc="-5" dirty="0"/>
              <a:t>to</a:t>
            </a:r>
            <a:r>
              <a:rPr spc="10" dirty="0"/>
              <a:t> </a:t>
            </a:r>
            <a:r>
              <a:rPr spc="-5" dirty="0"/>
              <a:t>talk</a:t>
            </a:r>
            <a:r>
              <a:rPr spc="20" dirty="0"/>
              <a:t> </a:t>
            </a:r>
            <a:r>
              <a:rPr dirty="0"/>
              <a:t>about</a:t>
            </a:r>
            <a:r>
              <a:rPr spc="-35" dirty="0"/>
              <a:t> </a:t>
            </a:r>
            <a:r>
              <a:rPr spc="-5" dirty="0"/>
              <a:t>the</a:t>
            </a:r>
            <a:r>
              <a:rPr spc="40" dirty="0"/>
              <a:t> </a:t>
            </a:r>
            <a:r>
              <a:rPr b="1" spc="-10" dirty="0">
                <a:latin typeface="Times New Roman"/>
                <a:cs typeface="Times New Roman"/>
              </a:rPr>
              <a:t>completion</a:t>
            </a:r>
            <a:r>
              <a:rPr b="1" spc="45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a</a:t>
            </a:r>
            <a:r>
              <a:rPr spc="10" dirty="0"/>
              <a:t> </a:t>
            </a:r>
            <a:r>
              <a:rPr spc="-5" dirty="0"/>
              <a:t>situation</a:t>
            </a:r>
            <a:r>
              <a:rPr spc="15" dirty="0"/>
              <a:t> </a:t>
            </a:r>
            <a:r>
              <a:rPr spc="-5" dirty="0"/>
              <a:t>or</a:t>
            </a:r>
            <a:r>
              <a:rPr spc="-10" dirty="0"/>
              <a:t> </a:t>
            </a:r>
            <a:r>
              <a:rPr spc="-5" dirty="0"/>
              <a:t>activity</a:t>
            </a:r>
            <a:r>
              <a:rPr spc="5" dirty="0"/>
              <a:t> </a:t>
            </a:r>
            <a:r>
              <a:rPr dirty="0"/>
              <a:t>or </a:t>
            </a:r>
            <a:r>
              <a:rPr spc="-785" dirty="0"/>
              <a:t> </a:t>
            </a:r>
            <a:r>
              <a:rPr spc="-5" dirty="0"/>
              <a:t>its</a:t>
            </a:r>
            <a:r>
              <a:rPr spc="-10" dirty="0"/>
              <a:t> effects</a:t>
            </a:r>
          </a:p>
          <a:p>
            <a:pPr marL="404495"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650"/>
          </a:p>
          <a:p>
            <a:pPr marL="761365" marR="107314" indent="-344805">
              <a:lnSpc>
                <a:spcPct val="100000"/>
              </a:lnSpc>
              <a:buChar char="•"/>
              <a:tabLst>
                <a:tab pos="762000" algn="l"/>
                <a:tab pos="762635" algn="l"/>
              </a:tabLst>
            </a:pPr>
            <a:r>
              <a:rPr spc="-5" dirty="0"/>
              <a:t>If</a:t>
            </a:r>
            <a:r>
              <a:rPr dirty="0"/>
              <a:t> </a:t>
            </a:r>
            <a:r>
              <a:rPr spc="-5" dirty="0"/>
              <a:t>we</a:t>
            </a:r>
            <a:r>
              <a:rPr dirty="0"/>
              <a:t> </a:t>
            </a:r>
            <a:r>
              <a:rPr spc="-5" dirty="0"/>
              <a:t>talk</a:t>
            </a:r>
            <a:r>
              <a:rPr spc="5" dirty="0"/>
              <a:t> </a:t>
            </a:r>
            <a:r>
              <a:rPr spc="-5" dirty="0"/>
              <a:t>about</a:t>
            </a:r>
            <a:r>
              <a:rPr spc="20" dirty="0"/>
              <a:t> </a:t>
            </a:r>
            <a:r>
              <a:rPr b="1" spc="-5" dirty="0">
                <a:latin typeface="Times New Roman"/>
                <a:cs typeface="Times New Roman"/>
              </a:rPr>
              <a:t>how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long</a:t>
            </a:r>
            <a:r>
              <a:rPr b="1" spc="15" dirty="0">
                <a:latin typeface="Times New Roman"/>
                <a:cs typeface="Times New Roman"/>
              </a:rPr>
              <a:t> </a:t>
            </a:r>
            <a:r>
              <a:rPr spc="-10" dirty="0"/>
              <a:t>something</a:t>
            </a:r>
            <a:r>
              <a:rPr spc="50" dirty="0"/>
              <a:t> </a:t>
            </a:r>
            <a:r>
              <a:rPr spc="-5" dirty="0"/>
              <a:t>went</a:t>
            </a:r>
            <a:r>
              <a:rPr spc="10" dirty="0"/>
              <a:t> </a:t>
            </a:r>
            <a:r>
              <a:rPr spc="-5" dirty="0"/>
              <a:t>on</a:t>
            </a:r>
            <a:r>
              <a:rPr spc="-25" dirty="0"/>
              <a:t> </a:t>
            </a:r>
            <a:r>
              <a:rPr spc="-5" dirty="0"/>
              <a:t>up</a:t>
            </a:r>
            <a:r>
              <a:rPr spc="10" dirty="0"/>
              <a:t> </a:t>
            </a:r>
            <a:r>
              <a:rPr spc="-5" dirty="0"/>
              <a:t>to a</a:t>
            </a:r>
            <a:r>
              <a:rPr spc="10" dirty="0"/>
              <a:t> </a:t>
            </a:r>
            <a:r>
              <a:rPr spc="-5" dirty="0"/>
              <a:t>particular </a:t>
            </a:r>
            <a:r>
              <a:rPr spc="-785" dirty="0"/>
              <a:t> </a:t>
            </a:r>
            <a:r>
              <a:rPr spc="-5" dirty="0"/>
              <a:t>past</a:t>
            </a:r>
            <a:r>
              <a:rPr spc="-10" dirty="0"/>
              <a:t> </a:t>
            </a:r>
            <a:r>
              <a:rPr spc="-20" dirty="0"/>
              <a:t>time,</a:t>
            </a:r>
            <a:r>
              <a:rPr spc="75" dirty="0"/>
              <a:t> </a:t>
            </a:r>
            <a:r>
              <a:rPr spc="-5" dirty="0"/>
              <a:t>we</a:t>
            </a:r>
            <a:r>
              <a:rPr spc="20" dirty="0"/>
              <a:t> </a:t>
            </a:r>
            <a:r>
              <a:rPr spc="-5" dirty="0"/>
              <a:t>use</a:t>
            </a:r>
            <a:r>
              <a:rPr spc="2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b="1" spc="-5" dirty="0">
                <a:latin typeface="Times New Roman"/>
                <a:cs typeface="Times New Roman"/>
              </a:rPr>
              <a:t>past perfect</a:t>
            </a:r>
            <a:r>
              <a:rPr b="1" spc="5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continuous</a:t>
            </a:r>
            <a:r>
              <a:rPr spc="-5" dirty="0"/>
              <a:t>.</a:t>
            </a:r>
          </a:p>
          <a:p>
            <a:pPr marL="417195" marR="107950" indent="304800">
              <a:lnSpc>
                <a:spcPct val="100000"/>
              </a:lnSpc>
              <a:spcBef>
                <a:spcPts val="770"/>
              </a:spcBef>
            </a:pPr>
            <a:r>
              <a:rPr spc="-5" dirty="0"/>
              <a:t>If we</a:t>
            </a:r>
            <a:r>
              <a:rPr spc="10" dirty="0"/>
              <a:t> </a:t>
            </a:r>
            <a:r>
              <a:rPr spc="-5" dirty="0"/>
              <a:t>talk </a:t>
            </a:r>
            <a:r>
              <a:rPr dirty="0"/>
              <a:t>about</a:t>
            </a:r>
            <a:r>
              <a:rPr spc="10" dirty="0"/>
              <a:t> </a:t>
            </a:r>
            <a:r>
              <a:rPr b="1" spc="-5" dirty="0">
                <a:latin typeface="Times New Roman"/>
                <a:cs typeface="Times New Roman"/>
              </a:rPr>
              <a:t>how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spc="-15" dirty="0">
                <a:latin typeface="Times New Roman"/>
                <a:cs typeface="Times New Roman"/>
              </a:rPr>
              <a:t>many</a:t>
            </a:r>
            <a:r>
              <a:rPr b="1" spc="40" dirty="0">
                <a:latin typeface="Times New Roman"/>
                <a:cs typeface="Times New Roman"/>
              </a:rPr>
              <a:t> </a:t>
            </a:r>
            <a:r>
              <a:rPr b="1" spc="-15" dirty="0">
                <a:latin typeface="Times New Roman"/>
                <a:cs typeface="Times New Roman"/>
              </a:rPr>
              <a:t>times</a:t>
            </a:r>
            <a:r>
              <a:rPr b="1" spc="95" dirty="0">
                <a:latin typeface="Times New Roman"/>
                <a:cs typeface="Times New Roman"/>
              </a:rPr>
              <a:t> </a:t>
            </a:r>
            <a:r>
              <a:rPr spc="-10" dirty="0"/>
              <a:t>something</a:t>
            </a:r>
            <a:r>
              <a:rPr spc="40" dirty="0"/>
              <a:t> </a:t>
            </a:r>
            <a:r>
              <a:rPr spc="-5" dirty="0"/>
              <a:t>happened</a:t>
            </a:r>
            <a:r>
              <a:rPr spc="10" dirty="0"/>
              <a:t> </a:t>
            </a:r>
            <a:r>
              <a:rPr spc="-5" dirty="0"/>
              <a:t>in</a:t>
            </a:r>
            <a:r>
              <a:rPr dirty="0"/>
              <a:t> </a:t>
            </a:r>
            <a:r>
              <a:rPr spc="-5" dirty="0"/>
              <a:t>a </a:t>
            </a:r>
            <a:r>
              <a:rPr dirty="0"/>
              <a:t> </a:t>
            </a:r>
            <a:r>
              <a:rPr spc="-5" dirty="0"/>
              <a:t>period</a:t>
            </a:r>
            <a:r>
              <a:rPr spc="10" dirty="0"/>
              <a:t> </a:t>
            </a:r>
            <a:r>
              <a:rPr spc="-5" dirty="0"/>
              <a:t>up</a:t>
            </a:r>
            <a:r>
              <a:rPr spc="15" dirty="0"/>
              <a:t> </a:t>
            </a:r>
            <a:r>
              <a:rPr spc="-5" dirty="0"/>
              <a:t>to</a:t>
            </a:r>
            <a:r>
              <a:rPr spc="15" dirty="0"/>
              <a:t> </a:t>
            </a:r>
            <a:r>
              <a:rPr spc="-5" dirty="0"/>
              <a:t>a particular</a:t>
            </a:r>
            <a:r>
              <a:rPr spc="35" dirty="0"/>
              <a:t> </a:t>
            </a:r>
            <a:r>
              <a:rPr spc="-5" dirty="0"/>
              <a:t>past</a:t>
            </a:r>
            <a:r>
              <a:rPr dirty="0"/>
              <a:t> </a:t>
            </a:r>
            <a:r>
              <a:rPr spc="-20" dirty="0"/>
              <a:t>time,</a:t>
            </a:r>
            <a:r>
              <a:rPr spc="80" dirty="0"/>
              <a:t> </a:t>
            </a:r>
            <a:r>
              <a:rPr spc="-5" dirty="0"/>
              <a:t>we</a:t>
            </a:r>
            <a:r>
              <a:rPr spc="10" dirty="0"/>
              <a:t> </a:t>
            </a:r>
            <a:r>
              <a:rPr spc="-5" dirty="0"/>
              <a:t>use</a:t>
            </a:r>
            <a:r>
              <a:rPr dirty="0"/>
              <a:t> </a:t>
            </a:r>
            <a:r>
              <a:rPr spc="-5" dirty="0"/>
              <a:t>the</a:t>
            </a:r>
            <a:r>
              <a:rPr spc="55" dirty="0"/>
              <a:t> </a:t>
            </a:r>
            <a:r>
              <a:rPr b="1" spc="-5" dirty="0">
                <a:latin typeface="Times New Roman"/>
                <a:cs typeface="Times New Roman"/>
              </a:rPr>
              <a:t>past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perfect</a:t>
            </a:r>
            <a:r>
              <a:rPr b="1" spc="4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tense.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192023"/>
            <a:ext cx="11039856" cy="62727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7127" y="2051304"/>
            <a:ext cx="8287511" cy="3727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1153</Words>
  <Application>Microsoft Office PowerPoint</Application>
  <PresentationFormat>Widescreen</PresentationFormat>
  <Paragraphs>126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 MT</vt:lpstr>
      <vt:lpstr>Calibri</vt:lpstr>
      <vt:lpstr>Tahoma</vt:lpstr>
      <vt:lpstr>Times New Roman</vt:lpstr>
      <vt:lpstr>Office Theme</vt:lpstr>
      <vt:lpstr>Tense</vt:lpstr>
      <vt:lpstr>Present Simple Tense</vt:lpstr>
      <vt:lpstr>PowerPoint Presentation</vt:lpstr>
      <vt:lpstr>PowerPoint Presentation</vt:lpstr>
      <vt:lpstr>4. We use the present simple to describe something that we  regularly do at a particular time.</vt:lpstr>
      <vt:lpstr>Present Continuous Tense</vt:lpstr>
      <vt:lpstr>PowerPoint Presentation</vt:lpstr>
      <vt:lpstr>PowerPoint Presentation</vt:lpstr>
      <vt:lpstr>PowerPoint Presentation</vt:lpstr>
      <vt:lpstr>PowerPoint Presentation</vt:lpstr>
      <vt:lpstr>Exception</vt:lpstr>
      <vt:lpstr>PowerPoint Presentation</vt:lpstr>
      <vt:lpstr>PowerPoint Presentation</vt:lpstr>
      <vt:lpstr>PowerPoint Presentation</vt:lpstr>
      <vt:lpstr>PowerPoint Presentation</vt:lpstr>
      <vt:lpstr>Uses of Present Perfect</vt:lpstr>
      <vt:lpstr>PowerPoint Presentation</vt:lpstr>
      <vt:lpstr>PowerPoint Presentation</vt:lpstr>
      <vt:lpstr>PowerPoint Presentation</vt:lpstr>
      <vt:lpstr>PowerPoint Presentation</vt:lpstr>
      <vt:lpstr>SIMPLE PAST TENSE</vt:lpstr>
      <vt:lpstr>PowerPoint Presentation</vt:lpstr>
      <vt:lpstr>Exceptions</vt:lpstr>
      <vt:lpstr>PowerPoint Presentation</vt:lpstr>
      <vt:lpstr>PowerPoint Presentation</vt:lpstr>
      <vt:lpstr>PowerPoint Presentation</vt:lpstr>
      <vt:lpstr>Simple Past and Past Perfect</vt:lpstr>
      <vt:lpstr>PowerPoint Presentation</vt:lpstr>
      <vt:lpstr>Past Perfect continuous and Past Perfect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Tense</dc:title>
  <cp:lastModifiedBy>asus</cp:lastModifiedBy>
  <cp:revision>4</cp:revision>
  <dcterms:created xsi:type="dcterms:W3CDTF">2024-01-22T06:10:08Z</dcterms:created>
  <dcterms:modified xsi:type="dcterms:W3CDTF">2024-01-29T10:02:40Z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2024-01-22T00:00:00Z</vt:filetime>
  </property>
</Properties>
</file>