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86" r:id="rId4"/>
    <p:sldId id="287" r:id="rId5"/>
    <p:sldId id="288" r:id="rId6"/>
    <p:sldId id="289" r:id="rId7"/>
    <p:sldId id="259" r:id="rId8"/>
    <p:sldId id="276" r:id="rId9"/>
    <p:sldId id="277" r:id="rId10"/>
    <p:sldId id="258" r:id="rId11"/>
    <p:sldId id="279" r:id="rId12"/>
    <p:sldId id="261" r:id="rId13"/>
    <p:sldId id="262" r:id="rId14"/>
    <p:sldId id="263" r:id="rId15"/>
    <p:sldId id="264" r:id="rId16"/>
    <p:sldId id="280" r:id="rId17"/>
    <p:sldId id="281" r:id="rId18"/>
    <p:sldId id="282" r:id="rId19"/>
    <p:sldId id="283" r:id="rId20"/>
    <p:sldId id="284" r:id="rId21"/>
    <p:sldId id="285" r:id="rId22"/>
    <p:sldId id="272" r:id="rId23"/>
    <p:sldId id="273" r:id="rId24"/>
    <p:sldId id="274" r:id="rId25"/>
    <p:sldId id="275" r:id="rId2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79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4016AF0D-FF20-4A0C-AF49-F521504D116C}" type="datetimeFigureOut">
              <a:rPr lang="en-US" smtClean="0"/>
              <a:t>1/20/2024</a:t>
            </a:fld>
            <a:endParaRPr lang="en-US"/>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84271971-640D-4316-9220-0129B58ED0A8}" type="slidenum">
              <a:rPr lang="en-US" smtClean="0"/>
              <a:t>‹#›</a:t>
            </a:fld>
            <a:endParaRPr lang="en-US"/>
          </a:p>
        </p:txBody>
      </p:sp>
    </p:spTree>
    <p:extLst>
      <p:ext uri="{BB962C8B-B14F-4D97-AF65-F5344CB8AC3E}">
        <p14:creationId xmlns:p14="http://schemas.microsoft.com/office/powerpoint/2010/main" val="1211529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271971-640D-4316-9220-0129B58ED0A8}" type="slidenum">
              <a:rPr lang="en-US" smtClean="0"/>
              <a:t>2</a:t>
            </a:fld>
            <a:endParaRPr lang="en-US"/>
          </a:p>
        </p:txBody>
      </p:sp>
    </p:spTree>
    <p:extLst>
      <p:ext uri="{BB962C8B-B14F-4D97-AF65-F5344CB8AC3E}">
        <p14:creationId xmlns:p14="http://schemas.microsoft.com/office/powerpoint/2010/main" val="3902064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u="heavy">
                <a:solidFill>
                  <a:srgbClr val="2C2C2C"/>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u="heavy">
                <a:solidFill>
                  <a:srgbClr val="2C2C2C"/>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u="heavy">
                <a:solidFill>
                  <a:srgbClr val="2C2C2C"/>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454989" y="32161"/>
            <a:ext cx="1722436" cy="752587"/>
          </a:xfrm>
          <a:prstGeom prst="rect">
            <a:avLst/>
          </a:prstGeom>
        </p:spPr>
      </p:pic>
      <p:sp>
        <p:nvSpPr>
          <p:cNvPr id="17" name="bg object 17"/>
          <p:cNvSpPr/>
          <p:nvPr/>
        </p:nvSpPr>
        <p:spPr>
          <a:xfrm>
            <a:off x="10444226" y="14706"/>
            <a:ext cx="1744345" cy="800735"/>
          </a:xfrm>
          <a:custGeom>
            <a:avLst/>
            <a:gdLst/>
            <a:ahLst/>
            <a:cxnLst/>
            <a:rect l="l" t="t" r="r" b="b"/>
            <a:pathLst>
              <a:path w="1744345" h="800735">
                <a:moveTo>
                  <a:pt x="0" y="800379"/>
                </a:moveTo>
                <a:lnTo>
                  <a:pt x="1744091" y="800379"/>
                </a:lnTo>
                <a:lnTo>
                  <a:pt x="1744091" y="0"/>
                </a:lnTo>
                <a:lnTo>
                  <a:pt x="0" y="0"/>
                </a:lnTo>
                <a:lnTo>
                  <a:pt x="0" y="800379"/>
                </a:lnTo>
                <a:close/>
              </a:path>
            </a:pathLst>
          </a:custGeom>
          <a:ln w="9525">
            <a:solidFill>
              <a:srgbClr val="2C2C2C"/>
            </a:solidFill>
          </a:ln>
        </p:spPr>
        <p:txBody>
          <a:bodyPr wrap="square" lIns="0" tIns="0" rIns="0" bIns="0" rtlCol="0"/>
          <a:lstStyle/>
          <a:p>
            <a:endParaRPr/>
          </a:p>
        </p:txBody>
      </p:sp>
      <p:sp>
        <p:nvSpPr>
          <p:cNvPr id="2" name="Holder 2"/>
          <p:cNvSpPr>
            <a:spLocks noGrp="1"/>
          </p:cNvSpPr>
          <p:nvPr>
            <p:ph type="title"/>
          </p:nvPr>
        </p:nvSpPr>
        <p:spPr>
          <a:xfrm>
            <a:off x="5097906" y="767283"/>
            <a:ext cx="1996186" cy="635000"/>
          </a:xfrm>
          <a:prstGeom prst="rect">
            <a:avLst/>
          </a:prstGeom>
        </p:spPr>
        <p:txBody>
          <a:bodyPr wrap="square" lIns="0" tIns="0" rIns="0" bIns="0">
            <a:spAutoFit/>
          </a:bodyPr>
          <a:lstStyle>
            <a:lvl1pPr>
              <a:defRPr sz="4000" b="1" i="0" u="heavy">
                <a:solidFill>
                  <a:srgbClr val="2C2C2C"/>
                </a:solidFill>
                <a:latin typeface="Calibri"/>
                <a:cs typeface="Calibri"/>
              </a:defRPr>
            </a:lvl1pPr>
          </a:lstStyle>
          <a:p>
            <a:endParaRPr/>
          </a:p>
        </p:txBody>
      </p:sp>
      <p:sp>
        <p:nvSpPr>
          <p:cNvPr id="3" name="Holder 3"/>
          <p:cNvSpPr>
            <a:spLocks noGrp="1"/>
          </p:cNvSpPr>
          <p:nvPr>
            <p:ph type="body" idx="1"/>
          </p:nvPr>
        </p:nvSpPr>
        <p:spPr>
          <a:xfrm>
            <a:off x="1445641" y="2370521"/>
            <a:ext cx="8492490" cy="35623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1/20/2024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 Id="rId5" Type="http://schemas.openxmlformats.org/officeDocument/2006/relationships/image" Target="../media/image24.gif"/><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2059305"/>
          </a:xfrm>
          <a:custGeom>
            <a:avLst/>
            <a:gdLst/>
            <a:ahLst/>
            <a:cxnLst/>
            <a:rect l="l" t="t" r="r" b="b"/>
            <a:pathLst>
              <a:path w="12192000" h="2059305">
                <a:moveTo>
                  <a:pt x="0" y="2059051"/>
                </a:moveTo>
                <a:lnTo>
                  <a:pt x="12192000" y="2059051"/>
                </a:lnTo>
                <a:lnTo>
                  <a:pt x="12192000" y="0"/>
                </a:lnTo>
                <a:lnTo>
                  <a:pt x="0" y="0"/>
                </a:lnTo>
                <a:lnTo>
                  <a:pt x="0" y="2059051"/>
                </a:lnTo>
                <a:close/>
              </a:path>
            </a:pathLst>
          </a:custGeom>
          <a:solidFill>
            <a:srgbClr val="099BDD"/>
          </a:solidFill>
        </p:spPr>
        <p:txBody>
          <a:bodyPr wrap="square" lIns="0" tIns="0" rIns="0" bIns="0" rtlCol="0"/>
          <a:lstStyle/>
          <a:p>
            <a:endParaRPr/>
          </a:p>
        </p:txBody>
      </p:sp>
      <p:sp>
        <p:nvSpPr>
          <p:cNvPr id="3" name="object 3"/>
          <p:cNvSpPr/>
          <p:nvPr/>
        </p:nvSpPr>
        <p:spPr>
          <a:xfrm>
            <a:off x="0" y="3887851"/>
            <a:ext cx="12192000" cy="2970530"/>
          </a:xfrm>
          <a:custGeom>
            <a:avLst/>
            <a:gdLst/>
            <a:ahLst/>
            <a:cxnLst/>
            <a:rect l="l" t="t" r="r" b="b"/>
            <a:pathLst>
              <a:path w="12192000" h="2970529">
                <a:moveTo>
                  <a:pt x="0" y="2970148"/>
                </a:moveTo>
                <a:lnTo>
                  <a:pt x="12192000" y="2970148"/>
                </a:lnTo>
                <a:lnTo>
                  <a:pt x="12192000" y="0"/>
                </a:lnTo>
                <a:lnTo>
                  <a:pt x="0" y="0"/>
                </a:lnTo>
                <a:lnTo>
                  <a:pt x="0" y="2970148"/>
                </a:lnTo>
                <a:close/>
              </a:path>
            </a:pathLst>
          </a:custGeom>
          <a:solidFill>
            <a:srgbClr val="099BDD"/>
          </a:solidFill>
        </p:spPr>
        <p:txBody>
          <a:bodyPr wrap="square" lIns="0" tIns="0" rIns="0" bIns="0" rtlCol="0"/>
          <a:lstStyle/>
          <a:p>
            <a:endParaRPr/>
          </a:p>
        </p:txBody>
      </p:sp>
      <p:sp>
        <p:nvSpPr>
          <p:cNvPr id="4" name="object 4"/>
          <p:cNvSpPr/>
          <p:nvPr/>
        </p:nvSpPr>
        <p:spPr>
          <a:xfrm>
            <a:off x="0" y="2059051"/>
            <a:ext cx="12189460" cy="1828800"/>
          </a:xfrm>
          <a:custGeom>
            <a:avLst/>
            <a:gdLst/>
            <a:ahLst/>
            <a:cxnLst/>
            <a:rect l="l" t="t" r="r" b="b"/>
            <a:pathLst>
              <a:path w="12189460" h="1828800">
                <a:moveTo>
                  <a:pt x="12188839" y="0"/>
                </a:moveTo>
                <a:lnTo>
                  <a:pt x="0" y="0"/>
                </a:lnTo>
                <a:lnTo>
                  <a:pt x="0" y="1828800"/>
                </a:lnTo>
                <a:lnTo>
                  <a:pt x="12188839" y="1828800"/>
                </a:lnTo>
                <a:lnTo>
                  <a:pt x="12188839" y="0"/>
                </a:lnTo>
                <a:close/>
              </a:path>
            </a:pathLst>
          </a:custGeom>
          <a:solidFill>
            <a:srgbClr val="FFFFFF"/>
          </a:solidFill>
        </p:spPr>
        <p:txBody>
          <a:bodyPr wrap="square" lIns="0" tIns="0" rIns="0" bIns="0" rtlCol="0"/>
          <a:lstStyle/>
          <a:p>
            <a:endParaRPr/>
          </a:p>
        </p:txBody>
      </p:sp>
      <p:grpSp>
        <p:nvGrpSpPr>
          <p:cNvPr id="5" name="object 5"/>
          <p:cNvGrpSpPr/>
          <p:nvPr/>
        </p:nvGrpSpPr>
        <p:grpSpPr>
          <a:xfrm>
            <a:off x="10439463" y="9944"/>
            <a:ext cx="1753870" cy="810260"/>
            <a:chOff x="10439463" y="9944"/>
            <a:chExt cx="1753870" cy="810260"/>
          </a:xfrm>
        </p:grpSpPr>
        <p:pic>
          <p:nvPicPr>
            <p:cNvPr id="6" name="object 6"/>
            <p:cNvPicPr/>
            <p:nvPr/>
          </p:nvPicPr>
          <p:blipFill>
            <a:blip r:embed="rId2" cstate="print"/>
            <a:stretch>
              <a:fillRect/>
            </a:stretch>
          </p:blipFill>
          <p:spPr>
            <a:xfrm>
              <a:off x="10448925" y="19405"/>
              <a:ext cx="1734566" cy="790854"/>
            </a:xfrm>
            <a:prstGeom prst="rect">
              <a:avLst/>
            </a:prstGeom>
          </p:spPr>
        </p:pic>
        <p:sp>
          <p:nvSpPr>
            <p:cNvPr id="7" name="object 7"/>
            <p:cNvSpPr/>
            <p:nvPr/>
          </p:nvSpPr>
          <p:spPr>
            <a:xfrm>
              <a:off x="10444226" y="14706"/>
              <a:ext cx="1744345" cy="800735"/>
            </a:xfrm>
            <a:custGeom>
              <a:avLst/>
              <a:gdLst/>
              <a:ahLst/>
              <a:cxnLst/>
              <a:rect l="l" t="t" r="r" b="b"/>
              <a:pathLst>
                <a:path w="1744345" h="800735">
                  <a:moveTo>
                    <a:pt x="0" y="800379"/>
                  </a:moveTo>
                  <a:lnTo>
                    <a:pt x="1744091" y="800379"/>
                  </a:lnTo>
                  <a:lnTo>
                    <a:pt x="1744091" y="0"/>
                  </a:lnTo>
                  <a:lnTo>
                    <a:pt x="0" y="0"/>
                  </a:lnTo>
                  <a:lnTo>
                    <a:pt x="0" y="800379"/>
                  </a:lnTo>
                  <a:close/>
                </a:path>
              </a:pathLst>
            </a:custGeom>
            <a:ln w="9525">
              <a:solidFill>
                <a:srgbClr val="2C2C2C"/>
              </a:solidFill>
            </a:ln>
          </p:spPr>
          <p:txBody>
            <a:bodyPr wrap="square" lIns="0" tIns="0" rIns="0" bIns="0" rtlCol="0"/>
            <a:lstStyle/>
            <a:p>
              <a:endParaRPr/>
            </a:p>
          </p:txBody>
        </p:sp>
      </p:grpSp>
      <p:sp>
        <p:nvSpPr>
          <p:cNvPr id="8" name="object 8"/>
          <p:cNvSpPr txBox="1"/>
          <p:nvPr/>
        </p:nvSpPr>
        <p:spPr>
          <a:xfrm>
            <a:off x="762000" y="2236361"/>
            <a:ext cx="10665460" cy="1243930"/>
          </a:xfrm>
          <a:prstGeom prst="rect">
            <a:avLst/>
          </a:prstGeom>
        </p:spPr>
        <p:txBody>
          <a:bodyPr vert="horz" wrap="square" lIns="0" tIns="256540" rIns="0" bIns="0" rtlCol="0">
            <a:spAutoFit/>
          </a:bodyPr>
          <a:lstStyle/>
          <a:p>
            <a:pPr algn="ctr">
              <a:spcBef>
                <a:spcPts val="2020"/>
              </a:spcBef>
            </a:pPr>
            <a:r>
              <a:rPr lang="en-US" sz="3200" b="1" spc="135" dirty="0">
                <a:solidFill>
                  <a:srgbClr val="099BDD"/>
                </a:solidFill>
                <a:latin typeface="Times New Roman"/>
                <a:cs typeface="Times New Roman"/>
              </a:rPr>
              <a:t>MEC136: ENGINEERING GRAPHICS AND DIGITAL FABRICATION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5500" y="261011"/>
            <a:ext cx="7496810" cy="566822"/>
          </a:xfrm>
          <a:prstGeom prst="rect">
            <a:avLst/>
          </a:prstGeom>
        </p:spPr>
        <p:txBody>
          <a:bodyPr vert="horz" wrap="square" lIns="0" tIns="12700" rIns="0" bIns="0" rtlCol="0">
            <a:spAutoFit/>
          </a:bodyPr>
          <a:lstStyle/>
          <a:p>
            <a:pPr marL="12700" algn="l">
              <a:lnSpc>
                <a:spcPct val="100000"/>
              </a:lnSpc>
              <a:spcBef>
                <a:spcPts val="100"/>
              </a:spcBef>
            </a:pPr>
            <a:r>
              <a:rPr lang="en-US" sz="3600" u="none" spc="-5" dirty="0">
                <a:solidFill>
                  <a:srgbClr val="099BDD"/>
                </a:solidFill>
                <a:latin typeface="Corbel"/>
                <a:cs typeface="Corbel"/>
              </a:rPr>
              <a:t>Cours</a:t>
            </a:r>
            <a:r>
              <a:rPr lang="en-US" sz="3600" u="none" dirty="0">
                <a:solidFill>
                  <a:srgbClr val="099BDD"/>
                </a:solidFill>
                <a:latin typeface="Corbel"/>
                <a:cs typeface="Corbel"/>
              </a:rPr>
              <a:t>e</a:t>
            </a:r>
            <a:r>
              <a:rPr lang="en-US" sz="3600" u="none" spc="-170" dirty="0">
                <a:solidFill>
                  <a:srgbClr val="099BDD"/>
                </a:solidFill>
                <a:latin typeface="Corbel"/>
                <a:cs typeface="Corbel"/>
              </a:rPr>
              <a:t> </a:t>
            </a:r>
            <a:r>
              <a:rPr lang="en-US" sz="3600" u="none" spc="-190" dirty="0">
                <a:solidFill>
                  <a:srgbClr val="099BDD"/>
                </a:solidFill>
                <a:latin typeface="Corbel"/>
                <a:cs typeface="Corbel"/>
              </a:rPr>
              <a:t>Outcomes (CO)</a:t>
            </a:r>
            <a:endParaRPr lang="en-US" sz="3600" dirty="0">
              <a:latin typeface="Corbel"/>
              <a:cs typeface="Corbel"/>
            </a:endParaRPr>
          </a:p>
        </p:txBody>
      </p:sp>
      <p:sp>
        <p:nvSpPr>
          <p:cNvPr id="3" name="object 3"/>
          <p:cNvSpPr txBox="1"/>
          <p:nvPr/>
        </p:nvSpPr>
        <p:spPr>
          <a:xfrm>
            <a:off x="825500" y="1053465"/>
            <a:ext cx="10541000" cy="5398914"/>
          </a:xfrm>
          <a:prstGeom prst="rect">
            <a:avLst/>
          </a:prstGeom>
        </p:spPr>
        <p:txBody>
          <a:bodyPr vert="horz" wrap="square" lIns="0" tIns="12700" rIns="0" bIns="0" rtlCol="0">
            <a:spAutoFit/>
          </a:bodyPr>
          <a:lstStyle/>
          <a:p>
            <a:pPr marL="299085" marR="5080" indent="-287020" algn="just">
              <a:lnSpc>
                <a:spcPct val="150000"/>
              </a:lnSpc>
              <a:spcBef>
                <a:spcPts val="100"/>
              </a:spcBef>
              <a:buFont typeface="Arial MT"/>
              <a:buChar char="•"/>
              <a:tabLst>
                <a:tab pos="299085" algn="l"/>
                <a:tab pos="299720" algn="l"/>
              </a:tabLst>
            </a:pPr>
            <a:r>
              <a:rPr sz="2000" b="1" dirty="0">
                <a:solidFill>
                  <a:srgbClr val="2C2C2C"/>
                </a:solidFill>
                <a:latin typeface="Times New Roman"/>
                <a:cs typeface="Times New Roman"/>
              </a:rPr>
              <a:t>CO1:</a:t>
            </a:r>
            <a:r>
              <a:rPr sz="2000" b="1" spc="100" dirty="0">
                <a:solidFill>
                  <a:srgbClr val="2C2C2C"/>
                </a:solidFill>
                <a:latin typeface="Times New Roman"/>
                <a:cs typeface="Times New Roman"/>
              </a:rPr>
              <a:t> </a:t>
            </a:r>
            <a:r>
              <a:rPr sz="2000" spc="-5" dirty="0">
                <a:solidFill>
                  <a:srgbClr val="2C2C2C"/>
                </a:solidFill>
                <a:latin typeface="Times New Roman"/>
                <a:cs typeface="Times New Roman"/>
              </a:rPr>
              <a:t>understand the fundamentals of engineering drawing including usages of drawing tools, line-  types, dimensioning, letter-writing</a:t>
            </a:r>
            <a:r>
              <a:rPr lang="en-US" sz="2000" spc="-5" dirty="0">
                <a:solidFill>
                  <a:srgbClr val="2C2C2C"/>
                </a:solidFill>
                <a:latin typeface="Times New Roman"/>
                <a:cs typeface="Times New Roman"/>
              </a:rPr>
              <a:t>, </a:t>
            </a:r>
            <a:r>
              <a:rPr lang="en-IN" sz="2000" spc="-5" dirty="0">
                <a:solidFill>
                  <a:srgbClr val="2C2C2C"/>
                </a:solidFill>
                <a:latin typeface="Times New Roman"/>
                <a:cs typeface="Times New Roman"/>
              </a:rPr>
              <a:t>scales and AutoCAD software.</a:t>
            </a:r>
            <a:endParaRPr sz="2000" spc="-5" dirty="0">
              <a:solidFill>
                <a:srgbClr val="2C2C2C"/>
              </a:solidFill>
              <a:latin typeface="Times New Roman"/>
              <a:cs typeface="Times New Roman"/>
            </a:endParaRPr>
          </a:p>
          <a:p>
            <a:pPr marL="299085" marR="5080" indent="-287020" algn="just">
              <a:lnSpc>
                <a:spcPct val="150000"/>
              </a:lnSpc>
              <a:spcBef>
                <a:spcPts val="1200"/>
              </a:spcBef>
              <a:buFont typeface="Arial MT"/>
              <a:buChar char="•"/>
              <a:tabLst>
                <a:tab pos="299085" algn="l"/>
                <a:tab pos="299720" algn="l"/>
                <a:tab pos="1022985" algn="l"/>
                <a:tab pos="2141855" algn="l"/>
                <a:tab pos="2641600" algn="l"/>
                <a:tab pos="3335020" algn="l"/>
                <a:tab pos="3778885" algn="l"/>
                <a:tab pos="5008880" algn="l"/>
                <a:tab pos="6254115" algn="l"/>
                <a:tab pos="6597015" algn="l"/>
                <a:tab pos="8025130" algn="l"/>
                <a:tab pos="9284335" algn="l"/>
                <a:tab pos="9782810" algn="l"/>
              </a:tabLst>
            </a:pPr>
            <a:r>
              <a:rPr sz="2000" b="1" spc="5" dirty="0">
                <a:solidFill>
                  <a:srgbClr val="2C2C2C"/>
                </a:solidFill>
                <a:latin typeface="Times New Roman"/>
                <a:cs typeface="Times New Roman"/>
              </a:rPr>
              <a:t>C</a:t>
            </a:r>
            <a:r>
              <a:rPr sz="2000" b="1" spc="-15" dirty="0">
                <a:solidFill>
                  <a:srgbClr val="2C2C2C"/>
                </a:solidFill>
                <a:latin typeface="Times New Roman"/>
                <a:cs typeface="Times New Roman"/>
              </a:rPr>
              <a:t>O</a:t>
            </a:r>
            <a:r>
              <a:rPr sz="2000" b="1" spc="5" dirty="0">
                <a:solidFill>
                  <a:srgbClr val="2C2C2C"/>
                </a:solidFill>
                <a:latin typeface="Times New Roman"/>
                <a:cs typeface="Times New Roman"/>
              </a:rPr>
              <a:t>2</a:t>
            </a:r>
            <a:r>
              <a:rPr sz="2000" b="1" dirty="0">
                <a:solidFill>
                  <a:srgbClr val="2C2C2C"/>
                </a:solidFill>
                <a:latin typeface="Times New Roman"/>
                <a:cs typeface="Times New Roman"/>
              </a:rPr>
              <a:t>:	</a:t>
            </a:r>
            <a:r>
              <a:rPr lang="en-US" sz="2000" spc="-5" dirty="0">
                <a:solidFill>
                  <a:srgbClr val="2C2C2C"/>
                </a:solidFill>
                <a:latin typeface="Times New Roman"/>
                <a:cs typeface="Times New Roman"/>
              </a:rPr>
              <a:t>recognize the conceptual framework of orthographic projections of points, lines and basic commands of AutoCAD software.</a:t>
            </a:r>
          </a:p>
          <a:p>
            <a:pPr marL="299085" marR="5080" indent="-287020" algn="just">
              <a:lnSpc>
                <a:spcPct val="150000"/>
              </a:lnSpc>
              <a:spcBef>
                <a:spcPts val="1200"/>
              </a:spcBef>
              <a:buFont typeface="Arial MT"/>
              <a:buChar char="•"/>
              <a:tabLst>
                <a:tab pos="299085" algn="l"/>
                <a:tab pos="299720" algn="l"/>
                <a:tab pos="1022985" algn="l"/>
                <a:tab pos="2141855" algn="l"/>
                <a:tab pos="2641600" algn="l"/>
                <a:tab pos="3335020" algn="l"/>
                <a:tab pos="3778885" algn="l"/>
                <a:tab pos="5008880" algn="l"/>
                <a:tab pos="6254115" algn="l"/>
                <a:tab pos="6597015" algn="l"/>
                <a:tab pos="8025130" algn="l"/>
                <a:tab pos="9284335" algn="l"/>
                <a:tab pos="9782810" algn="l"/>
              </a:tabLst>
            </a:pPr>
            <a:r>
              <a:rPr sz="2000" b="1" dirty="0">
                <a:solidFill>
                  <a:srgbClr val="2C2C2C"/>
                </a:solidFill>
                <a:latin typeface="Times New Roman"/>
                <a:cs typeface="Times New Roman"/>
              </a:rPr>
              <a:t>CO3:</a:t>
            </a:r>
            <a:r>
              <a:rPr sz="2000" b="1" spc="85" dirty="0">
                <a:solidFill>
                  <a:srgbClr val="2C2C2C"/>
                </a:solidFill>
                <a:latin typeface="Times New Roman"/>
                <a:cs typeface="Times New Roman"/>
              </a:rPr>
              <a:t> </a:t>
            </a:r>
            <a:r>
              <a:rPr lang="en-US" sz="2000" spc="-5" dirty="0">
                <a:solidFill>
                  <a:srgbClr val="2C2C2C"/>
                </a:solidFill>
                <a:latin typeface="Times New Roman"/>
                <a:cs typeface="Times New Roman"/>
              </a:rPr>
              <a:t>apply the knowledge to draw the orthographic and sectional views and to create 2D drawings on AutoCAD software.</a:t>
            </a:r>
          </a:p>
          <a:p>
            <a:pPr marL="299085" marR="5080" indent="-287020" algn="just">
              <a:lnSpc>
                <a:spcPct val="150000"/>
              </a:lnSpc>
              <a:spcBef>
                <a:spcPts val="1200"/>
              </a:spcBef>
              <a:buFont typeface="Arial MT"/>
              <a:buChar char="•"/>
              <a:tabLst>
                <a:tab pos="299085" algn="l"/>
                <a:tab pos="299720" algn="l"/>
                <a:tab pos="1022985" algn="l"/>
                <a:tab pos="2141855" algn="l"/>
                <a:tab pos="2641600" algn="l"/>
                <a:tab pos="3335020" algn="l"/>
                <a:tab pos="3778885" algn="l"/>
                <a:tab pos="5008880" algn="l"/>
                <a:tab pos="6254115" algn="l"/>
                <a:tab pos="6597015" algn="l"/>
                <a:tab pos="8025130" algn="l"/>
                <a:tab pos="9284335" algn="l"/>
                <a:tab pos="9782810" algn="l"/>
              </a:tabLst>
            </a:pPr>
            <a:r>
              <a:rPr sz="2000" b="1" dirty="0">
                <a:solidFill>
                  <a:srgbClr val="2C2C2C"/>
                </a:solidFill>
                <a:latin typeface="Times New Roman"/>
                <a:cs typeface="Times New Roman"/>
              </a:rPr>
              <a:t>CO4:</a:t>
            </a:r>
            <a:r>
              <a:rPr sz="2000" b="1" spc="325" dirty="0">
                <a:solidFill>
                  <a:srgbClr val="2C2C2C"/>
                </a:solidFill>
                <a:latin typeface="Times New Roman"/>
                <a:cs typeface="Times New Roman"/>
              </a:rPr>
              <a:t> </a:t>
            </a:r>
            <a:r>
              <a:rPr lang="en-US" sz="2000" spc="-5" dirty="0">
                <a:solidFill>
                  <a:srgbClr val="2C2C2C"/>
                </a:solidFill>
                <a:latin typeface="Times New Roman"/>
                <a:cs typeface="Times New Roman"/>
              </a:rPr>
              <a:t>acquaint the techniques to develop the isometric views and surfaces of common geometries and to create 3D models on AutoCAD.</a:t>
            </a:r>
            <a:endParaRPr sz="2000" spc="-5" dirty="0">
              <a:solidFill>
                <a:srgbClr val="2C2C2C"/>
              </a:solidFill>
              <a:latin typeface="Times New Roman"/>
              <a:cs typeface="Times New Roman"/>
            </a:endParaRPr>
          </a:p>
          <a:p>
            <a:pPr marL="299085" marR="5080" indent="-287020" algn="just">
              <a:lnSpc>
                <a:spcPct val="150000"/>
              </a:lnSpc>
              <a:spcBef>
                <a:spcPts val="1200"/>
              </a:spcBef>
              <a:buFont typeface="Arial MT"/>
              <a:buChar char="•"/>
              <a:tabLst>
                <a:tab pos="299085" algn="l"/>
                <a:tab pos="299720" algn="l"/>
                <a:tab pos="1022985" algn="l"/>
                <a:tab pos="2141855" algn="l"/>
                <a:tab pos="2641600" algn="l"/>
                <a:tab pos="3335020" algn="l"/>
                <a:tab pos="3778885" algn="l"/>
                <a:tab pos="5008880" algn="l"/>
                <a:tab pos="6254115" algn="l"/>
                <a:tab pos="6597015" algn="l"/>
                <a:tab pos="8025130" algn="l"/>
                <a:tab pos="9284335" algn="l"/>
                <a:tab pos="9782810" algn="l"/>
              </a:tabLst>
            </a:pPr>
            <a:r>
              <a:rPr sz="2000" b="1" dirty="0">
                <a:solidFill>
                  <a:srgbClr val="2C2C2C"/>
                </a:solidFill>
                <a:latin typeface="Times New Roman"/>
                <a:cs typeface="Times New Roman"/>
              </a:rPr>
              <a:t>CO5: </a:t>
            </a:r>
            <a:r>
              <a:rPr lang="en-US" sz="2000" spc="-5" dirty="0">
                <a:solidFill>
                  <a:srgbClr val="2C2C2C"/>
                </a:solidFill>
                <a:latin typeface="Times New Roman"/>
                <a:cs typeface="Times New Roman"/>
              </a:rPr>
              <a:t>impart the conceptual understanding of digital fabrication and rapid prototyping techniques.</a:t>
            </a:r>
          </a:p>
          <a:p>
            <a:pPr marL="299085" marR="5080" indent="-287020" algn="just">
              <a:lnSpc>
                <a:spcPct val="150000"/>
              </a:lnSpc>
              <a:spcBef>
                <a:spcPts val="1200"/>
              </a:spcBef>
              <a:buFont typeface="Arial MT"/>
              <a:buChar char="•"/>
              <a:tabLst>
                <a:tab pos="299085" algn="l"/>
                <a:tab pos="299720" algn="l"/>
                <a:tab pos="1022985" algn="l"/>
                <a:tab pos="2141855" algn="l"/>
                <a:tab pos="2641600" algn="l"/>
                <a:tab pos="3335020" algn="l"/>
                <a:tab pos="3778885" algn="l"/>
                <a:tab pos="5008880" algn="l"/>
                <a:tab pos="6254115" algn="l"/>
                <a:tab pos="6597015" algn="l"/>
                <a:tab pos="8025130" algn="l"/>
                <a:tab pos="9284335" algn="l"/>
                <a:tab pos="9782810" algn="l"/>
              </a:tabLst>
            </a:pPr>
            <a:r>
              <a:rPr lang="en-US" sz="2000" b="1" dirty="0">
                <a:solidFill>
                  <a:srgbClr val="2C2C2C"/>
                </a:solidFill>
                <a:latin typeface="Times New Roman"/>
                <a:cs typeface="Times New Roman"/>
              </a:rPr>
              <a:t>CO6 :</a:t>
            </a:r>
            <a:r>
              <a:rPr lang="en-US" sz="2000" dirty="0"/>
              <a:t> </a:t>
            </a:r>
            <a:r>
              <a:rPr lang="en-US" sz="2000" spc="-5" dirty="0">
                <a:solidFill>
                  <a:srgbClr val="2C2C2C"/>
                </a:solidFill>
                <a:latin typeface="Times New Roman"/>
                <a:cs typeface="Times New Roman"/>
              </a:rPr>
              <a:t>learn and discuss the varied important aspects of several rapid prototyping systems.</a:t>
            </a:r>
            <a:endParaRPr sz="2000" spc="-5" dirty="0">
              <a:solidFill>
                <a:srgbClr val="2C2C2C"/>
              </a:solidFill>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09600" y="152400"/>
            <a:ext cx="7475092" cy="553998"/>
          </a:xfrm>
        </p:spPr>
        <p:txBody>
          <a:bodyPr/>
          <a:lstStyle/>
          <a:p>
            <a:pPr marL="12700">
              <a:spcBef>
                <a:spcPts val="100"/>
              </a:spcBef>
            </a:pPr>
            <a:r>
              <a:rPr lang="en-IN" altLang="en-US" sz="3600" u="none" spc="-5" dirty="0">
                <a:solidFill>
                  <a:srgbClr val="099BDD"/>
                </a:solidFill>
                <a:latin typeface="Corbel"/>
                <a:cs typeface="Corbel"/>
              </a:rPr>
              <a:t>Program Outcomes (PO)</a:t>
            </a:r>
            <a:endParaRPr lang="en-US" altLang="en-US" sz="3600" u="none" spc="-5" dirty="0">
              <a:solidFill>
                <a:srgbClr val="099BDD"/>
              </a:solidFill>
              <a:latin typeface="Corbel"/>
              <a:cs typeface="Corbel"/>
            </a:endParaRPr>
          </a:p>
        </p:txBody>
      </p:sp>
      <p:sp>
        <p:nvSpPr>
          <p:cNvPr id="3" name="Content Placeholder 2"/>
          <p:cNvSpPr>
            <a:spLocks noGrp="1"/>
          </p:cNvSpPr>
          <p:nvPr>
            <p:ph idx="1"/>
          </p:nvPr>
        </p:nvSpPr>
        <p:spPr>
          <a:xfrm>
            <a:off x="457200" y="990600"/>
            <a:ext cx="11582400" cy="5791200"/>
          </a:xfrm>
        </p:spPr>
        <p:txBody>
          <a:bodyPr>
            <a:normAutofit fontScale="92500"/>
          </a:bodyPr>
          <a:lstStyle/>
          <a:p>
            <a:pPr algn="just">
              <a:lnSpc>
                <a:spcPct val="150000"/>
              </a:lnSpc>
              <a:buClr>
                <a:schemeClr val="dk1"/>
              </a:buClr>
              <a:buSzPts val="1400"/>
              <a:defRPr/>
            </a:pPr>
            <a:r>
              <a:rPr lang="en-US" sz="2100" b="1" dirty="0">
                <a:solidFill>
                  <a:schemeClr val="dk1"/>
                </a:solidFill>
                <a:latin typeface="Times New Roman" pitchFamily="18" charset="0"/>
                <a:ea typeface="Arial"/>
                <a:cs typeface="Times New Roman" pitchFamily="18" charset="0"/>
                <a:sym typeface="Arial"/>
              </a:rPr>
              <a:t>PO1: Engineering Knowledge:: </a:t>
            </a:r>
            <a:r>
              <a:rPr lang="en-US" sz="2100" dirty="0">
                <a:solidFill>
                  <a:schemeClr val="dk1"/>
                </a:solidFill>
                <a:latin typeface="Times New Roman" pitchFamily="18" charset="0"/>
                <a:ea typeface="Arial"/>
                <a:cs typeface="Times New Roman" pitchFamily="18" charset="0"/>
                <a:sym typeface="Arial"/>
              </a:rPr>
              <a:t>Apply the knowledge of mathematics, science, engineering fundamentals, and an engineering specialization to the solution of complex engineering problems. </a:t>
            </a:r>
            <a:endParaRPr lang="en-US" sz="2100" dirty="0">
              <a:latin typeface="Times New Roman" pitchFamily="18" charset="0"/>
              <a:cs typeface="Times New Roman" pitchFamily="18" charset="0"/>
            </a:endParaRPr>
          </a:p>
          <a:p>
            <a:pPr algn="just">
              <a:lnSpc>
                <a:spcPct val="150000"/>
              </a:lnSpc>
              <a:buClr>
                <a:schemeClr val="dk1"/>
              </a:buClr>
              <a:buSzPts val="1400"/>
              <a:defRPr/>
            </a:pPr>
            <a:r>
              <a:rPr lang="en-US" sz="2100" b="1" dirty="0">
                <a:solidFill>
                  <a:schemeClr val="dk1"/>
                </a:solidFill>
                <a:latin typeface="Times New Roman" pitchFamily="18" charset="0"/>
                <a:ea typeface="Arial"/>
                <a:cs typeface="Times New Roman" pitchFamily="18" charset="0"/>
                <a:sym typeface="Arial"/>
              </a:rPr>
              <a:t>PO2: Problem Analysis:: </a:t>
            </a:r>
            <a:r>
              <a:rPr lang="en-US" sz="2100" dirty="0">
                <a:solidFill>
                  <a:schemeClr val="dk1"/>
                </a:solidFill>
                <a:latin typeface="Times New Roman" pitchFamily="18" charset="0"/>
                <a:ea typeface="Arial"/>
                <a:cs typeface="Times New Roman" pitchFamily="18" charset="0"/>
                <a:sym typeface="Arial"/>
              </a:rPr>
              <a:t>Identify, formulate, research literature, and analyze complex engineering problems reaching substantiated conclusions using first principles of mathematics, natural sciences, and engineering sciences. </a:t>
            </a:r>
            <a:endParaRPr lang="en-US" sz="2100" dirty="0">
              <a:latin typeface="Times New Roman" pitchFamily="18" charset="0"/>
              <a:cs typeface="Times New Roman" pitchFamily="18" charset="0"/>
            </a:endParaRPr>
          </a:p>
          <a:p>
            <a:pPr algn="just">
              <a:lnSpc>
                <a:spcPct val="150000"/>
              </a:lnSpc>
              <a:buClr>
                <a:schemeClr val="dk1"/>
              </a:buClr>
              <a:buSzPts val="1400"/>
              <a:defRPr/>
            </a:pPr>
            <a:r>
              <a:rPr lang="en-US" sz="2100" b="1" dirty="0">
                <a:solidFill>
                  <a:schemeClr val="dk1"/>
                </a:solidFill>
                <a:latin typeface="Times New Roman" pitchFamily="18" charset="0"/>
                <a:ea typeface="Arial"/>
                <a:cs typeface="Times New Roman" pitchFamily="18" charset="0"/>
                <a:sym typeface="Arial"/>
              </a:rPr>
              <a:t>PO3: Design/development of solutions:: </a:t>
            </a:r>
            <a:r>
              <a:rPr lang="en-US" sz="2100" dirty="0">
                <a:solidFill>
                  <a:schemeClr val="dk1"/>
                </a:solidFill>
                <a:latin typeface="Times New Roman" pitchFamily="18" charset="0"/>
                <a:ea typeface="Arial"/>
                <a:cs typeface="Times New Roman" pitchFamily="18" charset="0"/>
                <a:sym typeface="Arial"/>
              </a:rPr>
              <a:t>Design solutions for complex engineering problems and design system components or processes that meet the specified needs with appropriate consideration for the public health and safety, and the cultural, societal, and environmental considerations. </a:t>
            </a:r>
            <a:endParaRPr lang="en-US" sz="2100" dirty="0">
              <a:latin typeface="Times New Roman" pitchFamily="18" charset="0"/>
              <a:cs typeface="Times New Roman" pitchFamily="18" charset="0"/>
            </a:endParaRPr>
          </a:p>
          <a:p>
            <a:pPr algn="just">
              <a:lnSpc>
                <a:spcPct val="150000"/>
              </a:lnSpc>
              <a:buClr>
                <a:schemeClr val="dk1"/>
              </a:buClr>
              <a:buSzPts val="1400"/>
              <a:defRPr/>
            </a:pPr>
            <a:r>
              <a:rPr lang="en-US" sz="2100" b="1" dirty="0">
                <a:solidFill>
                  <a:schemeClr val="dk1"/>
                </a:solidFill>
                <a:latin typeface="Times New Roman" pitchFamily="18" charset="0"/>
                <a:ea typeface="Arial"/>
                <a:cs typeface="Times New Roman" pitchFamily="18" charset="0"/>
                <a:sym typeface="Arial"/>
              </a:rPr>
              <a:t>PO4: Conduct investigations of complex problems:: </a:t>
            </a:r>
            <a:r>
              <a:rPr lang="en-US" sz="2100" dirty="0">
                <a:solidFill>
                  <a:schemeClr val="dk1"/>
                </a:solidFill>
                <a:latin typeface="Times New Roman" pitchFamily="18" charset="0"/>
                <a:ea typeface="Arial"/>
                <a:cs typeface="Times New Roman" pitchFamily="18" charset="0"/>
                <a:sym typeface="Arial"/>
              </a:rPr>
              <a:t>Use research-based knowledge and research methods including design of experiments, analysis and interpretation of data, and synthesis of the information to provide valid conclusions. </a:t>
            </a:r>
            <a:endParaRPr lang="en-US" sz="2100" dirty="0">
              <a:latin typeface="Times New Roman" pitchFamily="18" charset="0"/>
              <a:cs typeface="Times New Roman" pitchFamily="18" charset="0"/>
            </a:endParaRPr>
          </a:p>
          <a:p>
            <a:pPr algn="just">
              <a:lnSpc>
                <a:spcPct val="150000"/>
              </a:lnSpc>
              <a:buClr>
                <a:schemeClr val="dk1"/>
              </a:buClr>
              <a:buSzPts val="1400"/>
              <a:defRPr/>
            </a:pPr>
            <a:r>
              <a:rPr lang="en-US" sz="2100" b="1" dirty="0">
                <a:solidFill>
                  <a:schemeClr val="dk1"/>
                </a:solidFill>
                <a:latin typeface="Times New Roman" pitchFamily="18" charset="0"/>
                <a:ea typeface="Arial"/>
                <a:cs typeface="Times New Roman" pitchFamily="18" charset="0"/>
                <a:sym typeface="Arial"/>
              </a:rPr>
              <a:t>PO5: Modern tool usage:: </a:t>
            </a:r>
            <a:r>
              <a:rPr lang="en-US" sz="2100" dirty="0">
                <a:solidFill>
                  <a:schemeClr val="dk1"/>
                </a:solidFill>
                <a:latin typeface="Times New Roman" pitchFamily="18" charset="0"/>
                <a:ea typeface="Arial"/>
                <a:cs typeface="Times New Roman" pitchFamily="18" charset="0"/>
                <a:sym typeface="Arial"/>
              </a:rPr>
              <a:t>Create, select, and apply appropriate techniques, resources, and modern engineering and IT tools including prediction and modeling to complex engineering activities with an understanding of the limitations.</a:t>
            </a:r>
            <a:endParaRPr lang="en-US" sz="2100" dirty="0">
              <a:latin typeface="Times New Roman" pitchFamily="18" charset="0"/>
              <a:cs typeface="Times New Roman" pitchFamily="18" charset="0"/>
            </a:endParaRPr>
          </a:p>
          <a:p>
            <a:pPr algn="just">
              <a:lnSpc>
                <a:spcPct val="150000"/>
              </a:lnSpc>
              <a:buClr>
                <a:schemeClr val="dk1"/>
              </a:buClr>
              <a:buSzPts val="1400"/>
              <a:defRPr/>
            </a:pPr>
            <a:r>
              <a:rPr lang="en-US" sz="2100" dirty="0">
                <a:solidFill>
                  <a:schemeClr val="dk1"/>
                </a:solidFill>
                <a:latin typeface="Times New Roman" pitchFamily="18" charset="0"/>
                <a:ea typeface="Arial"/>
                <a:cs typeface="Times New Roman" pitchFamily="18" charset="0"/>
                <a:sym typeface="Arial"/>
              </a:rPr>
              <a:t> </a:t>
            </a:r>
            <a:r>
              <a:rPr lang="en-US" sz="2100" b="1" dirty="0">
                <a:solidFill>
                  <a:schemeClr val="dk1"/>
                </a:solidFill>
                <a:latin typeface="Times New Roman" pitchFamily="18" charset="0"/>
                <a:ea typeface="Arial"/>
                <a:cs typeface="Times New Roman" pitchFamily="18" charset="0"/>
                <a:sym typeface="Arial"/>
              </a:rPr>
              <a:t>PO6: The engineer and society:: </a:t>
            </a:r>
            <a:r>
              <a:rPr lang="en-US" sz="2100" dirty="0">
                <a:solidFill>
                  <a:schemeClr val="dk1"/>
                </a:solidFill>
                <a:latin typeface="Times New Roman" pitchFamily="18" charset="0"/>
                <a:ea typeface="Arial"/>
                <a:cs typeface="Times New Roman" pitchFamily="18" charset="0"/>
                <a:sym typeface="Arial"/>
              </a:rPr>
              <a:t>Apply reasoning informed by the contextual knowledge to assess societal, health, safety, legal and cultural issues and the consequent responsibilities relevant to the professional engineering practice. </a:t>
            </a:r>
            <a:endParaRPr lang="en-US" sz="2100" dirty="0">
              <a:latin typeface="Times New Roman" pitchFamily="18" charset="0"/>
              <a:cs typeface="Times New Roman" pitchFamily="18" charset="0"/>
            </a:endParaRPr>
          </a:p>
          <a:p>
            <a:pPr indent="-254000" algn="just">
              <a:lnSpc>
                <a:spcPct val="150000"/>
              </a:lnSpc>
              <a:buClr>
                <a:schemeClr val="dk1"/>
              </a:buClr>
              <a:buSzPts val="1400"/>
              <a:defRPr/>
            </a:pPr>
            <a:endParaRPr lang="en-US" dirty="0">
              <a:solidFill>
                <a:schemeClr val="dk1"/>
              </a:solidFill>
              <a:latin typeface="Times New Roman" pitchFamily="18" charset="0"/>
              <a:ea typeface="Arial"/>
              <a:cs typeface="Times New Roman" pitchFamily="18" charset="0"/>
              <a:sym typeface="Arial"/>
            </a:endParaRPr>
          </a:p>
          <a:p>
            <a:pPr algn="just">
              <a:lnSpc>
                <a:spcPct val="150000"/>
              </a:lnSpc>
              <a:buFont typeface="Arial" charset="0"/>
              <a:buChar char="•"/>
              <a:defRPr/>
            </a:pPr>
            <a:endParaRPr lang="en-US" dirty="0">
              <a:latin typeface="Times New Roman" pitchFamily="18" charset="0"/>
              <a:cs typeface="Times New Roman" pitchFamily="18" charset="0"/>
            </a:endParaRPr>
          </a:p>
        </p:txBody>
      </p:sp>
      <p:sp>
        <p:nvSpPr>
          <p:cNvPr id="17412" name="Slide Number Placeholder 4"/>
          <p:cNvSpPr>
            <a:spLocks noGrp="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76977FB-C46C-4F14-A1C2-98ED841ABA27}" type="slidenum">
              <a:rPr lang="en-IN" altLang="en-US" sz="1200">
                <a:solidFill>
                  <a:srgbClr val="898989"/>
                </a:solidFill>
              </a:rPr>
              <a:pPr>
                <a:spcBef>
                  <a:spcPct val="0"/>
                </a:spcBef>
                <a:buFontTx/>
                <a:buNone/>
              </a:pPr>
              <a:t>3</a:t>
            </a:fld>
            <a:endParaRPr lang="en-IN" altLang="en-US" sz="1200">
              <a:solidFill>
                <a:srgbClr val="898989"/>
              </a:solidFill>
            </a:endParaRPr>
          </a:p>
        </p:txBody>
      </p:sp>
    </p:spTree>
    <p:extLst>
      <p:ext uri="{BB962C8B-B14F-4D97-AF65-F5344CB8AC3E}">
        <p14:creationId xmlns:p14="http://schemas.microsoft.com/office/powerpoint/2010/main" val="306197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11658600" cy="5638800"/>
          </a:xfrm>
        </p:spPr>
        <p:txBody>
          <a:bodyPr>
            <a:noAutofit/>
          </a:bodyPr>
          <a:lstStyle/>
          <a:p>
            <a:pPr>
              <a:lnSpc>
                <a:spcPct val="170000"/>
              </a:lnSpc>
              <a:spcBef>
                <a:spcPts val="1080"/>
              </a:spcBef>
              <a:buClr>
                <a:schemeClr val="dk1"/>
              </a:buClr>
              <a:buSzPts val="1400"/>
              <a:defRPr/>
            </a:pPr>
            <a:r>
              <a:rPr lang="en-US" sz="1400" b="1" dirty="0">
                <a:solidFill>
                  <a:schemeClr val="dk1"/>
                </a:solidFill>
                <a:latin typeface="Times New Roman" pitchFamily="18" charset="0"/>
                <a:ea typeface="Arial"/>
                <a:cs typeface="Times New Roman" pitchFamily="18" charset="0"/>
                <a:sym typeface="Arial"/>
              </a:rPr>
              <a:t>PO7: Environment and sustainability:: </a:t>
            </a:r>
            <a:r>
              <a:rPr lang="en-US" sz="1400" dirty="0">
                <a:solidFill>
                  <a:schemeClr val="dk1"/>
                </a:solidFill>
                <a:latin typeface="Times New Roman" pitchFamily="18" charset="0"/>
                <a:ea typeface="Arial"/>
                <a:cs typeface="Times New Roman" pitchFamily="18" charset="0"/>
                <a:sym typeface="Arial"/>
              </a:rPr>
              <a:t>Understand the impact of the professional engineering solutions in societal and environmental contexts, and demonstrate the knowledge of, and need for sustainable development. </a:t>
            </a:r>
            <a:endParaRPr lang="en-US" sz="1400" dirty="0">
              <a:latin typeface="Times New Roman" pitchFamily="18" charset="0"/>
              <a:cs typeface="Times New Roman" pitchFamily="18" charset="0"/>
            </a:endParaRPr>
          </a:p>
          <a:p>
            <a:pPr>
              <a:lnSpc>
                <a:spcPct val="170000"/>
              </a:lnSpc>
              <a:spcBef>
                <a:spcPts val="1080"/>
              </a:spcBef>
              <a:buClr>
                <a:schemeClr val="dk1"/>
              </a:buClr>
              <a:buSzPts val="1400"/>
              <a:defRPr/>
            </a:pPr>
            <a:r>
              <a:rPr lang="en-US" sz="1400" b="1" dirty="0">
                <a:solidFill>
                  <a:schemeClr val="dk1"/>
                </a:solidFill>
                <a:latin typeface="Times New Roman" pitchFamily="18" charset="0"/>
                <a:ea typeface="Arial"/>
                <a:cs typeface="Times New Roman" pitchFamily="18" charset="0"/>
                <a:sym typeface="Arial"/>
              </a:rPr>
              <a:t>PO8: Ethics:: </a:t>
            </a:r>
            <a:r>
              <a:rPr lang="en-US" sz="1400" dirty="0">
                <a:solidFill>
                  <a:schemeClr val="dk1"/>
                </a:solidFill>
                <a:latin typeface="Times New Roman" pitchFamily="18" charset="0"/>
                <a:ea typeface="Arial"/>
                <a:cs typeface="Times New Roman" pitchFamily="18" charset="0"/>
                <a:sym typeface="Arial"/>
              </a:rPr>
              <a:t>Apply ethical principles and commit to professional ethics and responsibilities and norms of the engineering practice. </a:t>
            </a:r>
            <a:endParaRPr lang="en-US" sz="1400" dirty="0">
              <a:latin typeface="Times New Roman" pitchFamily="18" charset="0"/>
              <a:cs typeface="Times New Roman" pitchFamily="18" charset="0"/>
            </a:endParaRPr>
          </a:p>
          <a:p>
            <a:pPr>
              <a:lnSpc>
                <a:spcPct val="170000"/>
              </a:lnSpc>
              <a:spcBef>
                <a:spcPts val="1080"/>
              </a:spcBef>
              <a:buClr>
                <a:schemeClr val="dk1"/>
              </a:buClr>
              <a:buSzPts val="1400"/>
              <a:defRPr/>
            </a:pPr>
            <a:r>
              <a:rPr lang="en-US" sz="1400" b="1" dirty="0">
                <a:solidFill>
                  <a:schemeClr val="dk1"/>
                </a:solidFill>
                <a:latin typeface="Times New Roman" pitchFamily="18" charset="0"/>
                <a:ea typeface="Arial"/>
                <a:cs typeface="Times New Roman" pitchFamily="18" charset="0"/>
                <a:sym typeface="Arial"/>
              </a:rPr>
              <a:t>PO9:  Individual and team work:: </a:t>
            </a:r>
            <a:r>
              <a:rPr lang="en-US" sz="1400" dirty="0">
                <a:solidFill>
                  <a:schemeClr val="dk1"/>
                </a:solidFill>
                <a:latin typeface="Times New Roman" pitchFamily="18" charset="0"/>
                <a:ea typeface="Arial"/>
                <a:cs typeface="Times New Roman" pitchFamily="18" charset="0"/>
                <a:sym typeface="Arial"/>
              </a:rPr>
              <a:t>Function effectively as an individual, and as a member or leader in diverse teams, and in multidisciplinary settings. </a:t>
            </a:r>
          </a:p>
          <a:p>
            <a:pPr>
              <a:lnSpc>
                <a:spcPct val="170000"/>
              </a:lnSpc>
              <a:buClr>
                <a:schemeClr val="dk1"/>
              </a:buClr>
              <a:buSzPts val="1400"/>
              <a:defRPr/>
            </a:pPr>
            <a:r>
              <a:rPr lang="en-US" sz="1400" b="1" dirty="0">
                <a:solidFill>
                  <a:schemeClr val="dk1"/>
                </a:solidFill>
                <a:latin typeface="Times New Roman" pitchFamily="18" charset="0"/>
                <a:ea typeface="Arial"/>
                <a:cs typeface="Times New Roman" pitchFamily="18" charset="0"/>
                <a:sym typeface="Arial"/>
              </a:rPr>
              <a:t>PO10:  Communication:: </a:t>
            </a:r>
            <a:r>
              <a:rPr lang="en-US" sz="1400" dirty="0">
                <a:solidFill>
                  <a:schemeClr val="dk1"/>
                </a:solidFill>
                <a:latin typeface="Times New Roman" pitchFamily="18" charset="0"/>
                <a:ea typeface="Arial"/>
                <a:cs typeface="Times New Roman" pitchFamily="18" charset="0"/>
                <a:sym typeface="Arial"/>
              </a:rPr>
              <a:t>Communicate effectively on complex engineering activities with the engineering community and with society at large, such as, being able to comprehend and write effective reports and design documentation, make effective presentations, and give and receive clear instructions. </a:t>
            </a:r>
            <a:endParaRPr lang="en-US" sz="1400" dirty="0">
              <a:latin typeface="Times New Roman" pitchFamily="18" charset="0"/>
              <a:cs typeface="Times New Roman" pitchFamily="18" charset="0"/>
            </a:endParaRPr>
          </a:p>
          <a:p>
            <a:pPr>
              <a:lnSpc>
                <a:spcPct val="170000"/>
              </a:lnSpc>
              <a:spcBef>
                <a:spcPts val="1080"/>
              </a:spcBef>
              <a:buClr>
                <a:schemeClr val="dk1"/>
              </a:buClr>
              <a:buSzPts val="1400"/>
              <a:defRPr/>
            </a:pPr>
            <a:r>
              <a:rPr lang="en-US" sz="1400" b="1" dirty="0">
                <a:solidFill>
                  <a:schemeClr val="dk1"/>
                </a:solidFill>
                <a:latin typeface="Times New Roman" pitchFamily="18" charset="0"/>
                <a:ea typeface="Arial"/>
                <a:cs typeface="Times New Roman" pitchFamily="18" charset="0"/>
                <a:sym typeface="Arial"/>
              </a:rPr>
              <a:t>PO11:  Project management and finance:: </a:t>
            </a:r>
            <a:r>
              <a:rPr lang="en-US" sz="1400" dirty="0">
                <a:solidFill>
                  <a:schemeClr val="dk1"/>
                </a:solidFill>
                <a:latin typeface="Times New Roman" pitchFamily="18" charset="0"/>
                <a:ea typeface="Arial"/>
                <a:cs typeface="Times New Roman" pitchFamily="18" charset="0"/>
                <a:sym typeface="Arial"/>
              </a:rPr>
              <a:t>Demonstrate knowledge and understanding of the engineering, management principles and apply the same to one’s own work, as a member or a leader in a team, manage projects efficiently in respective disciplines and multidisciplinary environments after consideration of economic and financial factors. </a:t>
            </a:r>
            <a:endParaRPr lang="en-US" sz="1400" dirty="0">
              <a:latin typeface="Times New Roman" pitchFamily="18" charset="0"/>
              <a:cs typeface="Times New Roman" pitchFamily="18" charset="0"/>
            </a:endParaRPr>
          </a:p>
          <a:p>
            <a:pPr>
              <a:lnSpc>
                <a:spcPct val="170000"/>
              </a:lnSpc>
              <a:spcBef>
                <a:spcPts val="1080"/>
              </a:spcBef>
              <a:buClr>
                <a:schemeClr val="dk1"/>
              </a:buClr>
              <a:buSzPts val="1400"/>
              <a:defRPr/>
            </a:pPr>
            <a:r>
              <a:rPr lang="en-US" sz="1400" b="1" dirty="0">
                <a:solidFill>
                  <a:schemeClr val="dk1"/>
                </a:solidFill>
                <a:latin typeface="Times New Roman" pitchFamily="18" charset="0"/>
                <a:ea typeface="Arial"/>
                <a:cs typeface="Times New Roman" pitchFamily="18" charset="0"/>
                <a:sym typeface="Arial"/>
              </a:rPr>
              <a:t>PO12: Life-long learning:: </a:t>
            </a:r>
            <a:r>
              <a:rPr lang="en-US" sz="1400" dirty="0">
                <a:solidFill>
                  <a:schemeClr val="dk1"/>
                </a:solidFill>
                <a:latin typeface="Times New Roman" pitchFamily="18" charset="0"/>
                <a:ea typeface="Arial"/>
                <a:cs typeface="Times New Roman" pitchFamily="18" charset="0"/>
                <a:sym typeface="Arial"/>
              </a:rPr>
              <a:t>Recognize the need for, and have the preparation and ability to engage in independent and life-long learning in the broadest context of technological change.</a:t>
            </a:r>
            <a:endParaRPr lang="en-US" sz="1400" dirty="0">
              <a:latin typeface="Times New Roman" pitchFamily="18" charset="0"/>
              <a:cs typeface="Times New Roman" pitchFamily="18" charset="0"/>
            </a:endParaRPr>
          </a:p>
          <a:p>
            <a:pPr>
              <a:lnSpc>
                <a:spcPct val="170000"/>
              </a:lnSpc>
              <a:spcBef>
                <a:spcPts val="1080"/>
              </a:spcBef>
              <a:buClr>
                <a:schemeClr val="dk1"/>
              </a:buClr>
              <a:buSzPts val="1400"/>
              <a:defRPr/>
            </a:pPr>
            <a:r>
              <a:rPr lang="en-US" sz="1400" dirty="0">
                <a:solidFill>
                  <a:schemeClr val="dk1"/>
                </a:solidFill>
                <a:latin typeface="Times New Roman" pitchFamily="18" charset="0"/>
                <a:ea typeface="Arial"/>
                <a:cs typeface="Times New Roman" pitchFamily="18" charset="0"/>
                <a:sym typeface="Arial"/>
              </a:rPr>
              <a:t> </a:t>
            </a:r>
            <a:r>
              <a:rPr lang="en-US" sz="1400" b="1" dirty="0">
                <a:solidFill>
                  <a:schemeClr val="dk1"/>
                </a:solidFill>
                <a:latin typeface="Times New Roman" pitchFamily="18" charset="0"/>
                <a:ea typeface="Arial"/>
                <a:cs typeface="Times New Roman" pitchFamily="18" charset="0"/>
                <a:sym typeface="Arial"/>
              </a:rPr>
              <a:t>PO13: Competitive Skills:: </a:t>
            </a:r>
            <a:r>
              <a:rPr lang="en-US" sz="1400" dirty="0">
                <a:solidFill>
                  <a:schemeClr val="dk1"/>
                </a:solidFill>
                <a:latin typeface="Times New Roman" pitchFamily="18" charset="0"/>
                <a:ea typeface="Arial"/>
                <a:cs typeface="Times New Roman" pitchFamily="18" charset="0"/>
                <a:sym typeface="Arial"/>
              </a:rPr>
              <a:t>Ability to compete in national and international technical events and building the competitive spirit along with having a good digital footprint. </a:t>
            </a:r>
            <a:endParaRPr lang="en-US" sz="1400" dirty="0">
              <a:latin typeface="Times New Roman" pitchFamily="18" charset="0"/>
              <a:cs typeface="Times New Roman" pitchFamily="18" charset="0"/>
            </a:endParaRPr>
          </a:p>
          <a:p>
            <a:pPr>
              <a:lnSpc>
                <a:spcPct val="107000"/>
              </a:lnSpc>
              <a:spcBef>
                <a:spcPts val="1080"/>
              </a:spcBef>
              <a:buClr>
                <a:schemeClr val="dk1"/>
              </a:buClr>
              <a:buSzPts val="1400"/>
              <a:buFont typeface="Arial"/>
              <a:buChar char="•"/>
              <a:defRPr/>
            </a:pPr>
            <a:endParaRPr lang="en-US" sz="1400" dirty="0">
              <a:latin typeface="Times New Roman" pitchFamily="18" charset="0"/>
              <a:cs typeface="Times New Roman" pitchFamily="18" charset="0"/>
            </a:endParaRPr>
          </a:p>
          <a:p>
            <a:pPr indent="-254000">
              <a:spcBef>
                <a:spcPts val="1080"/>
              </a:spcBef>
              <a:buClr>
                <a:schemeClr val="dk1"/>
              </a:buClr>
              <a:buSzPts val="1400"/>
              <a:defRPr/>
            </a:pPr>
            <a:endParaRPr lang="en-US" sz="1400" dirty="0">
              <a:solidFill>
                <a:schemeClr val="dk1"/>
              </a:solidFill>
              <a:latin typeface="Times New Roman" pitchFamily="18" charset="0"/>
              <a:ea typeface="Arial"/>
              <a:cs typeface="Times New Roman" pitchFamily="18" charset="0"/>
              <a:sym typeface="Arial"/>
            </a:endParaRPr>
          </a:p>
          <a:p>
            <a:pPr>
              <a:buFont typeface="Arial" charset="0"/>
              <a:buChar char="•"/>
              <a:defRPr/>
            </a:pPr>
            <a:endParaRPr lang="en-US" sz="1400" dirty="0">
              <a:latin typeface="Times New Roman" pitchFamily="18" charset="0"/>
              <a:cs typeface="Times New Roman" pitchFamily="18" charset="0"/>
            </a:endParaRPr>
          </a:p>
        </p:txBody>
      </p:sp>
      <p:sp>
        <p:nvSpPr>
          <p:cNvPr id="18436" name="Slide Number Placeholder 4"/>
          <p:cNvSpPr>
            <a:spLocks noGrp="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C4304FD-DB9E-4843-BAAD-FEBA8B9A7C70}" type="slidenum">
              <a:rPr lang="en-IN" altLang="en-US" sz="1200">
                <a:solidFill>
                  <a:srgbClr val="898989"/>
                </a:solidFill>
              </a:rPr>
              <a:pPr>
                <a:spcBef>
                  <a:spcPct val="0"/>
                </a:spcBef>
                <a:buFontTx/>
                <a:buNone/>
              </a:pPr>
              <a:t>4</a:t>
            </a:fld>
            <a:endParaRPr lang="en-IN" altLang="en-US" sz="1200">
              <a:solidFill>
                <a:srgbClr val="898989"/>
              </a:solidFill>
            </a:endParaRPr>
          </a:p>
        </p:txBody>
      </p:sp>
      <p:sp>
        <p:nvSpPr>
          <p:cNvPr id="5" name="Title 1"/>
          <p:cNvSpPr txBox="1">
            <a:spLocks/>
          </p:cNvSpPr>
          <p:nvPr/>
        </p:nvSpPr>
        <p:spPr>
          <a:xfrm>
            <a:off x="339213" y="381000"/>
            <a:ext cx="7475092" cy="553998"/>
          </a:xfrm>
          <a:prstGeom prst="rect">
            <a:avLst/>
          </a:prstGeom>
        </p:spPr>
        <p:txBody>
          <a:bodyPr wrap="square" lIns="0" tIns="0" rIns="0" bIns="0">
            <a:spAutoFit/>
          </a:bodyPr>
          <a:lstStyle>
            <a:lvl1pPr>
              <a:defRPr sz="4000" b="1" i="0" u="heavy">
                <a:solidFill>
                  <a:srgbClr val="2C2C2C"/>
                </a:solidFill>
                <a:latin typeface="Calibri"/>
                <a:ea typeface="+mj-ea"/>
                <a:cs typeface="Calibri"/>
              </a:defRPr>
            </a:lvl1pPr>
          </a:lstStyle>
          <a:p>
            <a:pPr marL="12700">
              <a:spcBef>
                <a:spcPts val="100"/>
              </a:spcBef>
            </a:pPr>
            <a:r>
              <a:rPr lang="en-IN" altLang="en-US" sz="3600" u="none" kern="0" spc="-5" dirty="0">
                <a:solidFill>
                  <a:srgbClr val="099BDD"/>
                </a:solidFill>
                <a:latin typeface="Corbel"/>
                <a:cs typeface="Corbel"/>
              </a:rPr>
              <a:t>Program Outcomes (PO)</a:t>
            </a:r>
            <a:endParaRPr lang="en-US" altLang="en-US" sz="3600" u="none" kern="0" spc="-5" dirty="0">
              <a:solidFill>
                <a:srgbClr val="099BDD"/>
              </a:solidFill>
              <a:latin typeface="Corbel"/>
              <a:cs typeface="Corbel"/>
            </a:endParaRPr>
          </a:p>
        </p:txBody>
      </p:sp>
    </p:spTree>
    <p:extLst>
      <p:ext uri="{BB962C8B-B14F-4D97-AF65-F5344CB8AC3E}">
        <p14:creationId xmlns:p14="http://schemas.microsoft.com/office/powerpoint/2010/main" val="236323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39213" y="381000"/>
            <a:ext cx="7475092" cy="553998"/>
          </a:xfrm>
          <a:prstGeom prst="rect">
            <a:avLst/>
          </a:prstGeom>
        </p:spPr>
        <p:txBody>
          <a:bodyPr wrap="square" lIns="0" tIns="0" rIns="0" bIns="0">
            <a:spAutoFit/>
          </a:bodyPr>
          <a:lstStyle>
            <a:lvl1pPr>
              <a:defRPr sz="4000" b="1" i="0" u="heavy">
                <a:solidFill>
                  <a:srgbClr val="2C2C2C"/>
                </a:solidFill>
                <a:latin typeface="Calibri"/>
                <a:ea typeface="+mj-ea"/>
                <a:cs typeface="Calibri"/>
              </a:defRPr>
            </a:lvl1pPr>
          </a:lstStyle>
          <a:p>
            <a:pPr marL="12700">
              <a:spcBef>
                <a:spcPts val="100"/>
              </a:spcBef>
            </a:pPr>
            <a:r>
              <a:rPr lang="en-IN" altLang="en-US" sz="3600" u="none" kern="0" spc="-5" dirty="0">
                <a:solidFill>
                  <a:srgbClr val="099BDD"/>
                </a:solidFill>
                <a:latin typeface="Corbel"/>
                <a:cs typeface="Corbel"/>
              </a:rPr>
              <a:t>Program Specific Outcomes (PSO)</a:t>
            </a:r>
            <a:endParaRPr lang="en-US" altLang="en-US" sz="3600" u="none" kern="0" spc="-5" dirty="0">
              <a:solidFill>
                <a:srgbClr val="099BDD"/>
              </a:solidFill>
              <a:latin typeface="Corbel"/>
              <a:cs typeface="Corbel"/>
            </a:endParaRPr>
          </a:p>
        </p:txBody>
      </p:sp>
      <p:sp>
        <p:nvSpPr>
          <p:cNvPr id="4" name="Rectangle 3"/>
          <p:cNvSpPr/>
          <p:nvPr/>
        </p:nvSpPr>
        <p:spPr>
          <a:xfrm>
            <a:off x="339212" y="1295400"/>
            <a:ext cx="11471788" cy="3139321"/>
          </a:xfrm>
          <a:prstGeom prst="rect">
            <a:avLst/>
          </a:prstGeom>
        </p:spPr>
        <p:txBody>
          <a:bodyPr wrap="square">
            <a:spAutoFit/>
          </a:bodyPr>
          <a:lstStyle/>
          <a:p>
            <a:pPr algn="just"/>
            <a:r>
              <a:rPr lang="en-IN" b="1" dirty="0"/>
              <a:t>PSO1: </a:t>
            </a:r>
            <a:r>
              <a:rPr lang="en-IN" dirty="0"/>
              <a:t>Apply basic knowledge in the areas such as Software Engineering, Networking amp Security, Database Management Systems, Intelligent Systems, Operating Systems, and System Architecture for building Software products.</a:t>
            </a:r>
          </a:p>
          <a:p>
            <a:pPr algn="just"/>
            <a:endParaRPr lang="en-IN" dirty="0"/>
          </a:p>
          <a:p>
            <a:pPr algn="just"/>
            <a:r>
              <a:rPr lang="en-IN" b="1" dirty="0"/>
              <a:t>PSO2: </a:t>
            </a:r>
            <a:r>
              <a:rPr lang="en-IN" dirty="0"/>
              <a:t>Attain the ability to design and develop software based systems, evaluate and recognize potential risks and provide creative, economical and optimal solutions.</a:t>
            </a:r>
          </a:p>
          <a:p>
            <a:pPr algn="just"/>
            <a:endParaRPr lang="en-IN" dirty="0"/>
          </a:p>
          <a:p>
            <a:pPr algn="just"/>
            <a:r>
              <a:rPr lang="en-IN" b="1" dirty="0"/>
              <a:t>PSO3: </a:t>
            </a:r>
            <a:r>
              <a:rPr lang="en-IN" dirty="0"/>
              <a:t>Provide effective and efficient real time solutions using attained knowledge in inter-disciplinary domains for societal benefits through projects.</a:t>
            </a:r>
          </a:p>
          <a:p>
            <a:pPr algn="just"/>
            <a:endParaRPr lang="en-IN" dirty="0"/>
          </a:p>
          <a:p>
            <a:pPr algn="just"/>
            <a:r>
              <a:rPr lang="en-IN" b="1" dirty="0"/>
              <a:t>PSO4: </a:t>
            </a:r>
            <a:r>
              <a:rPr lang="en-IN" dirty="0"/>
              <a:t>Ability to adapt future technologies through acquired skills and knowledge to ideate, design, test and deploy solutions for different business environments.</a:t>
            </a:r>
            <a:endParaRPr lang="en-US" dirty="0"/>
          </a:p>
        </p:txBody>
      </p:sp>
    </p:spTree>
    <p:extLst>
      <p:ext uri="{BB962C8B-B14F-4D97-AF65-F5344CB8AC3E}">
        <p14:creationId xmlns:p14="http://schemas.microsoft.com/office/powerpoint/2010/main" val="1610468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39213" y="381000"/>
            <a:ext cx="7475092" cy="553998"/>
          </a:xfrm>
          <a:prstGeom prst="rect">
            <a:avLst/>
          </a:prstGeom>
        </p:spPr>
        <p:txBody>
          <a:bodyPr wrap="square" lIns="0" tIns="0" rIns="0" bIns="0">
            <a:spAutoFit/>
          </a:bodyPr>
          <a:lstStyle>
            <a:lvl1pPr>
              <a:defRPr sz="4000" b="1" i="0" u="heavy">
                <a:solidFill>
                  <a:srgbClr val="2C2C2C"/>
                </a:solidFill>
                <a:latin typeface="Calibri"/>
                <a:ea typeface="+mj-ea"/>
                <a:cs typeface="Calibri"/>
              </a:defRPr>
            </a:lvl1pPr>
          </a:lstStyle>
          <a:p>
            <a:pPr marL="12700">
              <a:spcBef>
                <a:spcPts val="100"/>
              </a:spcBef>
            </a:pPr>
            <a:r>
              <a:rPr lang="en-IN" altLang="en-US" sz="3600" u="none" kern="0" spc="-5" dirty="0">
                <a:solidFill>
                  <a:srgbClr val="099BDD"/>
                </a:solidFill>
                <a:latin typeface="Corbel"/>
                <a:cs typeface="Corbel"/>
              </a:rPr>
              <a:t>Open Educational Resources</a:t>
            </a:r>
            <a:endParaRPr lang="en-US" altLang="en-US" sz="3600" u="none" kern="0" spc="-5" dirty="0">
              <a:solidFill>
                <a:srgbClr val="099BDD"/>
              </a:solidFill>
              <a:latin typeface="Corbel"/>
              <a:cs typeface="Corbel"/>
            </a:endParaRPr>
          </a:p>
        </p:txBody>
      </p:sp>
      <p:graphicFrame>
        <p:nvGraphicFramePr>
          <p:cNvPr id="5" name="Table 4"/>
          <p:cNvGraphicFramePr>
            <a:graphicFrameLocks noGrp="1"/>
          </p:cNvGraphicFramePr>
          <p:nvPr>
            <p:extLst>
              <p:ext uri="{D42A27DB-BD31-4B8C-83A1-F6EECF244321}">
                <p14:modId xmlns:p14="http://schemas.microsoft.com/office/powerpoint/2010/main" val="1755838369"/>
              </p:ext>
            </p:extLst>
          </p:nvPr>
        </p:nvGraphicFramePr>
        <p:xfrm>
          <a:off x="1066796" y="1143004"/>
          <a:ext cx="10363204" cy="4734754"/>
        </p:xfrm>
        <a:graphic>
          <a:graphicData uri="http://schemas.openxmlformats.org/drawingml/2006/table">
            <a:tbl>
              <a:tblPr firstRow="1" firstCol="1" bandRow="1">
                <a:tableStyleId>{5C22544A-7EE6-4342-B048-85BDC9FD1C3A}</a:tableStyleId>
              </a:tblPr>
              <a:tblGrid>
                <a:gridCol w="712385">
                  <a:extLst>
                    <a:ext uri="{9D8B030D-6E8A-4147-A177-3AD203B41FA5}">
                      <a16:colId xmlns:a16="http://schemas.microsoft.com/office/drawing/2014/main" val="20000"/>
                    </a:ext>
                  </a:extLst>
                </a:gridCol>
                <a:gridCol w="1497419">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871330">
                  <a:extLst>
                    <a:ext uri="{9D8B030D-6E8A-4147-A177-3AD203B41FA5}">
                      <a16:colId xmlns:a16="http://schemas.microsoft.com/office/drawing/2014/main" val="20003"/>
                    </a:ext>
                  </a:extLst>
                </a:gridCol>
                <a:gridCol w="1899684">
                  <a:extLst>
                    <a:ext uri="{9D8B030D-6E8A-4147-A177-3AD203B41FA5}">
                      <a16:colId xmlns:a16="http://schemas.microsoft.com/office/drawing/2014/main" val="20004"/>
                    </a:ext>
                  </a:extLst>
                </a:gridCol>
                <a:gridCol w="3239386">
                  <a:extLst>
                    <a:ext uri="{9D8B030D-6E8A-4147-A177-3AD203B41FA5}">
                      <a16:colId xmlns:a16="http://schemas.microsoft.com/office/drawing/2014/main" val="20005"/>
                    </a:ext>
                  </a:extLst>
                </a:gridCol>
              </a:tblGrid>
              <a:tr h="341427">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Unit</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Broad topic/Sub Topic</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OER Type</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Title of OER</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*%age unit mapped with OER (approx)</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Source URL</a:t>
                      </a:r>
                      <a:endParaRPr lang="en-US" sz="1500" dirty="0">
                        <a:effectLst/>
                        <a:latin typeface="Times New Roman" pitchFamily="18" charset="0"/>
                        <a:ea typeface="Calibri"/>
                        <a:cs typeface="Times New Roman" pitchFamily="18" charset="0"/>
                      </a:endParaRPr>
                    </a:p>
                  </a:txBody>
                  <a:tcPr marL="38777" marR="38777" marT="0" marB="0"/>
                </a:tc>
                <a:extLst>
                  <a:ext uri="{0D108BD9-81ED-4DB2-BD59-A6C34878D82A}">
                    <a16:rowId xmlns:a16="http://schemas.microsoft.com/office/drawing/2014/main" val="10000"/>
                  </a:ext>
                </a:extLst>
              </a:tr>
              <a:tr h="526665">
                <a:tc>
                  <a:txBody>
                    <a:bodyPr/>
                    <a:lstStyle/>
                    <a:p>
                      <a:pPr marL="0" marR="0" algn="just">
                        <a:lnSpc>
                          <a:spcPct val="106000"/>
                        </a:lnSpc>
                        <a:spcBef>
                          <a:spcPts val="0"/>
                        </a:spcBef>
                        <a:spcAft>
                          <a:spcPts val="0"/>
                        </a:spcAft>
                      </a:pPr>
                      <a:r>
                        <a:rPr lang="en-IN" sz="1500" b="0" dirty="0">
                          <a:solidFill>
                            <a:schemeClr val="dk1"/>
                          </a:solidFill>
                          <a:effectLst/>
                          <a:latin typeface="Times New Roman" pitchFamily="18" charset="0"/>
                          <a:ea typeface="+mn-ea"/>
                          <a:cs typeface="Times New Roman" pitchFamily="18" charset="0"/>
                        </a:rPr>
                        <a:t>Unit 1 </a:t>
                      </a:r>
                      <a:endParaRPr lang="en-US" sz="1500" b="0" dirty="0">
                        <a:solidFill>
                          <a:schemeClr val="dk1"/>
                        </a:solidFill>
                        <a:effectLst/>
                        <a:latin typeface="Times New Roman" pitchFamily="18" charset="0"/>
                        <a:ea typeface="+mn-ea"/>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Introduction to Engineering Drawing</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MOOC</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Engineering Drawing And Computer Graphics</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100</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Engineering Drawing and Computer Graphics - Course (nptel.ac.in)</a:t>
                      </a:r>
                      <a:endParaRPr lang="en-US" sz="1500" dirty="0">
                        <a:effectLst/>
                        <a:latin typeface="Times New Roman" pitchFamily="18" charset="0"/>
                        <a:ea typeface="Calibri"/>
                        <a:cs typeface="Times New Roman" pitchFamily="18" charset="0"/>
                      </a:endParaRPr>
                    </a:p>
                  </a:txBody>
                  <a:tcPr marL="38777" marR="38777" marT="0" marB="0"/>
                </a:tc>
                <a:extLst>
                  <a:ext uri="{0D108BD9-81ED-4DB2-BD59-A6C34878D82A}">
                    <a16:rowId xmlns:a16="http://schemas.microsoft.com/office/drawing/2014/main" val="10001"/>
                  </a:ext>
                </a:extLst>
              </a:tr>
              <a:tr h="533400">
                <a:tc>
                  <a:txBody>
                    <a:bodyPr/>
                    <a:lstStyle/>
                    <a:p>
                      <a:pPr marL="0" marR="0" algn="just">
                        <a:lnSpc>
                          <a:spcPct val="106000"/>
                        </a:lnSpc>
                        <a:spcBef>
                          <a:spcPts val="0"/>
                        </a:spcBef>
                        <a:spcAft>
                          <a:spcPts val="0"/>
                        </a:spcAft>
                      </a:pPr>
                      <a:r>
                        <a:rPr lang="en-IN" sz="1500" b="0" dirty="0">
                          <a:solidFill>
                            <a:schemeClr val="dk1"/>
                          </a:solidFill>
                          <a:effectLst/>
                          <a:latin typeface="Times New Roman" pitchFamily="18" charset="0"/>
                          <a:ea typeface="+mn-ea"/>
                          <a:cs typeface="Times New Roman" pitchFamily="18" charset="0"/>
                        </a:rPr>
                        <a:t>Unit 2</a:t>
                      </a:r>
                      <a:endParaRPr lang="en-US" sz="1500" b="0" dirty="0">
                        <a:solidFill>
                          <a:schemeClr val="dk1"/>
                        </a:solidFill>
                        <a:effectLst/>
                        <a:latin typeface="Times New Roman" pitchFamily="18" charset="0"/>
                        <a:ea typeface="+mn-ea"/>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US" sz="1500" dirty="0">
                          <a:solidFill>
                            <a:schemeClr val="dk1"/>
                          </a:solidFill>
                          <a:effectLst/>
                          <a:latin typeface="Times New Roman" pitchFamily="18" charset="0"/>
                          <a:ea typeface="+mn-ea"/>
                          <a:cs typeface="Times New Roman" pitchFamily="18" charset="0"/>
                        </a:rPr>
                        <a:t>Projection of Points and Lines</a:t>
                      </a: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MOOC</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Engineering Drawing And Computer Graphics</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100</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Engineering Drawing and Computer Graphics - Course (nptel.ac.in)</a:t>
                      </a:r>
                      <a:endParaRPr lang="en-US" sz="1500" dirty="0">
                        <a:effectLst/>
                        <a:latin typeface="Times New Roman" pitchFamily="18" charset="0"/>
                        <a:ea typeface="Calibri"/>
                        <a:cs typeface="Times New Roman" pitchFamily="18" charset="0"/>
                      </a:endParaRPr>
                    </a:p>
                  </a:txBody>
                  <a:tcPr marL="38777" marR="38777" marT="0" marB="0"/>
                </a:tc>
                <a:extLst>
                  <a:ext uri="{0D108BD9-81ED-4DB2-BD59-A6C34878D82A}">
                    <a16:rowId xmlns:a16="http://schemas.microsoft.com/office/drawing/2014/main" val="10002"/>
                  </a:ext>
                </a:extLst>
              </a:tr>
              <a:tr h="533400">
                <a:tc>
                  <a:txBody>
                    <a:bodyPr/>
                    <a:lstStyle/>
                    <a:p>
                      <a:pPr marL="0" marR="0" algn="just">
                        <a:lnSpc>
                          <a:spcPct val="106000"/>
                        </a:lnSpc>
                        <a:spcBef>
                          <a:spcPts val="0"/>
                        </a:spcBef>
                        <a:spcAft>
                          <a:spcPts val="0"/>
                        </a:spcAft>
                      </a:pPr>
                      <a:r>
                        <a:rPr lang="en-IN" sz="1500" b="0" dirty="0">
                          <a:solidFill>
                            <a:schemeClr val="dk1"/>
                          </a:solidFill>
                          <a:effectLst/>
                          <a:latin typeface="Times New Roman" pitchFamily="18" charset="0"/>
                          <a:ea typeface="+mn-ea"/>
                          <a:cs typeface="Times New Roman" pitchFamily="18" charset="0"/>
                        </a:rPr>
                        <a:t>Unit 3</a:t>
                      </a:r>
                      <a:endParaRPr lang="en-US" sz="1500" b="0" dirty="0">
                        <a:solidFill>
                          <a:schemeClr val="dk1"/>
                        </a:solidFill>
                        <a:effectLst/>
                        <a:latin typeface="Times New Roman" pitchFamily="18" charset="0"/>
                        <a:ea typeface="+mn-ea"/>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US" sz="1500" dirty="0">
                          <a:solidFill>
                            <a:schemeClr val="dk1"/>
                          </a:solidFill>
                          <a:effectLst/>
                          <a:latin typeface="Times New Roman" pitchFamily="18" charset="0"/>
                          <a:ea typeface="+mn-ea"/>
                          <a:cs typeface="Times New Roman" pitchFamily="18" charset="0"/>
                        </a:rPr>
                        <a:t>Orthographic and Sectional Views</a:t>
                      </a: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MOOC</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Engineering Drawing And Computer Graphics</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100</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Engineering Drawing and Computer Graphics - Course (nptel.ac.in)</a:t>
                      </a:r>
                      <a:endParaRPr lang="en-US" sz="1500" dirty="0">
                        <a:effectLst/>
                        <a:latin typeface="Times New Roman" pitchFamily="18" charset="0"/>
                        <a:ea typeface="Calibri"/>
                        <a:cs typeface="Times New Roman" pitchFamily="18" charset="0"/>
                      </a:endParaRPr>
                    </a:p>
                  </a:txBody>
                  <a:tcPr marL="38777" marR="38777" marT="0" marB="0"/>
                </a:tc>
                <a:extLst>
                  <a:ext uri="{0D108BD9-81ED-4DB2-BD59-A6C34878D82A}">
                    <a16:rowId xmlns:a16="http://schemas.microsoft.com/office/drawing/2014/main" val="10003"/>
                  </a:ext>
                </a:extLst>
              </a:tr>
              <a:tr h="533400">
                <a:tc>
                  <a:txBody>
                    <a:bodyPr/>
                    <a:lstStyle/>
                    <a:p>
                      <a:pPr marL="0" marR="0" algn="just">
                        <a:lnSpc>
                          <a:spcPct val="106000"/>
                        </a:lnSpc>
                        <a:spcBef>
                          <a:spcPts val="0"/>
                        </a:spcBef>
                        <a:spcAft>
                          <a:spcPts val="0"/>
                        </a:spcAft>
                      </a:pPr>
                      <a:r>
                        <a:rPr lang="en-IN" sz="1500" b="0" dirty="0">
                          <a:solidFill>
                            <a:schemeClr val="dk1"/>
                          </a:solidFill>
                          <a:effectLst/>
                          <a:latin typeface="Times New Roman" pitchFamily="18" charset="0"/>
                          <a:ea typeface="+mn-ea"/>
                          <a:cs typeface="Times New Roman" pitchFamily="18" charset="0"/>
                        </a:rPr>
                        <a:t>Unit 4</a:t>
                      </a:r>
                      <a:endParaRPr lang="en-US" sz="1500" b="0" dirty="0">
                        <a:solidFill>
                          <a:schemeClr val="dk1"/>
                        </a:solidFill>
                        <a:effectLst/>
                        <a:latin typeface="Times New Roman" pitchFamily="18" charset="0"/>
                        <a:ea typeface="+mn-ea"/>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US" sz="1500" dirty="0">
                          <a:solidFill>
                            <a:schemeClr val="dk1"/>
                          </a:solidFill>
                          <a:effectLst/>
                          <a:latin typeface="Times New Roman" pitchFamily="18" charset="0"/>
                          <a:ea typeface="+mn-ea"/>
                          <a:cs typeface="Times New Roman" pitchFamily="18" charset="0"/>
                        </a:rPr>
                        <a:t>Isometric Views and Development of Surfaces</a:t>
                      </a: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MOOC</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a:effectLst/>
                          <a:latin typeface="Times New Roman" pitchFamily="18" charset="0"/>
                          <a:cs typeface="Times New Roman" pitchFamily="18" charset="0"/>
                        </a:rPr>
                        <a:t>Engineering Drawing And Computer Graphics</a:t>
                      </a:r>
                      <a:endParaRPr lang="en-US" sz="150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ea typeface="+mn-ea"/>
                          <a:cs typeface="Times New Roman" pitchFamily="18" charset="0"/>
                        </a:rPr>
                        <a:t>100</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Engineering Drawing and Computer Graphics - Course (nptel.ac.in)</a:t>
                      </a:r>
                      <a:endParaRPr lang="en-US" sz="1500" dirty="0">
                        <a:effectLst/>
                        <a:latin typeface="Times New Roman" pitchFamily="18" charset="0"/>
                        <a:ea typeface="Calibri"/>
                        <a:cs typeface="Times New Roman" pitchFamily="18" charset="0"/>
                      </a:endParaRPr>
                    </a:p>
                  </a:txBody>
                  <a:tcPr marL="38777" marR="38777" marT="0" marB="0"/>
                </a:tc>
                <a:extLst>
                  <a:ext uri="{0D108BD9-81ED-4DB2-BD59-A6C34878D82A}">
                    <a16:rowId xmlns:a16="http://schemas.microsoft.com/office/drawing/2014/main" val="10004"/>
                  </a:ext>
                </a:extLst>
              </a:tr>
              <a:tr h="609600">
                <a:tc>
                  <a:txBody>
                    <a:bodyPr/>
                    <a:lstStyle/>
                    <a:p>
                      <a:pPr marL="0" marR="0" algn="just">
                        <a:lnSpc>
                          <a:spcPct val="106000"/>
                        </a:lnSpc>
                        <a:spcBef>
                          <a:spcPts val="0"/>
                        </a:spcBef>
                        <a:spcAft>
                          <a:spcPts val="0"/>
                        </a:spcAft>
                      </a:pPr>
                      <a:r>
                        <a:rPr lang="en-IN" sz="1500" b="0">
                          <a:solidFill>
                            <a:schemeClr val="dk1"/>
                          </a:solidFill>
                          <a:effectLst/>
                          <a:latin typeface="Times New Roman" pitchFamily="18" charset="0"/>
                          <a:ea typeface="+mn-ea"/>
                          <a:cs typeface="Times New Roman" pitchFamily="18" charset="0"/>
                        </a:rPr>
                        <a:t>Unit 5</a:t>
                      </a:r>
                      <a:endParaRPr lang="en-US" sz="1500" b="0">
                        <a:solidFill>
                          <a:schemeClr val="dk1"/>
                        </a:solidFill>
                        <a:effectLst/>
                        <a:latin typeface="Times New Roman" pitchFamily="18" charset="0"/>
                        <a:ea typeface="+mn-ea"/>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US" sz="1500" dirty="0">
                          <a:solidFill>
                            <a:schemeClr val="dk1"/>
                          </a:solidFill>
                          <a:effectLst/>
                          <a:latin typeface="Times New Roman" pitchFamily="18" charset="0"/>
                          <a:ea typeface="+mn-ea"/>
                          <a:cs typeface="Times New Roman" pitchFamily="18" charset="0"/>
                        </a:rPr>
                        <a:t>Introduction to Digital Fabrication</a:t>
                      </a: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MOOC</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US" sz="1500" dirty="0">
                          <a:effectLst/>
                          <a:latin typeface="Times New Roman" pitchFamily="18" charset="0"/>
                          <a:ea typeface="Calibri"/>
                          <a:cs typeface="Times New Roman" pitchFamily="18" charset="0"/>
                        </a:rPr>
                        <a:t>Digital</a:t>
                      </a:r>
                      <a:r>
                        <a:rPr lang="en-US" sz="1500" baseline="0" dirty="0">
                          <a:effectLst/>
                          <a:latin typeface="Times New Roman" pitchFamily="18" charset="0"/>
                          <a:ea typeface="Calibri"/>
                          <a:cs typeface="Times New Roman" pitchFamily="18" charset="0"/>
                        </a:rPr>
                        <a:t> Manufacturing,</a:t>
                      </a:r>
                    </a:p>
                    <a:p>
                      <a:pPr marL="0" marR="0" algn="just">
                        <a:lnSpc>
                          <a:spcPct val="106000"/>
                        </a:lnSpc>
                        <a:spcBef>
                          <a:spcPts val="0"/>
                        </a:spcBef>
                        <a:spcAft>
                          <a:spcPts val="0"/>
                        </a:spcAft>
                      </a:pPr>
                      <a:r>
                        <a:rPr lang="en-US" sz="1500" baseline="0" dirty="0">
                          <a:effectLst/>
                          <a:latin typeface="Times New Roman" pitchFamily="18" charset="0"/>
                          <a:ea typeface="Calibri"/>
                          <a:cs typeface="Times New Roman" pitchFamily="18" charset="0"/>
                        </a:rPr>
                        <a:t>3D Printing</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ea typeface="+mn-ea"/>
                          <a:cs typeface="Times New Roman" pitchFamily="18" charset="0"/>
                        </a:rPr>
                        <a:t>100</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NPTEL :: Mechanical Engineering – Product Design and Manufacturing (nptel.ac.in)</a:t>
                      </a:r>
                      <a:endParaRPr lang="en-US" sz="1500" dirty="0">
                        <a:effectLst/>
                        <a:latin typeface="Times New Roman" pitchFamily="18" charset="0"/>
                        <a:ea typeface="Calibri"/>
                        <a:cs typeface="Times New Roman" pitchFamily="18" charset="0"/>
                      </a:endParaRPr>
                    </a:p>
                  </a:txBody>
                  <a:tcPr marL="38777" marR="38777" marT="0" marB="0"/>
                </a:tc>
                <a:extLst>
                  <a:ext uri="{0D108BD9-81ED-4DB2-BD59-A6C34878D82A}">
                    <a16:rowId xmlns:a16="http://schemas.microsoft.com/office/drawing/2014/main" val="10005"/>
                  </a:ext>
                </a:extLst>
              </a:tr>
              <a:tr h="533400">
                <a:tc>
                  <a:txBody>
                    <a:bodyPr/>
                    <a:lstStyle/>
                    <a:p>
                      <a:pPr marL="0" marR="0" algn="just">
                        <a:lnSpc>
                          <a:spcPct val="106000"/>
                        </a:lnSpc>
                        <a:spcBef>
                          <a:spcPts val="0"/>
                        </a:spcBef>
                        <a:spcAft>
                          <a:spcPts val="0"/>
                        </a:spcAft>
                      </a:pPr>
                      <a:r>
                        <a:rPr lang="en-IN" sz="1500" b="0" dirty="0">
                          <a:solidFill>
                            <a:schemeClr val="dk1"/>
                          </a:solidFill>
                          <a:effectLst/>
                          <a:latin typeface="Times New Roman" pitchFamily="18" charset="0"/>
                          <a:ea typeface="+mn-ea"/>
                          <a:cs typeface="Times New Roman" pitchFamily="18" charset="0"/>
                        </a:rPr>
                        <a:t>Unit 6</a:t>
                      </a:r>
                      <a:endParaRPr lang="en-US" sz="1500" b="0" dirty="0">
                        <a:solidFill>
                          <a:schemeClr val="dk1"/>
                        </a:solidFill>
                        <a:effectLst/>
                        <a:latin typeface="Times New Roman" pitchFamily="18" charset="0"/>
                        <a:ea typeface="+mn-ea"/>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US" sz="1500" dirty="0">
                          <a:solidFill>
                            <a:schemeClr val="dk1"/>
                          </a:solidFill>
                          <a:effectLst/>
                          <a:latin typeface="Times New Roman" pitchFamily="18" charset="0"/>
                          <a:ea typeface="+mn-ea"/>
                          <a:cs typeface="Times New Roman" pitchFamily="18" charset="0"/>
                        </a:rPr>
                        <a:t>Rapid Prototyping Systems</a:t>
                      </a: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MOOC</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US" sz="1500" dirty="0">
                          <a:effectLst/>
                          <a:latin typeface="Times New Roman" pitchFamily="18" charset="0"/>
                          <a:ea typeface="Calibri"/>
                          <a:cs typeface="Times New Roman" pitchFamily="18" charset="0"/>
                        </a:rPr>
                        <a:t>Digital</a:t>
                      </a:r>
                      <a:r>
                        <a:rPr lang="en-US" sz="1500" baseline="0" dirty="0">
                          <a:effectLst/>
                          <a:latin typeface="Times New Roman" pitchFamily="18" charset="0"/>
                          <a:ea typeface="Calibri"/>
                          <a:cs typeface="Times New Roman" pitchFamily="18" charset="0"/>
                        </a:rPr>
                        <a:t> Manufacturing,</a:t>
                      </a:r>
                    </a:p>
                    <a:p>
                      <a:pPr marL="0" marR="0" algn="just">
                        <a:lnSpc>
                          <a:spcPct val="106000"/>
                        </a:lnSpc>
                        <a:spcBef>
                          <a:spcPts val="0"/>
                        </a:spcBef>
                        <a:spcAft>
                          <a:spcPts val="0"/>
                        </a:spcAft>
                      </a:pPr>
                      <a:r>
                        <a:rPr lang="en-US" sz="1500" baseline="0" dirty="0">
                          <a:effectLst/>
                          <a:latin typeface="Times New Roman" pitchFamily="18" charset="0"/>
                          <a:ea typeface="Calibri"/>
                          <a:cs typeface="Times New Roman" pitchFamily="18" charset="0"/>
                        </a:rPr>
                        <a:t>3D Printing</a:t>
                      </a:r>
                      <a:endParaRPr lang="en-US" sz="1500" dirty="0">
                        <a:effectLst/>
                        <a:latin typeface="Times New Roman" pitchFamily="18" charset="0"/>
                        <a:ea typeface="Calibri"/>
                        <a:cs typeface="Times New Roman" pitchFamily="18" charset="0"/>
                      </a:endParaRPr>
                    </a:p>
                    <a:p>
                      <a:pPr marL="0" marR="0" algn="just">
                        <a:lnSpc>
                          <a:spcPct val="106000"/>
                        </a:lnSpc>
                        <a:spcBef>
                          <a:spcPts val="0"/>
                        </a:spcBef>
                        <a:spcAft>
                          <a:spcPts val="0"/>
                        </a:spcAft>
                      </a:pP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100</a:t>
                      </a:r>
                      <a:endParaRPr lang="en-US" sz="1500" dirty="0">
                        <a:effectLst/>
                        <a:latin typeface="Times New Roman" pitchFamily="18" charset="0"/>
                        <a:ea typeface="Calibri"/>
                        <a:cs typeface="Times New Roman" pitchFamily="18" charset="0"/>
                      </a:endParaRPr>
                    </a:p>
                  </a:txBody>
                  <a:tcPr marL="38777" marR="38777" marT="0" marB="0"/>
                </a:tc>
                <a:tc>
                  <a:txBody>
                    <a:bodyPr/>
                    <a:lstStyle/>
                    <a:p>
                      <a:pPr marL="0" marR="0" algn="just">
                        <a:lnSpc>
                          <a:spcPct val="106000"/>
                        </a:lnSpc>
                        <a:spcBef>
                          <a:spcPts val="0"/>
                        </a:spcBef>
                        <a:spcAft>
                          <a:spcPts val="0"/>
                        </a:spcAft>
                      </a:pPr>
                      <a:r>
                        <a:rPr lang="en-IN" sz="1500" dirty="0">
                          <a:effectLst/>
                          <a:latin typeface="Times New Roman" pitchFamily="18" charset="0"/>
                          <a:cs typeface="Times New Roman" pitchFamily="18" charset="0"/>
                        </a:rPr>
                        <a:t> NPTEL :: Mechanical Engineering – Product Design and Manufacturing (nptel.ac.in)</a:t>
                      </a:r>
                      <a:endParaRPr lang="en-US" sz="1500" dirty="0">
                        <a:effectLst/>
                        <a:latin typeface="Times New Roman" pitchFamily="18" charset="0"/>
                        <a:ea typeface="Calibri"/>
                        <a:cs typeface="Times New Roman" pitchFamily="18" charset="0"/>
                      </a:endParaRPr>
                    </a:p>
                  </a:txBody>
                  <a:tcPr marL="38777" marR="38777"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59852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1" y="648080"/>
            <a:ext cx="9220200" cy="627736"/>
          </a:xfrm>
          <a:prstGeom prst="rect">
            <a:avLst/>
          </a:prstGeom>
        </p:spPr>
        <p:txBody>
          <a:bodyPr vert="horz" wrap="square" lIns="0" tIns="12065" rIns="0" bIns="0" rtlCol="0">
            <a:spAutoFit/>
          </a:bodyPr>
          <a:lstStyle/>
          <a:p>
            <a:pPr marL="12700">
              <a:lnSpc>
                <a:spcPct val="100000"/>
              </a:lnSpc>
              <a:spcBef>
                <a:spcPts val="95"/>
              </a:spcBef>
            </a:pPr>
            <a:r>
              <a:rPr lang="en-US" u="none" spc="-10" dirty="0">
                <a:solidFill>
                  <a:srgbClr val="099BDD"/>
                </a:solidFill>
                <a:latin typeface="Corbel"/>
                <a:cs typeface="Corbel"/>
              </a:rPr>
              <a:t>Text Books</a:t>
            </a:r>
            <a:r>
              <a:rPr lang="en-US" u="none" spc="-160" dirty="0">
                <a:solidFill>
                  <a:srgbClr val="099BDD"/>
                </a:solidFill>
                <a:latin typeface="Corbel"/>
                <a:cs typeface="Corbel"/>
              </a:rPr>
              <a:t> </a:t>
            </a:r>
            <a:r>
              <a:rPr lang="en-US" u="none" spc="-10" dirty="0">
                <a:solidFill>
                  <a:srgbClr val="099BDD"/>
                </a:solidFill>
                <a:latin typeface="Corbel"/>
                <a:cs typeface="Corbel"/>
              </a:rPr>
              <a:t>and</a:t>
            </a:r>
            <a:r>
              <a:rPr lang="en-US" u="none" spc="-20" dirty="0">
                <a:solidFill>
                  <a:srgbClr val="099BDD"/>
                </a:solidFill>
                <a:latin typeface="Corbel"/>
                <a:cs typeface="Corbel"/>
              </a:rPr>
              <a:t> </a:t>
            </a:r>
            <a:r>
              <a:rPr lang="en-US" u="none" spc="-5" dirty="0">
                <a:solidFill>
                  <a:srgbClr val="099BDD"/>
                </a:solidFill>
                <a:latin typeface="Corbel"/>
                <a:cs typeface="Corbel"/>
              </a:rPr>
              <a:t>References</a:t>
            </a:r>
          </a:p>
        </p:txBody>
      </p:sp>
      <p:sp>
        <p:nvSpPr>
          <p:cNvPr id="3" name="object 3"/>
          <p:cNvSpPr txBox="1"/>
          <p:nvPr/>
        </p:nvSpPr>
        <p:spPr>
          <a:xfrm>
            <a:off x="317703" y="1473969"/>
            <a:ext cx="11494770" cy="4783361"/>
          </a:xfrm>
          <a:prstGeom prst="rect">
            <a:avLst/>
          </a:prstGeom>
        </p:spPr>
        <p:txBody>
          <a:bodyPr vert="horz" wrap="square" lIns="0" tIns="165100" rIns="0" bIns="0" rtlCol="0">
            <a:spAutoFit/>
          </a:bodyPr>
          <a:lstStyle/>
          <a:p>
            <a:pPr marL="393700" indent="-342900" algn="just">
              <a:lnSpc>
                <a:spcPct val="100000"/>
              </a:lnSpc>
              <a:spcBef>
                <a:spcPts val="1300"/>
              </a:spcBef>
              <a:buFont typeface="Arial MT"/>
              <a:buChar char="•"/>
              <a:tabLst>
                <a:tab pos="393065" algn="l"/>
                <a:tab pos="393700" algn="l"/>
              </a:tabLst>
            </a:pPr>
            <a:r>
              <a:rPr sz="2400" b="1" spc="-35" dirty="0">
                <a:solidFill>
                  <a:srgbClr val="2C2C2C"/>
                </a:solidFill>
                <a:latin typeface="Times New Roman" pitchFamily="18" charset="0"/>
                <a:cs typeface="Times New Roman" pitchFamily="18" charset="0"/>
              </a:rPr>
              <a:t>Text</a:t>
            </a:r>
            <a:r>
              <a:rPr sz="2400" b="1" spc="-65" dirty="0">
                <a:solidFill>
                  <a:srgbClr val="2C2C2C"/>
                </a:solidFill>
                <a:latin typeface="Times New Roman" pitchFamily="18" charset="0"/>
                <a:cs typeface="Times New Roman" pitchFamily="18" charset="0"/>
              </a:rPr>
              <a:t> </a:t>
            </a:r>
            <a:r>
              <a:rPr sz="2400" b="1" spc="-10" dirty="0">
                <a:solidFill>
                  <a:srgbClr val="2C2C2C"/>
                </a:solidFill>
                <a:latin typeface="Times New Roman" pitchFamily="18" charset="0"/>
                <a:cs typeface="Times New Roman" pitchFamily="18" charset="0"/>
              </a:rPr>
              <a:t>Books:</a:t>
            </a:r>
            <a:endParaRPr sz="2400" dirty="0">
              <a:latin typeface="Times New Roman" pitchFamily="18" charset="0"/>
              <a:cs typeface="Times New Roman" pitchFamily="18" charset="0"/>
            </a:endParaRPr>
          </a:p>
          <a:p>
            <a:pPr marL="965200" lvl="1" indent="-457834" algn="just">
              <a:lnSpc>
                <a:spcPct val="100000"/>
              </a:lnSpc>
              <a:spcBef>
                <a:spcPts val="1200"/>
              </a:spcBef>
              <a:buAutoNum type="arabicPeriod"/>
              <a:tabLst>
                <a:tab pos="965200" algn="l"/>
                <a:tab pos="965835" algn="l"/>
              </a:tabLst>
            </a:pPr>
            <a:r>
              <a:rPr sz="2400" spc="-5" dirty="0">
                <a:solidFill>
                  <a:srgbClr val="2C2C2C"/>
                </a:solidFill>
                <a:latin typeface="Times New Roman" pitchFamily="18" charset="0"/>
                <a:cs typeface="Times New Roman" pitchFamily="18" charset="0"/>
              </a:rPr>
              <a:t>Engineering</a:t>
            </a:r>
            <a:r>
              <a:rPr sz="2400" spc="-1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Drawing</a:t>
            </a:r>
            <a:r>
              <a:rPr sz="2400" spc="-35"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with</a:t>
            </a:r>
            <a:r>
              <a:rPr sz="2400" spc="5"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an</a:t>
            </a:r>
            <a:r>
              <a:rPr sz="2400" spc="-1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Introduction</a:t>
            </a:r>
            <a:r>
              <a:rPr sz="2400" spc="-15"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to</a:t>
            </a:r>
            <a:r>
              <a:rPr sz="2400" spc="-85" dirty="0">
                <a:solidFill>
                  <a:srgbClr val="2C2C2C"/>
                </a:solidFill>
                <a:latin typeface="Times New Roman" pitchFamily="18" charset="0"/>
                <a:cs typeface="Times New Roman" pitchFamily="18" charset="0"/>
              </a:rPr>
              <a:t> </a:t>
            </a:r>
            <a:r>
              <a:rPr sz="2400" spc="-10" dirty="0">
                <a:solidFill>
                  <a:srgbClr val="2C2C2C"/>
                </a:solidFill>
                <a:latin typeface="Times New Roman" pitchFamily="18" charset="0"/>
                <a:cs typeface="Times New Roman" pitchFamily="18" charset="0"/>
              </a:rPr>
              <a:t>AutoCAD,</a:t>
            </a:r>
            <a:r>
              <a:rPr sz="2400" spc="1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Dhananjay</a:t>
            </a:r>
            <a:r>
              <a:rPr sz="2400" spc="-12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A.</a:t>
            </a:r>
            <a:r>
              <a:rPr sz="2400" spc="-35"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Jolhe,</a:t>
            </a:r>
            <a:r>
              <a:rPr sz="2400" spc="-15"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McGraw</a:t>
            </a:r>
            <a:r>
              <a:rPr sz="2400" spc="-2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Hill Education.</a:t>
            </a:r>
            <a:endParaRPr sz="2400" dirty="0">
              <a:latin typeface="Times New Roman" pitchFamily="18" charset="0"/>
              <a:cs typeface="Times New Roman" pitchFamily="18" charset="0"/>
            </a:endParaRPr>
          </a:p>
          <a:p>
            <a:pPr marL="965200" marR="81280" lvl="1" indent="-457834" algn="just">
              <a:lnSpc>
                <a:spcPct val="100000"/>
              </a:lnSpc>
              <a:spcBef>
                <a:spcPts val="1200"/>
              </a:spcBef>
              <a:buAutoNum type="arabicPeriod"/>
              <a:tabLst>
                <a:tab pos="965200" algn="l"/>
                <a:tab pos="965835" algn="l"/>
              </a:tabLst>
            </a:pPr>
            <a:r>
              <a:rPr sz="2400" dirty="0">
                <a:solidFill>
                  <a:srgbClr val="2C2C2C"/>
                </a:solidFill>
                <a:latin typeface="Times New Roman" pitchFamily="18" charset="0"/>
                <a:cs typeface="Times New Roman" pitchFamily="18" charset="0"/>
              </a:rPr>
              <a:t>Rapid</a:t>
            </a:r>
            <a:r>
              <a:rPr sz="2400" spc="-1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Prototyping-</a:t>
            </a:r>
            <a:r>
              <a:rPr sz="2400" spc="-15"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Principles</a:t>
            </a:r>
            <a:r>
              <a:rPr sz="2400" spc="-15"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and</a:t>
            </a:r>
            <a:r>
              <a:rPr sz="2400" spc="-95"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Applications</a:t>
            </a:r>
            <a:r>
              <a:rPr sz="2400" dirty="0">
                <a:solidFill>
                  <a:srgbClr val="2C2C2C"/>
                </a:solidFill>
                <a:latin typeface="Times New Roman" pitchFamily="18" charset="0"/>
                <a:cs typeface="Times New Roman" pitchFamily="18" charset="0"/>
              </a:rPr>
              <a:t> </a:t>
            </a:r>
            <a:r>
              <a:rPr sz="2400" spc="10" dirty="0">
                <a:solidFill>
                  <a:srgbClr val="2C2C2C"/>
                </a:solidFill>
                <a:latin typeface="Times New Roman" pitchFamily="18" charset="0"/>
                <a:cs typeface="Times New Roman" pitchFamily="18" charset="0"/>
              </a:rPr>
              <a:t>(2</a:t>
            </a:r>
            <a:r>
              <a:rPr sz="2000" spc="15" baseline="25641" dirty="0">
                <a:solidFill>
                  <a:srgbClr val="2C2C2C"/>
                </a:solidFill>
                <a:latin typeface="Times New Roman" pitchFamily="18" charset="0"/>
                <a:cs typeface="Times New Roman" pitchFamily="18" charset="0"/>
              </a:rPr>
              <a:t>nd</a:t>
            </a:r>
            <a:r>
              <a:rPr sz="2000" spc="172" baseline="25641"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edition),</a:t>
            </a:r>
            <a:r>
              <a:rPr sz="2400" spc="-8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Chua,</a:t>
            </a:r>
            <a:r>
              <a:rPr sz="2400" spc="-85"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C.K., </a:t>
            </a:r>
            <a:r>
              <a:rPr sz="2400" dirty="0">
                <a:solidFill>
                  <a:srgbClr val="2C2C2C"/>
                </a:solidFill>
                <a:latin typeface="Times New Roman" pitchFamily="18" charset="0"/>
                <a:cs typeface="Times New Roman" pitchFamily="18" charset="0"/>
              </a:rPr>
              <a:t>Leong,</a:t>
            </a:r>
            <a:r>
              <a:rPr sz="2400" spc="-5" dirty="0">
                <a:solidFill>
                  <a:srgbClr val="2C2C2C"/>
                </a:solidFill>
                <a:latin typeface="Times New Roman" pitchFamily="18" charset="0"/>
                <a:cs typeface="Times New Roman" pitchFamily="18" charset="0"/>
              </a:rPr>
              <a:t> </a:t>
            </a:r>
            <a:r>
              <a:rPr sz="2400" spc="-30" dirty="0">
                <a:solidFill>
                  <a:srgbClr val="2C2C2C"/>
                </a:solidFill>
                <a:latin typeface="Times New Roman" pitchFamily="18" charset="0"/>
                <a:cs typeface="Times New Roman" pitchFamily="18" charset="0"/>
              </a:rPr>
              <a:t>K.F.,</a:t>
            </a:r>
            <a:r>
              <a:rPr sz="2400" spc="-1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Lim,</a:t>
            </a:r>
            <a:r>
              <a:rPr sz="2400" spc="-8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C.K.,</a:t>
            </a:r>
            <a:r>
              <a:rPr sz="2400" spc="-110" dirty="0">
                <a:solidFill>
                  <a:srgbClr val="2C2C2C"/>
                </a:solidFill>
                <a:latin typeface="Times New Roman" pitchFamily="18" charset="0"/>
                <a:cs typeface="Times New Roman" pitchFamily="18" charset="0"/>
              </a:rPr>
              <a:t> </a:t>
            </a:r>
            <a:r>
              <a:rPr sz="2400" spc="-20" dirty="0">
                <a:solidFill>
                  <a:srgbClr val="2C2C2C"/>
                </a:solidFill>
                <a:latin typeface="Times New Roman" pitchFamily="18" charset="0"/>
                <a:cs typeface="Times New Roman" pitchFamily="18" charset="0"/>
              </a:rPr>
              <a:t>World </a:t>
            </a:r>
            <a:r>
              <a:rPr sz="2400" spc="-385"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Scientific</a:t>
            </a:r>
            <a:r>
              <a:rPr sz="2400" spc="-2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Publications,</a:t>
            </a:r>
            <a:r>
              <a:rPr sz="2400" spc="-3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London</a:t>
            </a:r>
            <a:r>
              <a:rPr lang="en-US" sz="2400" spc="-5" dirty="0">
                <a:solidFill>
                  <a:srgbClr val="2C2C2C"/>
                </a:solidFill>
                <a:latin typeface="Times New Roman" pitchFamily="18" charset="0"/>
                <a:cs typeface="Times New Roman" pitchFamily="18" charset="0"/>
              </a:rPr>
              <a:t>.</a:t>
            </a:r>
            <a:endParaRPr sz="2400" dirty="0">
              <a:latin typeface="Times New Roman" pitchFamily="18" charset="0"/>
              <a:cs typeface="Times New Roman" pitchFamily="18" charset="0"/>
            </a:endParaRPr>
          </a:p>
          <a:p>
            <a:pPr marL="393700" indent="-342900" algn="just">
              <a:lnSpc>
                <a:spcPct val="100000"/>
              </a:lnSpc>
              <a:spcBef>
                <a:spcPts val="1200"/>
              </a:spcBef>
              <a:buFont typeface="Arial MT"/>
              <a:buChar char="•"/>
              <a:tabLst>
                <a:tab pos="393065" algn="l"/>
                <a:tab pos="393700" algn="l"/>
              </a:tabLst>
            </a:pPr>
            <a:r>
              <a:rPr sz="2400" b="1" spc="-5" dirty="0">
                <a:solidFill>
                  <a:srgbClr val="2C2C2C"/>
                </a:solidFill>
                <a:latin typeface="Times New Roman" pitchFamily="18" charset="0"/>
                <a:cs typeface="Times New Roman" pitchFamily="18" charset="0"/>
              </a:rPr>
              <a:t>Reference</a:t>
            </a:r>
            <a:r>
              <a:rPr lang="en-US" sz="2400" b="1" spc="-5" dirty="0">
                <a:solidFill>
                  <a:srgbClr val="2C2C2C"/>
                </a:solidFill>
                <a:latin typeface="Times New Roman" pitchFamily="18" charset="0"/>
                <a:cs typeface="Times New Roman" pitchFamily="18" charset="0"/>
              </a:rPr>
              <a:t> Books</a:t>
            </a:r>
            <a:r>
              <a:rPr sz="2400" b="1" spc="-5" dirty="0">
                <a:solidFill>
                  <a:srgbClr val="2C2C2C"/>
                </a:solidFill>
                <a:latin typeface="Times New Roman" pitchFamily="18" charset="0"/>
                <a:cs typeface="Times New Roman" pitchFamily="18" charset="0"/>
              </a:rPr>
              <a:t>:</a:t>
            </a:r>
            <a:endParaRPr sz="2400" dirty="0">
              <a:latin typeface="Times New Roman" pitchFamily="18" charset="0"/>
              <a:cs typeface="Times New Roman" pitchFamily="18" charset="0"/>
            </a:endParaRPr>
          </a:p>
          <a:p>
            <a:pPr marL="965200" lvl="1" indent="-457834" algn="just">
              <a:lnSpc>
                <a:spcPct val="100000"/>
              </a:lnSpc>
              <a:spcBef>
                <a:spcPts val="1200"/>
              </a:spcBef>
              <a:buAutoNum type="arabicPeriod"/>
              <a:tabLst>
                <a:tab pos="965200" algn="l"/>
                <a:tab pos="965835" algn="l"/>
              </a:tabLst>
            </a:pPr>
            <a:r>
              <a:rPr sz="2400" spc="-5" dirty="0">
                <a:solidFill>
                  <a:srgbClr val="2C2C2C"/>
                </a:solidFill>
                <a:latin typeface="Times New Roman" pitchFamily="18" charset="0"/>
                <a:cs typeface="Times New Roman" pitchFamily="18" charset="0"/>
              </a:rPr>
              <a:t>Eng</a:t>
            </a:r>
            <a:r>
              <a:rPr sz="2400" dirty="0">
                <a:solidFill>
                  <a:srgbClr val="2C2C2C"/>
                </a:solidFill>
                <a:latin typeface="Times New Roman" pitchFamily="18" charset="0"/>
                <a:cs typeface="Times New Roman" pitchFamily="18" charset="0"/>
              </a:rPr>
              <a:t>i</a:t>
            </a:r>
            <a:r>
              <a:rPr sz="2400" spc="-5" dirty="0">
                <a:solidFill>
                  <a:srgbClr val="2C2C2C"/>
                </a:solidFill>
                <a:latin typeface="Times New Roman" pitchFamily="18" charset="0"/>
                <a:cs typeface="Times New Roman" pitchFamily="18" charset="0"/>
              </a:rPr>
              <a:t>neerin</a:t>
            </a:r>
            <a:r>
              <a:rPr sz="2400" dirty="0">
                <a:solidFill>
                  <a:srgbClr val="2C2C2C"/>
                </a:solidFill>
                <a:latin typeface="Times New Roman" pitchFamily="18" charset="0"/>
                <a:cs typeface="Times New Roman" pitchFamily="18" charset="0"/>
              </a:rPr>
              <a:t>g</a:t>
            </a:r>
            <a:r>
              <a:rPr sz="2400" spc="-10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Gr</a:t>
            </a:r>
            <a:r>
              <a:rPr sz="2400" spc="5" dirty="0">
                <a:solidFill>
                  <a:srgbClr val="2C2C2C"/>
                </a:solidFill>
                <a:latin typeface="Times New Roman" pitchFamily="18" charset="0"/>
                <a:cs typeface="Times New Roman" pitchFamily="18" charset="0"/>
              </a:rPr>
              <a:t>a</a:t>
            </a:r>
            <a:r>
              <a:rPr sz="2400" dirty="0">
                <a:solidFill>
                  <a:srgbClr val="2C2C2C"/>
                </a:solidFill>
                <a:latin typeface="Times New Roman" pitchFamily="18" charset="0"/>
                <a:cs typeface="Times New Roman" pitchFamily="18" charset="0"/>
              </a:rPr>
              <a:t>ph</a:t>
            </a:r>
            <a:r>
              <a:rPr sz="2400" spc="5" dirty="0">
                <a:solidFill>
                  <a:srgbClr val="2C2C2C"/>
                </a:solidFill>
                <a:latin typeface="Times New Roman" pitchFamily="18" charset="0"/>
                <a:cs typeface="Times New Roman" pitchFamily="18" charset="0"/>
              </a:rPr>
              <a:t>i</a:t>
            </a:r>
            <a:r>
              <a:rPr sz="2400" spc="-5" dirty="0">
                <a:solidFill>
                  <a:srgbClr val="2C2C2C"/>
                </a:solidFill>
                <a:latin typeface="Times New Roman" pitchFamily="18" charset="0"/>
                <a:cs typeface="Times New Roman" pitchFamily="18" charset="0"/>
              </a:rPr>
              <a:t>cs</a:t>
            </a:r>
            <a:r>
              <a:rPr sz="2400" dirty="0">
                <a:solidFill>
                  <a:srgbClr val="2C2C2C"/>
                </a:solidFill>
                <a:latin typeface="Times New Roman" pitchFamily="18" charset="0"/>
                <a:cs typeface="Times New Roman" pitchFamily="18" charset="0"/>
              </a:rPr>
              <a:t>,</a:t>
            </a:r>
            <a:r>
              <a:rPr sz="2400" spc="-4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K</a:t>
            </a:r>
            <a:r>
              <a:rPr sz="2400" spc="-8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C</a:t>
            </a:r>
            <a:r>
              <a:rPr sz="2400" spc="-5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Jo</a:t>
            </a:r>
            <a:r>
              <a:rPr sz="2400" spc="5" dirty="0">
                <a:solidFill>
                  <a:srgbClr val="2C2C2C"/>
                </a:solidFill>
                <a:latin typeface="Times New Roman" pitchFamily="18" charset="0"/>
                <a:cs typeface="Times New Roman" pitchFamily="18" charset="0"/>
              </a:rPr>
              <a:t>h</a:t>
            </a:r>
            <a:r>
              <a:rPr sz="2400" spc="-5" dirty="0">
                <a:solidFill>
                  <a:srgbClr val="2C2C2C"/>
                </a:solidFill>
                <a:latin typeface="Times New Roman" pitchFamily="18" charset="0"/>
                <a:cs typeface="Times New Roman" pitchFamily="18" charset="0"/>
              </a:rPr>
              <a:t>n</a:t>
            </a:r>
            <a:r>
              <a:rPr sz="2400" dirty="0">
                <a:solidFill>
                  <a:srgbClr val="2C2C2C"/>
                </a:solidFill>
                <a:latin typeface="Times New Roman" pitchFamily="18" charset="0"/>
                <a:cs typeface="Times New Roman" pitchFamily="18" charset="0"/>
              </a:rPr>
              <a:t>,</a:t>
            </a:r>
            <a:r>
              <a:rPr sz="2400" spc="-35"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Prentic</a:t>
            </a:r>
            <a:r>
              <a:rPr sz="2400" dirty="0">
                <a:solidFill>
                  <a:srgbClr val="2C2C2C"/>
                </a:solidFill>
                <a:latin typeface="Times New Roman" pitchFamily="18" charset="0"/>
                <a:cs typeface="Times New Roman" pitchFamily="18" charset="0"/>
              </a:rPr>
              <a:t>e</a:t>
            </a:r>
            <a:r>
              <a:rPr sz="2400" spc="-5" dirty="0">
                <a:solidFill>
                  <a:srgbClr val="2C2C2C"/>
                </a:solidFill>
                <a:latin typeface="Times New Roman" pitchFamily="18" charset="0"/>
                <a:cs typeface="Times New Roman" pitchFamily="18" charset="0"/>
              </a:rPr>
              <a:t> Hall</a:t>
            </a:r>
            <a:r>
              <a:rPr lang="en-US" sz="2400" spc="-5" dirty="0">
                <a:solidFill>
                  <a:srgbClr val="2C2C2C"/>
                </a:solidFill>
                <a:latin typeface="Times New Roman" pitchFamily="18" charset="0"/>
                <a:cs typeface="Times New Roman" pitchFamily="18" charset="0"/>
              </a:rPr>
              <a:t>.</a:t>
            </a:r>
            <a:endParaRPr sz="2400" dirty="0">
              <a:latin typeface="Times New Roman" pitchFamily="18" charset="0"/>
              <a:cs typeface="Times New Roman" pitchFamily="18" charset="0"/>
            </a:endParaRPr>
          </a:p>
          <a:p>
            <a:pPr marL="965200" lvl="1" indent="-457834" algn="just">
              <a:lnSpc>
                <a:spcPct val="100000"/>
              </a:lnSpc>
              <a:spcBef>
                <a:spcPts val="1205"/>
              </a:spcBef>
              <a:buAutoNum type="arabicPeriod"/>
              <a:tabLst>
                <a:tab pos="965200" algn="l"/>
                <a:tab pos="965835" algn="l"/>
              </a:tabLst>
            </a:pPr>
            <a:r>
              <a:rPr sz="2400" spc="-5" dirty="0">
                <a:solidFill>
                  <a:srgbClr val="2C2C2C"/>
                </a:solidFill>
                <a:latin typeface="Times New Roman" pitchFamily="18" charset="0"/>
                <a:cs typeface="Times New Roman" pitchFamily="18" charset="0"/>
              </a:rPr>
              <a:t>Engineering</a:t>
            </a:r>
            <a:r>
              <a:rPr sz="2400" spc="-1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Drawing,</a:t>
            </a:r>
            <a:r>
              <a:rPr sz="2400" spc="-40" dirty="0">
                <a:solidFill>
                  <a:srgbClr val="2C2C2C"/>
                </a:solidFill>
                <a:latin typeface="Times New Roman" pitchFamily="18" charset="0"/>
                <a:cs typeface="Times New Roman" pitchFamily="18" charset="0"/>
              </a:rPr>
              <a:t> </a:t>
            </a:r>
            <a:r>
              <a:rPr sz="2400" spc="-15" dirty="0">
                <a:solidFill>
                  <a:srgbClr val="2C2C2C"/>
                </a:solidFill>
                <a:latin typeface="Times New Roman" pitchFamily="18" charset="0"/>
                <a:cs typeface="Times New Roman" pitchFamily="18" charset="0"/>
              </a:rPr>
              <a:t>N.D.</a:t>
            </a:r>
            <a:r>
              <a:rPr sz="2400" spc="-1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Bhat</a:t>
            </a:r>
            <a:r>
              <a:rPr sz="2400" spc="-10" dirty="0">
                <a:solidFill>
                  <a:srgbClr val="2C2C2C"/>
                </a:solidFill>
                <a:latin typeface="Times New Roman" pitchFamily="18" charset="0"/>
                <a:cs typeface="Times New Roman" pitchFamily="18" charset="0"/>
              </a:rPr>
              <a:t> </a:t>
            </a:r>
            <a:r>
              <a:rPr sz="2400" dirty="0">
                <a:solidFill>
                  <a:srgbClr val="2C2C2C"/>
                </a:solidFill>
                <a:latin typeface="Times New Roman" pitchFamily="18" charset="0"/>
                <a:cs typeface="Times New Roman" pitchFamily="18" charset="0"/>
              </a:rPr>
              <a:t>&amp;</a:t>
            </a:r>
            <a:r>
              <a:rPr sz="2400" spc="1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M.</a:t>
            </a:r>
            <a:r>
              <a:rPr sz="240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Panchal,</a:t>
            </a:r>
            <a:r>
              <a:rPr sz="2400" spc="-110"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Charotar Publishing</a:t>
            </a:r>
            <a:r>
              <a:rPr sz="2400" spc="-15"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House</a:t>
            </a:r>
            <a:r>
              <a:rPr sz="2400" spc="25" dirty="0">
                <a:solidFill>
                  <a:srgbClr val="2C2C2C"/>
                </a:solidFill>
                <a:latin typeface="Times New Roman" pitchFamily="18" charset="0"/>
                <a:cs typeface="Times New Roman" pitchFamily="18" charset="0"/>
              </a:rPr>
              <a:t> </a:t>
            </a:r>
            <a:r>
              <a:rPr sz="2400" spc="-5" dirty="0">
                <a:solidFill>
                  <a:srgbClr val="2C2C2C"/>
                </a:solidFill>
                <a:latin typeface="Times New Roman" pitchFamily="18" charset="0"/>
                <a:cs typeface="Times New Roman" pitchFamily="18" charset="0"/>
              </a:rPr>
              <a:t>Pvt.</a:t>
            </a:r>
            <a:r>
              <a:rPr sz="2400" dirty="0">
                <a:solidFill>
                  <a:srgbClr val="2C2C2C"/>
                </a:solidFill>
                <a:latin typeface="Times New Roman" pitchFamily="18" charset="0"/>
                <a:cs typeface="Times New Roman" pitchFamily="18" charset="0"/>
              </a:rPr>
              <a:t> Ltd.</a:t>
            </a:r>
            <a:endParaRPr sz="2400" dirty="0">
              <a:latin typeface="Times New Roman" pitchFamily="18" charset="0"/>
              <a:cs typeface="Times New Roman" pitchFamily="18" charset="0"/>
            </a:endParaRPr>
          </a:p>
          <a:p>
            <a:pPr marL="965200" marR="892810" lvl="1" indent="-457834" algn="just">
              <a:lnSpc>
                <a:spcPct val="100000"/>
              </a:lnSpc>
              <a:spcBef>
                <a:spcPts val="1200"/>
              </a:spcBef>
              <a:buAutoNum type="arabicPeriod"/>
              <a:tabLst>
                <a:tab pos="965200" algn="l"/>
                <a:tab pos="965835" algn="l"/>
              </a:tabLst>
            </a:pPr>
            <a:r>
              <a:rPr lang="en-US" sz="2400" dirty="0">
                <a:solidFill>
                  <a:srgbClr val="2C2C2C"/>
                </a:solidFill>
                <a:latin typeface="Times New Roman" pitchFamily="18" charset="0"/>
                <a:cs typeface="Times New Roman" pitchFamily="18" charset="0"/>
              </a:rPr>
              <a:t>Manufacturing Engineering and Technology, </a:t>
            </a:r>
            <a:r>
              <a:rPr lang="en-US" sz="2400" dirty="0" err="1">
                <a:solidFill>
                  <a:srgbClr val="2C2C2C"/>
                </a:solidFill>
                <a:latin typeface="Times New Roman" pitchFamily="18" charset="0"/>
                <a:cs typeface="Times New Roman" pitchFamily="18" charset="0"/>
              </a:rPr>
              <a:t>Serope</a:t>
            </a:r>
            <a:r>
              <a:rPr lang="en-US" sz="2400" dirty="0">
                <a:solidFill>
                  <a:srgbClr val="2C2C2C"/>
                </a:solidFill>
                <a:latin typeface="Times New Roman" pitchFamily="18" charset="0"/>
                <a:cs typeface="Times New Roman" pitchFamily="18" charset="0"/>
              </a:rPr>
              <a:t> </a:t>
            </a:r>
            <a:r>
              <a:rPr lang="en-US" sz="2400" dirty="0" err="1">
                <a:solidFill>
                  <a:srgbClr val="2C2C2C"/>
                </a:solidFill>
                <a:latin typeface="Times New Roman" pitchFamily="18" charset="0"/>
                <a:cs typeface="Times New Roman" pitchFamily="18" charset="0"/>
              </a:rPr>
              <a:t>Kalpakjian</a:t>
            </a:r>
            <a:r>
              <a:rPr lang="en-US" sz="2400" dirty="0">
                <a:solidFill>
                  <a:srgbClr val="2C2C2C"/>
                </a:solidFill>
                <a:latin typeface="Times New Roman" pitchFamily="18" charset="0"/>
                <a:cs typeface="Times New Roman" pitchFamily="18" charset="0"/>
              </a:rPr>
              <a:t>, Steven R. </a:t>
            </a:r>
            <a:r>
              <a:rPr lang="en-US" sz="2400" dirty="0" err="1">
                <a:solidFill>
                  <a:srgbClr val="2C2C2C"/>
                </a:solidFill>
                <a:latin typeface="Times New Roman" pitchFamily="18" charset="0"/>
                <a:cs typeface="Times New Roman" pitchFamily="18" charset="0"/>
              </a:rPr>
              <a:t>Schmid</a:t>
            </a:r>
            <a:r>
              <a:rPr lang="en-US" sz="2400" dirty="0">
                <a:solidFill>
                  <a:srgbClr val="2C2C2C"/>
                </a:solidFill>
                <a:latin typeface="Times New Roman" pitchFamily="18" charset="0"/>
                <a:cs typeface="Times New Roman" pitchFamily="18" charset="0"/>
              </a:rPr>
              <a:t>, Pearson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168" y="451247"/>
            <a:ext cx="7848600" cy="615553"/>
          </a:xfrm>
        </p:spPr>
        <p:txBody>
          <a:bodyPr/>
          <a:lstStyle/>
          <a:p>
            <a:r>
              <a:rPr lang="en-US" u="none" spc="-10" dirty="0">
                <a:solidFill>
                  <a:srgbClr val="099BDD"/>
                </a:solidFill>
                <a:latin typeface="Corbel"/>
                <a:cs typeface="Corbel"/>
              </a:rPr>
              <a:t>Course Details</a:t>
            </a:r>
          </a:p>
        </p:txBody>
      </p:sp>
      <p:sp>
        <p:nvSpPr>
          <p:cNvPr id="3" name="Content Placeholder 2"/>
          <p:cNvSpPr>
            <a:spLocks noGrp="1"/>
          </p:cNvSpPr>
          <p:nvPr>
            <p:ph idx="1"/>
          </p:nvPr>
        </p:nvSpPr>
        <p:spPr>
          <a:xfrm>
            <a:off x="1133168" y="1371600"/>
            <a:ext cx="10363200" cy="4876800"/>
          </a:xfrm>
        </p:spPr>
        <p:txBody>
          <a:bodyPr>
            <a:normAutofit fontScale="92500" lnSpcReduction="10000"/>
          </a:bodyPr>
          <a:lstStyle/>
          <a:p>
            <a:endParaRPr lang="en-US" b="1" dirty="0"/>
          </a:p>
          <a:p>
            <a:r>
              <a:rPr lang="en-US" sz="3000" b="1" dirty="0"/>
              <a:t>Credits				4				</a:t>
            </a:r>
          </a:p>
          <a:p>
            <a:endParaRPr lang="en-US" sz="3000" b="1" dirty="0"/>
          </a:p>
          <a:p>
            <a:r>
              <a:rPr lang="en-US" sz="3000" b="1" dirty="0"/>
              <a:t>L:T:P 					2:2:0</a:t>
            </a:r>
          </a:p>
          <a:p>
            <a:r>
              <a:rPr lang="en-US" sz="3000" b="1" dirty="0"/>
              <a:t>				          	</a:t>
            </a:r>
            <a:r>
              <a:rPr lang="en-US" sz="3000" b="1" dirty="0">
                <a:solidFill>
                  <a:schemeClr val="accent1"/>
                </a:solidFill>
              </a:rPr>
              <a:t>(2 lectures and 2 tutorials per week)</a:t>
            </a:r>
          </a:p>
          <a:p>
            <a:endParaRPr lang="en-US" sz="3000" b="1" dirty="0">
              <a:solidFill>
                <a:srgbClr val="FF0000"/>
              </a:solidFill>
            </a:endParaRPr>
          </a:p>
          <a:p>
            <a:r>
              <a:rPr lang="en-US" sz="3000" b="1" dirty="0"/>
              <a:t>Exam Category:			55</a:t>
            </a:r>
          </a:p>
          <a:p>
            <a:r>
              <a:rPr lang="en-US" sz="3000" b="1" dirty="0"/>
              <a:t>					</a:t>
            </a:r>
            <a:r>
              <a:rPr lang="en-US" sz="3000" b="1" dirty="0">
                <a:solidFill>
                  <a:schemeClr val="accent1"/>
                </a:solidFill>
              </a:rPr>
              <a:t>(All subjective)</a:t>
            </a:r>
          </a:p>
          <a:p>
            <a:r>
              <a:rPr lang="en-US" sz="3000" b="1" dirty="0">
                <a:solidFill>
                  <a:srgbClr val="FF0000"/>
                </a:solidFill>
              </a:rPr>
              <a:t>			</a:t>
            </a:r>
            <a:endParaRPr lang="en-US" sz="2200" b="1" dirty="0">
              <a:solidFill>
                <a:srgbClr val="FF0000"/>
              </a:solidFill>
            </a:endParaRPr>
          </a:p>
          <a:p>
            <a:endParaRPr lang="en-US" sz="3000" b="1" dirty="0">
              <a:solidFill>
                <a:srgbClr val="FF0000"/>
              </a:solidFill>
            </a:endParaRPr>
          </a:p>
          <a:p>
            <a:r>
              <a:rPr lang="en-US" sz="3000" b="1" dirty="0"/>
              <a:t>CA Category:			C010203</a:t>
            </a:r>
          </a:p>
          <a:p>
            <a:pPr algn="r"/>
            <a:r>
              <a:rPr lang="en-US" sz="3000" b="1" dirty="0">
                <a:solidFill>
                  <a:srgbClr val="FF0000"/>
                </a:solidFill>
              </a:rPr>
              <a:t>				</a:t>
            </a:r>
            <a:r>
              <a:rPr lang="en-US" sz="3000" b="1" dirty="0">
                <a:solidFill>
                  <a:schemeClr val="accent1"/>
                </a:solidFill>
              </a:rPr>
              <a:t>           (</a:t>
            </a:r>
            <a:r>
              <a:rPr lang="en-GB" sz="3000" b="1" dirty="0">
                <a:solidFill>
                  <a:schemeClr val="accent1"/>
                </a:solidFill>
              </a:rPr>
              <a:t>Total 4 tasks, 1 compulsory and out of remaining 2 best out of 3 to be considered</a:t>
            </a:r>
            <a:r>
              <a:rPr lang="en-US" sz="3000" b="1" dirty="0">
                <a:solidFill>
                  <a:schemeClr val="accent1"/>
                </a:solidFill>
              </a:rPr>
              <a:t>)</a:t>
            </a:r>
          </a:p>
          <a:p>
            <a:endParaRPr lang="en-US" sz="2000" b="1" dirty="0"/>
          </a:p>
        </p:txBody>
      </p:sp>
    </p:spTree>
    <p:extLst>
      <p:ext uri="{BB962C8B-B14F-4D97-AF65-F5344CB8AC3E}">
        <p14:creationId xmlns:p14="http://schemas.microsoft.com/office/powerpoint/2010/main" val="3289157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a:xfrm>
            <a:off x="1066800" y="366315"/>
            <a:ext cx="8162481" cy="615553"/>
          </a:xfrm>
        </p:spPr>
        <p:txBody>
          <a:bodyPr/>
          <a:lstStyle/>
          <a:p>
            <a:pPr algn="l" eaLnBrk="1" hangingPunct="1"/>
            <a:r>
              <a:rPr lang="en-US" altLang="en-US" u="none" spc="-10" dirty="0">
                <a:solidFill>
                  <a:srgbClr val="099BDD"/>
                </a:solidFill>
                <a:latin typeface="Corbel"/>
                <a:cs typeface="Corbel"/>
              </a:rPr>
              <a:t>Course Assessment Model</a:t>
            </a:r>
            <a:endParaRPr lang="en-IN" altLang="en-US" u="none" spc="-10" dirty="0">
              <a:solidFill>
                <a:srgbClr val="099BDD"/>
              </a:solidFill>
              <a:latin typeface="Corbel"/>
              <a:cs typeface="Corbel"/>
            </a:endParaRPr>
          </a:p>
        </p:txBody>
      </p:sp>
      <p:sp>
        <p:nvSpPr>
          <p:cNvPr id="3" name="Content Placeholder 2"/>
          <p:cNvSpPr>
            <a:spLocks noGrp="1"/>
          </p:cNvSpPr>
          <p:nvPr>
            <p:ph idx="1"/>
          </p:nvPr>
        </p:nvSpPr>
        <p:spPr>
          <a:xfrm>
            <a:off x="1447800" y="1455739"/>
            <a:ext cx="9372600" cy="5068887"/>
          </a:xfrm>
        </p:spPr>
        <p:txBody>
          <a:bodyPr rtlCol="0">
            <a:normAutofit/>
          </a:bodyPr>
          <a:lstStyle/>
          <a:p>
            <a:pPr>
              <a:lnSpc>
                <a:spcPct val="150000"/>
              </a:lnSpc>
              <a:defRPr/>
            </a:pPr>
            <a:r>
              <a:rPr lang="en-US" sz="3200" b="1" u="sng" dirty="0">
                <a:solidFill>
                  <a:srgbClr val="002060"/>
                </a:solidFill>
              </a:rPr>
              <a:t>Marks break up</a:t>
            </a:r>
            <a:r>
              <a:rPr lang="en-US" sz="3200" b="1" dirty="0">
                <a:solidFill>
                  <a:srgbClr val="002060"/>
                </a:solidFill>
              </a:rPr>
              <a:t>*</a:t>
            </a:r>
          </a:p>
          <a:p>
            <a:pPr>
              <a:lnSpc>
                <a:spcPct val="150000"/>
              </a:lnSpc>
              <a:defRPr/>
            </a:pPr>
            <a:r>
              <a:rPr lang="en-US" sz="3200" dirty="0">
                <a:solidFill>
                  <a:srgbClr val="C00000"/>
                </a:solidFill>
              </a:rPr>
              <a:t>Attendance							  5</a:t>
            </a:r>
          </a:p>
          <a:p>
            <a:pPr>
              <a:lnSpc>
                <a:spcPct val="150000"/>
              </a:lnSpc>
              <a:defRPr/>
            </a:pPr>
            <a:r>
              <a:rPr lang="en-US" sz="3200" dirty="0">
                <a:solidFill>
                  <a:srgbClr val="C00000"/>
                </a:solidFill>
              </a:rPr>
              <a:t>CA (C010203)							30</a:t>
            </a:r>
          </a:p>
          <a:p>
            <a:pPr>
              <a:lnSpc>
                <a:spcPct val="150000"/>
              </a:lnSpc>
              <a:defRPr/>
            </a:pPr>
            <a:r>
              <a:rPr lang="en-US" sz="3200" dirty="0">
                <a:solidFill>
                  <a:srgbClr val="C00000"/>
                </a:solidFill>
              </a:rPr>
              <a:t>MTE 									25</a:t>
            </a:r>
          </a:p>
          <a:p>
            <a:pPr>
              <a:lnSpc>
                <a:spcPct val="150000"/>
              </a:lnSpc>
              <a:defRPr/>
            </a:pPr>
            <a:r>
              <a:rPr lang="en-US" sz="3200" dirty="0">
                <a:solidFill>
                  <a:srgbClr val="C00000"/>
                </a:solidFill>
              </a:rPr>
              <a:t>ETE									40</a:t>
            </a:r>
          </a:p>
          <a:p>
            <a:pPr>
              <a:lnSpc>
                <a:spcPct val="150000"/>
              </a:lnSpc>
              <a:defRPr/>
            </a:pPr>
            <a:r>
              <a:rPr lang="en-US" sz="3200" b="1" dirty="0">
                <a:solidFill>
                  <a:srgbClr val="002060"/>
                </a:solidFill>
              </a:rPr>
              <a:t>Total									100</a:t>
            </a:r>
          </a:p>
          <a:p>
            <a:pPr>
              <a:defRPr/>
            </a:pPr>
            <a:endParaRPr lang="en-IN" sz="2400" dirty="0">
              <a:solidFill>
                <a:schemeClr val="accent6">
                  <a:lumMod val="75000"/>
                </a:schemeClr>
              </a:solidFill>
            </a:endParaRPr>
          </a:p>
        </p:txBody>
      </p:sp>
      <p:cxnSp>
        <p:nvCxnSpPr>
          <p:cNvPr id="4" name="Straight Connector 3"/>
          <p:cNvCxnSpPr/>
          <p:nvPr/>
        </p:nvCxnSpPr>
        <p:spPr>
          <a:xfrm>
            <a:off x="2135189" y="1268413"/>
            <a:ext cx="7056437"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7" name="Straight Connector 6"/>
          <p:cNvCxnSpPr/>
          <p:nvPr/>
        </p:nvCxnSpPr>
        <p:spPr>
          <a:xfrm>
            <a:off x="9229281" y="5105400"/>
            <a:ext cx="1081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950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1" y="381000"/>
            <a:ext cx="7585392" cy="635000"/>
          </a:xfrm>
          <a:prstGeom prst="rect">
            <a:avLst/>
          </a:prstGeom>
        </p:spPr>
        <p:txBody>
          <a:bodyPr vert="horz" wrap="square" lIns="0" tIns="12065" rIns="0" bIns="0" rtlCol="0">
            <a:spAutoFit/>
          </a:bodyPr>
          <a:lstStyle/>
          <a:p>
            <a:pPr marL="12700">
              <a:lnSpc>
                <a:spcPct val="100000"/>
              </a:lnSpc>
              <a:spcBef>
                <a:spcPts val="95"/>
              </a:spcBef>
            </a:pPr>
            <a:r>
              <a:rPr lang="en-US" u="none" spc="-10" dirty="0">
                <a:solidFill>
                  <a:srgbClr val="099BDD"/>
                </a:solidFill>
                <a:latin typeface="Corbel"/>
                <a:cs typeface="Corbel"/>
              </a:rPr>
              <a:t>Course</a:t>
            </a:r>
            <a:r>
              <a:rPr lang="en-US" u="none" spc="-190" dirty="0">
                <a:solidFill>
                  <a:srgbClr val="099BDD"/>
                </a:solidFill>
                <a:latin typeface="Corbel"/>
                <a:cs typeface="Corbel"/>
              </a:rPr>
              <a:t> </a:t>
            </a:r>
            <a:r>
              <a:rPr lang="en-US" u="none" spc="-10" dirty="0">
                <a:solidFill>
                  <a:srgbClr val="099BDD"/>
                </a:solidFill>
                <a:latin typeface="Corbel"/>
                <a:cs typeface="Corbel"/>
              </a:rPr>
              <a:t>Content</a:t>
            </a:r>
          </a:p>
        </p:txBody>
      </p:sp>
      <p:graphicFrame>
        <p:nvGraphicFramePr>
          <p:cNvPr id="3" name="object 3"/>
          <p:cNvGraphicFramePr>
            <a:graphicFrameLocks noGrp="1"/>
          </p:cNvGraphicFramePr>
          <p:nvPr>
            <p:extLst>
              <p:ext uri="{D42A27DB-BD31-4B8C-83A1-F6EECF244321}">
                <p14:modId xmlns:p14="http://schemas.microsoft.com/office/powerpoint/2010/main" val="1710380722"/>
              </p:ext>
            </p:extLst>
          </p:nvPr>
        </p:nvGraphicFramePr>
        <p:xfrm>
          <a:off x="610551" y="1897168"/>
          <a:ext cx="10970896" cy="4648201"/>
        </p:xfrm>
        <a:graphic>
          <a:graphicData uri="http://schemas.openxmlformats.org/drawingml/2006/table">
            <a:tbl>
              <a:tblPr firstRow="1" bandRow="1">
                <a:tableStyleId>{2D5ABB26-0587-4C30-8999-92F81FD0307C}</a:tableStyleId>
              </a:tblPr>
              <a:tblGrid>
                <a:gridCol w="837249">
                  <a:extLst>
                    <a:ext uri="{9D8B030D-6E8A-4147-A177-3AD203B41FA5}">
                      <a16:colId xmlns:a16="http://schemas.microsoft.com/office/drawing/2014/main" val="20000"/>
                    </a:ext>
                  </a:extLst>
                </a:gridCol>
                <a:gridCol w="10133647">
                  <a:extLst>
                    <a:ext uri="{9D8B030D-6E8A-4147-A177-3AD203B41FA5}">
                      <a16:colId xmlns:a16="http://schemas.microsoft.com/office/drawing/2014/main" val="20001"/>
                    </a:ext>
                  </a:extLst>
                </a:gridCol>
              </a:tblGrid>
              <a:tr h="1226609">
                <a:tc>
                  <a:txBody>
                    <a:bodyPr/>
                    <a:lstStyle/>
                    <a:p>
                      <a:pPr marL="127000" algn="just">
                        <a:lnSpc>
                          <a:spcPct val="150000"/>
                        </a:lnSpc>
                      </a:pPr>
                      <a:r>
                        <a:rPr sz="1800" b="1" spc="-5" dirty="0">
                          <a:solidFill>
                            <a:srgbClr val="2C2C2C"/>
                          </a:solidFill>
                          <a:latin typeface="+mn-lt"/>
                          <a:cs typeface="Times New Roman"/>
                        </a:rPr>
                        <a:t>Unit-</a:t>
                      </a:r>
                      <a:r>
                        <a:rPr sz="1800" b="1" spc="-45" dirty="0">
                          <a:solidFill>
                            <a:srgbClr val="2C2C2C"/>
                          </a:solidFill>
                          <a:latin typeface="+mn-lt"/>
                          <a:cs typeface="Times New Roman"/>
                        </a:rPr>
                        <a:t> </a:t>
                      </a:r>
                      <a:r>
                        <a:rPr sz="1800" b="1" dirty="0">
                          <a:solidFill>
                            <a:srgbClr val="2C2C2C"/>
                          </a:solidFill>
                          <a:latin typeface="+mn-lt"/>
                          <a:cs typeface="Times New Roman"/>
                        </a:rPr>
                        <a:t>I</a:t>
                      </a:r>
                      <a:endParaRPr sz="1800" dirty="0">
                        <a:latin typeface="+mn-lt"/>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1620" algn="just">
                        <a:lnSpc>
                          <a:spcPct val="150000"/>
                        </a:lnSpc>
                      </a:pPr>
                      <a:r>
                        <a:rPr lang="en-IN" sz="1800" b="1" dirty="0">
                          <a:solidFill>
                            <a:srgbClr val="FF0000"/>
                          </a:solidFill>
                          <a:latin typeface="+mn-lt"/>
                          <a:cs typeface="Times New Roman" panose="02020603050405020304" pitchFamily="18" charset="0"/>
                        </a:rPr>
                        <a:t>Introduction to Engineering Drawing : </a:t>
                      </a:r>
                      <a:r>
                        <a:rPr lang="en-IN" sz="1800" dirty="0">
                          <a:latin typeface="+mn-lt"/>
                          <a:cs typeface="Times New Roman" panose="02020603050405020304" pitchFamily="18" charset="0"/>
                        </a:rPr>
                        <a:t>Conceptual framework of drawing instruments, line types, dimensioning, single stroke vertical gothic letter writing, scales-plain and diagonal, introduction to AutoCAD interface- units, limits, navigation, OSNAP, </a:t>
                      </a:r>
                      <a:r>
                        <a:rPr lang="en-IN" sz="1800" dirty="0" err="1">
                          <a:latin typeface="+mn-lt"/>
                          <a:cs typeface="Times New Roman" panose="02020603050405020304" pitchFamily="18" charset="0"/>
                        </a:rPr>
                        <a:t>ortho</a:t>
                      </a:r>
                      <a:r>
                        <a:rPr lang="en-IN" sz="1800" dirty="0">
                          <a:latin typeface="+mn-lt"/>
                          <a:cs typeface="Times New Roman" panose="02020603050405020304" pitchFamily="18" charset="0"/>
                        </a:rPr>
                        <a:t>, and UCS </a:t>
                      </a:r>
                      <a:endParaRPr sz="1800" dirty="0">
                        <a:latin typeface="+mn-lt"/>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377351">
                <a:tc>
                  <a:txBody>
                    <a:bodyPr/>
                    <a:lstStyle/>
                    <a:p>
                      <a:pPr marL="127000" algn="just">
                        <a:lnSpc>
                          <a:spcPct val="150000"/>
                        </a:lnSpc>
                        <a:spcBef>
                          <a:spcPts val="545"/>
                        </a:spcBef>
                      </a:pPr>
                      <a:r>
                        <a:rPr sz="1800" b="1" spc="-5" dirty="0">
                          <a:solidFill>
                            <a:srgbClr val="2C2C2C"/>
                          </a:solidFill>
                          <a:latin typeface="+mn-lt"/>
                          <a:cs typeface="Times New Roman"/>
                        </a:rPr>
                        <a:t>Unit-</a:t>
                      </a:r>
                      <a:r>
                        <a:rPr sz="1800" b="1" spc="-45" dirty="0">
                          <a:solidFill>
                            <a:srgbClr val="2C2C2C"/>
                          </a:solidFill>
                          <a:latin typeface="+mn-lt"/>
                          <a:cs typeface="Times New Roman"/>
                        </a:rPr>
                        <a:t> </a:t>
                      </a:r>
                      <a:r>
                        <a:rPr sz="1800" b="1" spc="-5" dirty="0">
                          <a:solidFill>
                            <a:srgbClr val="2C2C2C"/>
                          </a:solidFill>
                          <a:latin typeface="+mn-lt"/>
                          <a:cs typeface="Times New Roman"/>
                        </a:rPr>
                        <a:t>II</a:t>
                      </a:r>
                      <a:endParaRPr sz="1800" dirty="0">
                        <a:latin typeface="+mn-lt"/>
                        <a:cs typeface="Times New Roman"/>
                      </a:endParaRPr>
                    </a:p>
                  </a:txBody>
                  <a:tcPr marL="0" marR="0" marT="692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1620" algn="just">
                        <a:lnSpc>
                          <a:spcPct val="150000"/>
                        </a:lnSpc>
                        <a:spcBef>
                          <a:spcPts val="545"/>
                        </a:spcBef>
                      </a:pPr>
                      <a:r>
                        <a:rPr lang="en-US" sz="1800" b="1" dirty="0">
                          <a:solidFill>
                            <a:srgbClr val="FF0000"/>
                          </a:solidFill>
                          <a:latin typeface="+mn-lt"/>
                          <a:cs typeface="Times New Roman" panose="02020603050405020304" pitchFamily="18" charset="0"/>
                        </a:rPr>
                        <a:t>Projection of Points and Lines : </a:t>
                      </a:r>
                      <a:r>
                        <a:rPr lang="en-US" sz="1800" dirty="0">
                          <a:latin typeface="+mn-lt"/>
                          <a:cs typeface="Times New Roman" panose="02020603050405020304" pitchFamily="18" charset="0"/>
                        </a:rPr>
                        <a:t>Introduction, principles of orthographic projections, orthographic projection of points and lines, concept of traces, AutoCAD commands- line, circle, arc, polyline, move, copy, trim, text, and dimensioning style, hands-on-practice on AutoCAD </a:t>
                      </a:r>
                      <a:endParaRPr sz="1800" dirty="0">
                        <a:latin typeface="+mn-lt"/>
                        <a:cs typeface="Times New Roman" panose="02020603050405020304" pitchFamily="18" charset="0"/>
                      </a:endParaRPr>
                    </a:p>
                  </a:txBody>
                  <a:tcPr marL="0" marR="0" marT="692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44241">
                <a:tc>
                  <a:txBody>
                    <a:bodyPr/>
                    <a:lstStyle/>
                    <a:p>
                      <a:pPr marL="127000" algn="just">
                        <a:lnSpc>
                          <a:spcPct val="150000"/>
                        </a:lnSpc>
                        <a:spcBef>
                          <a:spcPts val="545"/>
                        </a:spcBef>
                      </a:pPr>
                      <a:r>
                        <a:rPr sz="1800" b="1" spc="-5" dirty="0">
                          <a:solidFill>
                            <a:srgbClr val="2C2C2C"/>
                          </a:solidFill>
                          <a:latin typeface="+mn-lt"/>
                          <a:cs typeface="Times New Roman"/>
                        </a:rPr>
                        <a:t>Unit-</a:t>
                      </a:r>
                      <a:r>
                        <a:rPr sz="1800" b="1" spc="-45" dirty="0">
                          <a:solidFill>
                            <a:srgbClr val="2C2C2C"/>
                          </a:solidFill>
                          <a:latin typeface="+mn-lt"/>
                          <a:cs typeface="Times New Roman"/>
                        </a:rPr>
                        <a:t> </a:t>
                      </a:r>
                      <a:r>
                        <a:rPr sz="1800" b="1" spc="-5" dirty="0">
                          <a:solidFill>
                            <a:srgbClr val="2C2C2C"/>
                          </a:solidFill>
                          <a:latin typeface="+mn-lt"/>
                          <a:cs typeface="Times New Roman"/>
                        </a:rPr>
                        <a:t>III</a:t>
                      </a:r>
                      <a:endParaRPr sz="1800" dirty="0">
                        <a:latin typeface="+mn-lt"/>
                        <a:cs typeface="Times New Roman"/>
                      </a:endParaRPr>
                    </a:p>
                  </a:txBody>
                  <a:tcPr marL="0" marR="0" marT="692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1620" algn="just">
                        <a:lnSpc>
                          <a:spcPct val="150000"/>
                        </a:lnSpc>
                        <a:spcBef>
                          <a:spcPts val="545"/>
                        </a:spcBef>
                      </a:pPr>
                      <a:r>
                        <a:rPr lang="en-US" sz="1800" b="1" dirty="0">
                          <a:solidFill>
                            <a:srgbClr val="FF0000"/>
                          </a:solidFill>
                          <a:latin typeface="+mn-lt"/>
                          <a:cs typeface="Times New Roman" panose="02020603050405020304" pitchFamily="18" charset="0"/>
                        </a:rPr>
                        <a:t>Orthographic and Sectional Views : </a:t>
                      </a:r>
                      <a:r>
                        <a:rPr lang="en-US" sz="1800" dirty="0">
                          <a:latin typeface="+mn-lt"/>
                          <a:cs typeface="Times New Roman" panose="02020603050405020304" pitchFamily="18" charset="0"/>
                        </a:rPr>
                        <a:t>Introduction, principles, importance, orthographic and sectional (full, half, and offset) views in both first and third angle projections systems, practice, AutoCAD commands- line type and its properties, rectangle, polygon, ellipse, hatch, scale, fillet, chamfer, array, erase, explode, offset, and extend, hands-on-practice on 2D drawings</a:t>
                      </a:r>
                      <a:endParaRPr sz="1800" dirty="0">
                        <a:latin typeface="+mn-lt"/>
                        <a:cs typeface="Times New Roman" panose="02020603050405020304" pitchFamily="18" charset="0"/>
                      </a:endParaRPr>
                    </a:p>
                  </a:txBody>
                  <a:tcPr marL="0" marR="0" marT="692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Box 3"/>
          <p:cNvSpPr txBox="1"/>
          <p:nvPr/>
        </p:nvSpPr>
        <p:spPr>
          <a:xfrm>
            <a:off x="762000" y="1367135"/>
            <a:ext cx="1671483" cy="461665"/>
          </a:xfrm>
          <a:prstGeom prst="rect">
            <a:avLst/>
          </a:prstGeom>
          <a:noFill/>
        </p:spPr>
        <p:txBody>
          <a:bodyPr wrap="none" rtlCol="0">
            <a:spAutoFit/>
          </a:bodyPr>
          <a:lstStyle/>
          <a:p>
            <a:r>
              <a:rPr lang="en-US" sz="2400" b="1" dirty="0">
                <a:solidFill>
                  <a:schemeClr val="accent2"/>
                </a:solidFill>
              </a:rPr>
              <a:t>Before MTE</a:t>
            </a:r>
            <a:endParaRPr lang="en-IN" b="1" dirty="0">
              <a:solidFill>
                <a:schemeClr val="accen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1" y="203200"/>
            <a:ext cx="7737792" cy="635000"/>
          </a:xfrm>
          <a:prstGeom prst="rect">
            <a:avLst/>
          </a:prstGeom>
        </p:spPr>
        <p:txBody>
          <a:bodyPr vert="horz" wrap="square" lIns="0" tIns="12065" rIns="0" bIns="0" rtlCol="0">
            <a:spAutoFit/>
          </a:bodyPr>
          <a:lstStyle/>
          <a:p>
            <a:pPr marL="12700">
              <a:lnSpc>
                <a:spcPct val="100000"/>
              </a:lnSpc>
              <a:spcBef>
                <a:spcPts val="95"/>
              </a:spcBef>
            </a:pPr>
            <a:r>
              <a:rPr lang="en-US" b="0" u="none" spc="-10" dirty="0">
                <a:solidFill>
                  <a:srgbClr val="099BDD"/>
                </a:solidFill>
                <a:latin typeface="Corbel"/>
                <a:cs typeface="Corbel"/>
              </a:rPr>
              <a:t>Course</a:t>
            </a:r>
            <a:r>
              <a:rPr lang="en-US" b="0" u="none" spc="-190" dirty="0">
                <a:solidFill>
                  <a:srgbClr val="099BDD"/>
                </a:solidFill>
                <a:latin typeface="Corbel"/>
                <a:cs typeface="Corbel"/>
              </a:rPr>
              <a:t> </a:t>
            </a:r>
            <a:r>
              <a:rPr lang="en-US" b="0" u="none" spc="-10" dirty="0">
                <a:solidFill>
                  <a:srgbClr val="099BDD"/>
                </a:solidFill>
                <a:latin typeface="Corbel"/>
                <a:cs typeface="Corbel"/>
              </a:rPr>
              <a:t>Content</a:t>
            </a:r>
          </a:p>
        </p:txBody>
      </p:sp>
      <p:graphicFrame>
        <p:nvGraphicFramePr>
          <p:cNvPr id="3" name="object 3"/>
          <p:cNvGraphicFramePr>
            <a:graphicFrameLocks noGrp="1"/>
          </p:cNvGraphicFramePr>
          <p:nvPr>
            <p:extLst>
              <p:ext uri="{D42A27DB-BD31-4B8C-83A1-F6EECF244321}">
                <p14:modId xmlns:p14="http://schemas.microsoft.com/office/powerpoint/2010/main" val="2293206727"/>
              </p:ext>
            </p:extLst>
          </p:nvPr>
        </p:nvGraphicFramePr>
        <p:xfrm>
          <a:off x="457200" y="1219200"/>
          <a:ext cx="11506200" cy="5393055"/>
        </p:xfrm>
        <a:graphic>
          <a:graphicData uri="http://schemas.openxmlformats.org/drawingml/2006/table">
            <a:tbl>
              <a:tblPr firstRow="1" bandRow="1">
                <a:tableStyleId>{2D5ABB26-0587-4C30-8999-92F81FD0307C}</a:tableStyleId>
              </a:tblPr>
              <a:tblGrid>
                <a:gridCol w="997204">
                  <a:extLst>
                    <a:ext uri="{9D8B030D-6E8A-4147-A177-3AD203B41FA5}">
                      <a16:colId xmlns:a16="http://schemas.microsoft.com/office/drawing/2014/main" val="20000"/>
                    </a:ext>
                  </a:extLst>
                </a:gridCol>
                <a:gridCol w="10508996">
                  <a:extLst>
                    <a:ext uri="{9D8B030D-6E8A-4147-A177-3AD203B41FA5}">
                      <a16:colId xmlns:a16="http://schemas.microsoft.com/office/drawing/2014/main" val="20001"/>
                    </a:ext>
                  </a:extLst>
                </a:gridCol>
              </a:tblGrid>
              <a:tr h="1143106">
                <a:tc>
                  <a:txBody>
                    <a:bodyPr/>
                    <a:lstStyle/>
                    <a:p>
                      <a:pPr marL="127000" algn="ctr">
                        <a:lnSpc>
                          <a:spcPct val="100000"/>
                        </a:lnSpc>
                        <a:spcBef>
                          <a:spcPts val="405"/>
                        </a:spcBef>
                      </a:pPr>
                      <a:r>
                        <a:rPr sz="1800" b="1" spc="-5" dirty="0">
                          <a:solidFill>
                            <a:srgbClr val="2C2C2C"/>
                          </a:solidFill>
                          <a:latin typeface="+mn-lt"/>
                          <a:cs typeface="Times New Roman"/>
                        </a:rPr>
                        <a:t>Unit-</a:t>
                      </a:r>
                      <a:r>
                        <a:rPr sz="1800" b="1" spc="-45" dirty="0">
                          <a:solidFill>
                            <a:srgbClr val="2C2C2C"/>
                          </a:solidFill>
                          <a:latin typeface="+mn-lt"/>
                          <a:cs typeface="Times New Roman"/>
                        </a:rPr>
                        <a:t> </a:t>
                      </a:r>
                      <a:r>
                        <a:rPr sz="1800" b="1" spc="-5" dirty="0">
                          <a:solidFill>
                            <a:srgbClr val="2C2C2C"/>
                          </a:solidFill>
                          <a:latin typeface="+mn-lt"/>
                          <a:cs typeface="Times New Roman"/>
                        </a:rPr>
                        <a:t>IV</a:t>
                      </a:r>
                      <a:endParaRPr sz="1800" dirty="0">
                        <a:latin typeface="+mn-lt"/>
                        <a:cs typeface="Times New Roman"/>
                      </a:endParaRPr>
                    </a:p>
                  </a:txBody>
                  <a:tcPr marL="0" marR="0" marT="5143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1620" algn="just">
                        <a:lnSpc>
                          <a:spcPct val="150000"/>
                        </a:lnSpc>
                        <a:spcBef>
                          <a:spcPts val="405"/>
                        </a:spcBef>
                      </a:pPr>
                      <a:r>
                        <a:rPr lang="en-IN" sz="1800" b="1" dirty="0">
                          <a:solidFill>
                            <a:srgbClr val="FF0000"/>
                          </a:solidFill>
                          <a:latin typeface="+mn-lt"/>
                          <a:ea typeface="+mn-ea"/>
                          <a:cs typeface="+mn-cs"/>
                        </a:rPr>
                        <a:t>Isometric Views and Development of Surfaces : </a:t>
                      </a:r>
                      <a:r>
                        <a:rPr lang="en-IN" sz="1800" dirty="0">
                          <a:solidFill>
                            <a:schemeClr val="tx1"/>
                          </a:solidFill>
                          <a:latin typeface="+mn-lt"/>
                          <a:ea typeface="+mn-ea"/>
                          <a:cs typeface="+mn-cs"/>
                        </a:rPr>
                        <a:t>Introduction, terminology, isometric scale, isometric views of prisms and pyramids, dimensioning, importance of surface development, development methods, surface development of cylinder, prisms, cone and pyramids, AutoCAD commands for 3D- 3P UCS rotation, standard shapes, extrude, revolve, </a:t>
                      </a:r>
                      <a:r>
                        <a:rPr lang="en-IN" sz="1800" dirty="0" err="1">
                          <a:solidFill>
                            <a:schemeClr val="tx1"/>
                          </a:solidFill>
                          <a:latin typeface="+mn-lt"/>
                          <a:ea typeface="+mn-ea"/>
                          <a:cs typeface="+mn-cs"/>
                        </a:rPr>
                        <a:t>presspull</a:t>
                      </a:r>
                      <a:r>
                        <a:rPr lang="en-IN" sz="1800" dirty="0">
                          <a:solidFill>
                            <a:schemeClr val="tx1"/>
                          </a:solidFill>
                          <a:latin typeface="+mn-lt"/>
                          <a:ea typeface="+mn-ea"/>
                          <a:cs typeface="+mn-cs"/>
                        </a:rPr>
                        <a:t>, subtract, union, orbit, and visual styles, hands-on-practice on 3D drawings </a:t>
                      </a:r>
                      <a:endParaRPr sz="1800" dirty="0">
                        <a:solidFill>
                          <a:schemeClr val="tx1"/>
                        </a:solidFill>
                        <a:latin typeface="+mn-lt"/>
                        <a:ea typeface="+mn-ea"/>
                        <a:cs typeface="+mn-cs"/>
                      </a:endParaRPr>
                    </a:p>
                  </a:txBody>
                  <a:tcPr marL="0" marR="0" marT="514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24953">
                <a:tc>
                  <a:txBody>
                    <a:bodyPr/>
                    <a:lstStyle/>
                    <a:p>
                      <a:pPr marL="127000" algn="ctr">
                        <a:lnSpc>
                          <a:spcPct val="100000"/>
                        </a:lnSpc>
                        <a:spcBef>
                          <a:spcPts val="540"/>
                        </a:spcBef>
                      </a:pPr>
                      <a:r>
                        <a:rPr sz="1800" b="1" spc="-5" dirty="0">
                          <a:solidFill>
                            <a:srgbClr val="2C2C2C"/>
                          </a:solidFill>
                          <a:latin typeface="+mn-lt"/>
                          <a:cs typeface="Times New Roman"/>
                        </a:rPr>
                        <a:t>Unit-</a:t>
                      </a:r>
                      <a:r>
                        <a:rPr sz="1800" b="1" spc="-80" dirty="0">
                          <a:solidFill>
                            <a:srgbClr val="2C2C2C"/>
                          </a:solidFill>
                          <a:latin typeface="+mn-lt"/>
                          <a:cs typeface="Times New Roman"/>
                        </a:rPr>
                        <a:t> </a:t>
                      </a:r>
                      <a:r>
                        <a:rPr sz="1800" b="1" dirty="0">
                          <a:solidFill>
                            <a:srgbClr val="2C2C2C"/>
                          </a:solidFill>
                          <a:latin typeface="+mn-lt"/>
                          <a:cs typeface="Times New Roman"/>
                        </a:rPr>
                        <a:t>V</a:t>
                      </a:r>
                      <a:endParaRPr sz="1800" dirty="0">
                        <a:latin typeface="+mn-lt"/>
                        <a:cs typeface="Times New Roman"/>
                      </a:endParaRPr>
                    </a:p>
                  </a:txBody>
                  <a:tcPr marL="0" marR="0" marT="685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1620" algn="just">
                        <a:lnSpc>
                          <a:spcPct val="150000"/>
                        </a:lnSpc>
                        <a:spcBef>
                          <a:spcPts val="540"/>
                        </a:spcBef>
                      </a:pPr>
                      <a:r>
                        <a:rPr lang="en-US" sz="1800" b="1" dirty="0">
                          <a:solidFill>
                            <a:srgbClr val="FF0000"/>
                          </a:solidFill>
                          <a:latin typeface="+mn-lt"/>
                          <a:ea typeface="+mn-ea"/>
                          <a:cs typeface="+mn-cs"/>
                        </a:rPr>
                        <a:t>Introduction to Digital Fabrication : </a:t>
                      </a:r>
                      <a:r>
                        <a:rPr lang="en-US" sz="1800" dirty="0">
                          <a:solidFill>
                            <a:schemeClr val="tx1"/>
                          </a:solidFill>
                          <a:latin typeface="+mn-lt"/>
                          <a:ea typeface="+mn-ea"/>
                          <a:cs typeface="+mn-cs"/>
                        </a:rPr>
                        <a:t>Introduction, needs of digital manufacturing, prototype- types and roles, rapid prototyping (RPT)-fundamentals, phases, classification, process chain- modelling-data conversion-checking-building-</a:t>
                      </a:r>
                      <a:r>
                        <a:rPr lang="en-US" sz="1800" dirty="0" err="1">
                          <a:solidFill>
                            <a:schemeClr val="tx1"/>
                          </a:solidFill>
                          <a:latin typeface="+mn-lt"/>
                          <a:ea typeface="+mn-ea"/>
                          <a:cs typeface="+mn-cs"/>
                        </a:rPr>
                        <a:t>postprocessing</a:t>
                      </a:r>
                      <a:r>
                        <a:rPr lang="en-US" sz="1800" dirty="0">
                          <a:solidFill>
                            <a:schemeClr val="tx1"/>
                          </a:solidFill>
                          <a:latin typeface="+mn-lt"/>
                          <a:ea typeface="+mn-ea"/>
                          <a:cs typeface="+mn-cs"/>
                        </a:rPr>
                        <a:t>, advantages, conversion of 3D model to STL file, </a:t>
                      </a:r>
                      <a:r>
                        <a:rPr lang="en-US" sz="1800" dirty="0" err="1">
                          <a:solidFill>
                            <a:schemeClr val="tx1"/>
                          </a:solidFill>
                          <a:latin typeface="+mn-lt"/>
                          <a:ea typeface="+mn-ea"/>
                          <a:cs typeface="+mn-cs"/>
                        </a:rPr>
                        <a:t>handson</a:t>
                      </a:r>
                      <a:r>
                        <a:rPr lang="en-US" sz="1800" dirty="0">
                          <a:solidFill>
                            <a:schemeClr val="tx1"/>
                          </a:solidFill>
                          <a:latin typeface="+mn-lt"/>
                          <a:ea typeface="+mn-ea"/>
                          <a:cs typeface="+mn-cs"/>
                        </a:rPr>
                        <a:t>-practice on 2D and 3D drawings </a:t>
                      </a:r>
                      <a:endParaRPr sz="1800" dirty="0">
                        <a:solidFill>
                          <a:schemeClr val="tx1"/>
                        </a:solidFill>
                        <a:latin typeface="+mn-lt"/>
                        <a:ea typeface="+mn-ea"/>
                        <a:cs typeface="+mn-cs"/>
                      </a:endParaRPr>
                    </a:p>
                  </a:txBody>
                  <a:tcPr marL="0" marR="0" marT="6858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143106">
                <a:tc>
                  <a:txBody>
                    <a:bodyPr/>
                    <a:lstStyle/>
                    <a:p>
                      <a:pPr marL="127000" algn="ctr">
                        <a:lnSpc>
                          <a:spcPct val="100000"/>
                        </a:lnSpc>
                        <a:spcBef>
                          <a:spcPts val="405"/>
                        </a:spcBef>
                      </a:pPr>
                      <a:r>
                        <a:rPr sz="1800" b="1" spc="-5" dirty="0">
                          <a:solidFill>
                            <a:srgbClr val="2C2C2C"/>
                          </a:solidFill>
                          <a:latin typeface="+mn-lt"/>
                          <a:cs typeface="Times New Roman"/>
                        </a:rPr>
                        <a:t>Unit-</a:t>
                      </a:r>
                      <a:r>
                        <a:rPr sz="1800" b="1" spc="-80" dirty="0">
                          <a:solidFill>
                            <a:srgbClr val="2C2C2C"/>
                          </a:solidFill>
                          <a:latin typeface="+mn-lt"/>
                          <a:cs typeface="Times New Roman"/>
                        </a:rPr>
                        <a:t> </a:t>
                      </a:r>
                      <a:r>
                        <a:rPr sz="1800" b="1" spc="5" dirty="0">
                          <a:solidFill>
                            <a:srgbClr val="2C2C2C"/>
                          </a:solidFill>
                          <a:latin typeface="+mn-lt"/>
                          <a:cs typeface="Times New Roman"/>
                        </a:rPr>
                        <a:t>VI</a:t>
                      </a:r>
                      <a:endParaRPr sz="1800" dirty="0">
                        <a:latin typeface="+mn-lt"/>
                        <a:cs typeface="Times New Roman"/>
                      </a:endParaRPr>
                    </a:p>
                  </a:txBody>
                  <a:tcPr marL="0" marR="0" marT="5143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1620" algn="just">
                        <a:lnSpc>
                          <a:spcPct val="150000"/>
                        </a:lnSpc>
                        <a:spcBef>
                          <a:spcPts val="405"/>
                        </a:spcBef>
                      </a:pPr>
                      <a:r>
                        <a:rPr lang="en-IN" sz="1800" b="1" dirty="0">
                          <a:solidFill>
                            <a:srgbClr val="FF0000"/>
                          </a:solidFill>
                          <a:latin typeface="+mn-lt"/>
                          <a:ea typeface="+mn-ea"/>
                          <a:cs typeface="+mn-cs"/>
                        </a:rPr>
                        <a:t>Rapid Prototyping Systems : </a:t>
                      </a:r>
                      <a:r>
                        <a:rPr lang="en-IN" sz="1800" dirty="0">
                          <a:solidFill>
                            <a:schemeClr val="tx1"/>
                          </a:solidFill>
                          <a:latin typeface="+mn-lt"/>
                          <a:ea typeface="+mn-ea"/>
                          <a:cs typeface="+mn-cs"/>
                        </a:rPr>
                        <a:t>Liquid-based SLA- introduction, specifications, apparatus, process, photopolymers, </a:t>
                      </a:r>
                      <a:r>
                        <a:rPr lang="en-IN" sz="1800" dirty="0" err="1">
                          <a:solidFill>
                            <a:schemeClr val="tx1"/>
                          </a:solidFill>
                          <a:latin typeface="+mn-lt"/>
                          <a:ea typeface="+mn-ea"/>
                          <a:cs typeface="+mn-cs"/>
                        </a:rPr>
                        <a:t>photopolymerization</a:t>
                      </a:r>
                      <a:r>
                        <a:rPr lang="en-IN" sz="1800" dirty="0">
                          <a:solidFill>
                            <a:schemeClr val="tx1"/>
                          </a:solidFill>
                          <a:latin typeface="+mn-lt"/>
                          <a:ea typeface="+mn-ea"/>
                          <a:cs typeface="+mn-cs"/>
                        </a:rPr>
                        <a:t>, layering, applications, solid-based LOM- introduction, </a:t>
                      </a:r>
                      <a:r>
                        <a:rPr lang="en-IN" sz="1800" dirty="0" err="1">
                          <a:solidFill>
                            <a:schemeClr val="tx1"/>
                          </a:solidFill>
                          <a:latin typeface="+mn-lt"/>
                          <a:ea typeface="+mn-ea"/>
                          <a:cs typeface="+mn-cs"/>
                        </a:rPr>
                        <a:t>processpreprocessing</a:t>
                      </a:r>
                      <a:r>
                        <a:rPr lang="en-IN" sz="1800" dirty="0">
                          <a:solidFill>
                            <a:schemeClr val="tx1"/>
                          </a:solidFill>
                          <a:latin typeface="+mn-lt"/>
                          <a:ea typeface="+mn-ea"/>
                          <a:cs typeface="+mn-cs"/>
                        </a:rPr>
                        <a:t>-building-</a:t>
                      </a:r>
                      <a:r>
                        <a:rPr lang="en-IN" sz="1800" dirty="0" err="1">
                          <a:solidFill>
                            <a:schemeClr val="tx1"/>
                          </a:solidFill>
                          <a:latin typeface="+mn-lt"/>
                          <a:ea typeface="+mn-ea"/>
                          <a:cs typeface="+mn-cs"/>
                        </a:rPr>
                        <a:t>postprocessing</a:t>
                      </a:r>
                      <a:r>
                        <a:rPr lang="en-IN" sz="1800" dirty="0">
                          <a:solidFill>
                            <a:schemeClr val="tx1"/>
                          </a:solidFill>
                          <a:latin typeface="+mn-lt"/>
                          <a:ea typeface="+mn-ea"/>
                          <a:cs typeface="+mn-cs"/>
                        </a:rPr>
                        <a:t>, materials, principle, advantages, disadvantages, applications (RPT), powder-based SLS- process, SLS materials, principle (SLS), advantages (SLS), disadvantages (SLS), applications (SLS) </a:t>
                      </a:r>
                      <a:endParaRPr sz="1800" dirty="0">
                        <a:solidFill>
                          <a:schemeClr val="tx1"/>
                        </a:solidFill>
                        <a:latin typeface="+mn-lt"/>
                        <a:ea typeface="+mn-ea"/>
                        <a:cs typeface="+mn-cs"/>
                      </a:endParaRPr>
                    </a:p>
                  </a:txBody>
                  <a:tcPr marL="0" marR="0" marT="514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Box 3"/>
          <p:cNvSpPr txBox="1"/>
          <p:nvPr/>
        </p:nvSpPr>
        <p:spPr>
          <a:xfrm>
            <a:off x="609600" y="785167"/>
            <a:ext cx="1477712" cy="461665"/>
          </a:xfrm>
          <a:prstGeom prst="rect">
            <a:avLst/>
          </a:prstGeom>
          <a:noFill/>
        </p:spPr>
        <p:txBody>
          <a:bodyPr wrap="none" rtlCol="0">
            <a:spAutoFit/>
          </a:bodyPr>
          <a:lstStyle/>
          <a:p>
            <a:r>
              <a:rPr lang="en-US" sz="2400" b="1" dirty="0">
                <a:solidFill>
                  <a:schemeClr val="accent2"/>
                </a:solidFill>
              </a:rPr>
              <a:t>After MTE</a:t>
            </a:r>
            <a:endParaRPr lang="en-IN" b="1" dirty="0">
              <a:solidFill>
                <a:schemeClr val="accent2"/>
              </a:solidFill>
            </a:endParaRPr>
          </a:p>
        </p:txBody>
      </p:sp>
    </p:spTree>
    <p:extLst>
      <p:ext uri="{BB962C8B-B14F-4D97-AF65-F5344CB8AC3E}">
        <p14:creationId xmlns:p14="http://schemas.microsoft.com/office/powerpoint/2010/main" val="2678126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5778" y="1960372"/>
            <a:ext cx="7946880" cy="4150985"/>
          </a:xfrm>
          <a:prstGeom prst="rect">
            <a:avLst/>
          </a:prstGeom>
        </p:spPr>
      </p:pic>
      <p:sp>
        <p:nvSpPr>
          <p:cNvPr id="3" name="object 3"/>
          <p:cNvSpPr txBox="1">
            <a:spLocks noGrp="1"/>
          </p:cNvSpPr>
          <p:nvPr>
            <p:ph type="title"/>
          </p:nvPr>
        </p:nvSpPr>
        <p:spPr>
          <a:xfrm>
            <a:off x="1976120" y="306070"/>
            <a:ext cx="8435975" cy="696595"/>
          </a:xfrm>
          <a:prstGeom prst="rect">
            <a:avLst/>
          </a:prstGeom>
        </p:spPr>
        <p:txBody>
          <a:bodyPr vert="horz" wrap="square" lIns="0" tIns="12700" rIns="0" bIns="0" rtlCol="0">
            <a:spAutoFit/>
          </a:bodyPr>
          <a:lstStyle/>
          <a:p>
            <a:pPr marL="12700">
              <a:lnSpc>
                <a:spcPct val="100000"/>
              </a:lnSpc>
              <a:spcBef>
                <a:spcPts val="100"/>
              </a:spcBef>
            </a:pPr>
            <a:r>
              <a:rPr sz="4400" u="none" spc="-15" dirty="0">
                <a:solidFill>
                  <a:srgbClr val="000000"/>
                </a:solidFill>
              </a:rPr>
              <a:t>Introduction</a:t>
            </a:r>
            <a:r>
              <a:rPr sz="4400" u="none" spc="-65" dirty="0">
                <a:solidFill>
                  <a:srgbClr val="000000"/>
                </a:solidFill>
              </a:rPr>
              <a:t> </a:t>
            </a:r>
            <a:r>
              <a:rPr sz="4400" u="none" spc="-15" dirty="0">
                <a:solidFill>
                  <a:srgbClr val="000000"/>
                </a:solidFill>
              </a:rPr>
              <a:t>to</a:t>
            </a:r>
            <a:r>
              <a:rPr sz="4400" u="none" spc="-50" dirty="0">
                <a:solidFill>
                  <a:srgbClr val="000000"/>
                </a:solidFill>
              </a:rPr>
              <a:t> </a:t>
            </a:r>
            <a:r>
              <a:rPr sz="4400" u="none" dirty="0">
                <a:solidFill>
                  <a:srgbClr val="000000"/>
                </a:solidFill>
              </a:rPr>
              <a:t>Engineering</a:t>
            </a:r>
            <a:r>
              <a:rPr sz="4400" u="none" spc="-65" dirty="0">
                <a:solidFill>
                  <a:srgbClr val="000000"/>
                </a:solidFill>
              </a:rPr>
              <a:t> </a:t>
            </a:r>
            <a:r>
              <a:rPr sz="4400" u="none" spc="-25" dirty="0">
                <a:solidFill>
                  <a:srgbClr val="000000"/>
                </a:solidFill>
              </a:rPr>
              <a:t>Drawing</a:t>
            </a:r>
            <a:endParaRPr sz="4400"/>
          </a:p>
        </p:txBody>
      </p:sp>
      <p:pic>
        <p:nvPicPr>
          <p:cNvPr id="4" name="object 4"/>
          <p:cNvPicPr/>
          <p:nvPr/>
        </p:nvPicPr>
        <p:blipFill>
          <a:blip r:embed="rId3" cstate="print"/>
          <a:stretch>
            <a:fillRect/>
          </a:stretch>
        </p:blipFill>
        <p:spPr>
          <a:xfrm>
            <a:off x="582641" y="1390866"/>
            <a:ext cx="7011000" cy="2682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2048" y="1485100"/>
            <a:ext cx="7675467" cy="268245"/>
          </a:xfrm>
          <a:prstGeom prst="rect">
            <a:avLst/>
          </a:prstGeom>
        </p:spPr>
      </p:pic>
      <p:pic>
        <p:nvPicPr>
          <p:cNvPr id="3" name="object 3"/>
          <p:cNvPicPr/>
          <p:nvPr/>
        </p:nvPicPr>
        <p:blipFill>
          <a:blip r:embed="rId3" cstate="print"/>
          <a:stretch>
            <a:fillRect/>
          </a:stretch>
        </p:blipFill>
        <p:spPr>
          <a:xfrm>
            <a:off x="2619449" y="1960625"/>
            <a:ext cx="7163555" cy="4757097"/>
          </a:xfrm>
          <a:prstGeom prst="rect">
            <a:avLst/>
          </a:prstGeom>
        </p:spPr>
      </p:pic>
      <p:sp>
        <p:nvSpPr>
          <p:cNvPr id="4" name="object 4"/>
          <p:cNvSpPr txBox="1">
            <a:spLocks noGrp="1"/>
          </p:cNvSpPr>
          <p:nvPr>
            <p:ph type="title"/>
          </p:nvPr>
        </p:nvSpPr>
        <p:spPr>
          <a:xfrm>
            <a:off x="1976120" y="306070"/>
            <a:ext cx="8435975" cy="696595"/>
          </a:xfrm>
          <a:prstGeom prst="rect">
            <a:avLst/>
          </a:prstGeom>
        </p:spPr>
        <p:txBody>
          <a:bodyPr vert="horz" wrap="square" lIns="0" tIns="12700" rIns="0" bIns="0" rtlCol="0">
            <a:spAutoFit/>
          </a:bodyPr>
          <a:lstStyle/>
          <a:p>
            <a:pPr marL="12700">
              <a:lnSpc>
                <a:spcPct val="100000"/>
              </a:lnSpc>
              <a:spcBef>
                <a:spcPts val="100"/>
              </a:spcBef>
            </a:pPr>
            <a:r>
              <a:rPr sz="4400" u="none" spc="-15" dirty="0">
                <a:solidFill>
                  <a:srgbClr val="000000"/>
                </a:solidFill>
              </a:rPr>
              <a:t>Introduction</a:t>
            </a:r>
            <a:r>
              <a:rPr sz="4400" u="none" spc="-65" dirty="0">
                <a:solidFill>
                  <a:srgbClr val="000000"/>
                </a:solidFill>
              </a:rPr>
              <a:t> </a:t>
            </a:r>
            <a:r>
              <a:rPr sz="4400" u="none" spc="-15" dirty="0">
                <a:solidFill>
                  <a:srgbClr val="000000"/>
                </a:solidFill>
              </a:rPr>
              <a:t>to</a:t>
            </a:r>
            <a:r>
              <a:rPr sz="4400" u="none" spc="-50" dirty="0">
                <a:solidFill>
                  <a:srgbClr val="000000"/>
                </a:solidFill>
              </a:rPr>
              <a:t> </a:t>
            </a:r>
            <a:r>
              <a:rPr sz="4400" u="none" dirty="0">
                <a:solidFill>
                  <a:srgbClr val="000000"/>
                </a:solidFill>
              </a:rPr>
              <a:t>Engineering</a:t>
            </a:r>
            <a:r>
              <a:rPr sz="4400" u="none" spc="-65" dirty="0">
                <a:solidFill>
                  <a:srgbClr val="000000"/>
                </a:solidFill>
              </a:rPr>
              <a:t> </a:t>
            </a:r>
            <a:r>
              <a:rPr sz="4400" u="none" spc="-25" dirty="0">
                <a:solidFill>
                  <a:srgbClr val="000000"/>
                </a:solidFill>
              </a:rPr>
              <a:t>Drawing</a:t>
            </a:r>
            <a:endParaRPr sz="4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l="1012" t="760" r="1012" b="4871"/>
          <a:stretch/>
        </p:blipFill>
        <p:spPr>
          <a:xfrm>
            <a:off x="381000" y="676404"/>
            <a:ext cx="9982200" cy="5824603"/>
          </a:xfrm>
          <a:prstGeom prst="rect">
            <a:avLst/>
          </a:prstGeom>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AEAEA"/>
          </a:solidFill>
        </p:spPr>
        <p:txBody>
          <a:bodyPr wrap="square" lIns="0" tIns="0" rIns="0" bIns="0" rtlCol="0"/>
          <a:lstStyle/>
          <a:p>
            <a:endParaRPr/>
          </a:p>
        </p:txBody>
      </p:sp>
      <p:pic>
        <p:nvPicPr>
          <p:cNvPr id="6" name="object 6"/>
          <p:cNvPicPr/>
          <p:nvPr/>
        </p:nvPicPr>
        <p:blipFill rotWithShape="1">
          <a:blip r:embed="rId2" cstate="print"/>
          <a:srcRect l="6438" t="8562" r="7534" b="8126"/>
          <a:stretch/>
        </p:blipFill>
        <p:spPr>
          <a:xfrm>
            <a:off x="926925" y="726510"/>
            <a:ext cx="10350133" cy="5586608"/>
          </a:xfrm>
          <a:prstGeom prst="rect">
            <a:avLst/>
          </a:prstGeom>
        </p:spPr>
      </p:pic>
      <p:grpSp>
        <p:nvGrpSpPr>
          <p:cNvPr id="7" name="object 3"/>
          <p:cNvGrpSpPr/>
          <p:nvPr/>
        </p:nvGrpSpPr>
        <p:grpSpPr>
          <a:xfrm>
            <a:off x="10400124" y="152400"/>
            <a:ext cx="1753870" cy="810260"/>
            <a:chOff x="10439463" y="9944"/>
            <a:chExt cx="1753870" cy="810260"/>
          </a:xfrm>
        </p:grpSpPr>
        <p:pic>
          <p:nvPicPr>
            <p:cNvPr id="8" name="object 4"/>
            <p:cNvPicPr/>
            <p:nvPr/>
          </p:nvPicPr>
          <p:blipFill>
            <a:blip r:embed="rId3" cstate="print"/>
            <a:stretch>
              <a:fillRect/>
            </a:stretch>
          </p:blipFill>
          <p:spPr>
            <a:xfrm>
              <a:off x="10448925" y="19405"/>
              <a:ext cx="1734566" cy="790854"/>
            </a:xfrm>
            <a:prstGeom prst="rect">
              <a:avLst/>
            </a:prstGeom>
          </p:spPr>
        </p:pic>
        <p:sp>
          <p:nvSpPr>
            <p:cNvPr id="9" name="object 5"/>
            <p:cNvSpPr/>
            <p:nvPr/>
          </p:nvSpPr>
          <p:spPr>
            <a:xfrm>
              <a:off x="10444226" y="14706"/>
              <a:ext cx="1744345" cy="800735"/>
            </a:xfrm>
            <a:custGeom>
              <a:avLst/>
              <a:gdLst/>
              <a:ahLst/>
              <a:cxnLst/>
              <a:rect l="l" t="t" r="r" b="b"/>
              <a:pathLst>
                <a:path w="1744345" h="800735">
                  <a:moveTo>
                    <a:pt x="0" y="800379"/>
                  </a:moveTo>
                  <a:lnTo>
                    <a:pt x="1744091" y="800379"/>
                  </a:lnTo>
                  <a:lnTo>
                    <a:pt x="1744091" y="0"/>
                  </a:lnTo>
                  <a:lnTo>
                    <a:pt x="0" y="0"/>
                  </a:lnTo>
                  <a:lnTo>
                    <a:pt x="0" y="800379"/>
                  </a:lnTo>
                  <a:close/>
                </a:path>
              </a:pathLst>
            </a:custGeom>
            <a:ln w="9525">
              <a:solidFill>
                <a:srgbClr val="2C2C2C"/>
              </a:solidFill>
            </a:ln>
          </p:spPr>
          <p:txBody>
            <a:bodyPr wrap="square" lIns="0" tIns="0" rIns="0" bIns="0" rtlCol="0"/>
            <a:lstStyle/>
            <a:p>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457200"/>
            <a:ext cx="9372600" cy="838200"/>
          </a:xfrm>
        </p:spPr>
        <p:txBody>
          <a:bodyPr/>
          <a:lstStyle/>
          <a:p>
            <a:r>
              <a:rPr lang="en-US" dirty="0">
                <a:solidFill>
                  <a:schemeClr val="tx1"/>
                </a:solidFill>
              </a:rPr>
              <a:t>Unit 1: </a:t>
            </a:r>
            <a:r>
              <a:rPr lang="en-IN" dirty="0">
                <a:solidFill>
                  <a:schemeClr val="tx1"/>
                </a:solidFill>
                <a:cs typeface="Times New Roman" panose="02020603050405020304" pitchFamily="18" charset="0"/>
              </a:rPr>
              <a:t>Introduction to Engineering Drawing</a:t>
            </a:r>
            <a:endParaRPr lang="en-IN" dirty="0">
              <a:solidFill>
                <a:schemeClr val="tx1"/>
              </a:solidFill>
            </a:endParaRPr>
          </a:p>
        </p:txBody>
      </p:sp>
      <p:sp>
        <p:nvSpPr>
          <p:cNvPr id="3" name="Text Placeholder 2"/>
          <p:cNvSpPr>
            <a:spLocks noGrp="1"/>
          </p:cNvSpPr>
          <p:nvPr>
            <p:ph type="body" idx="1"/>
          </p:nvPr>
        </p:nvSpPr>
        <p:spPr>
          <a:xfrm>
            <a:off x="806245" y="1295400"/>
            <a:ext cx="8492490" cy="2308324"/>
          </a:xfrm>
        </p:spPr>
        <p:txBody>
          <a:bodyPr/>
          <a:lstStyle/>
          <a:p>
            <a:pPr marL="285750" indent="-285750">
              <a:lnSpc>
                <a:spcPct val="150000"/>
              </a:lnSpc>
              <a:buFont typeface="Arial" panose="020B0604020202020204" pitchFamily="34" charset="0"/>
              <a:buChar char="•"/>
            </a:pPr>
            <a:r>
              <a:rPr lang="en-IN" sz="2000" dirty="0">
                <a:cs typeface="Times New Roman" panose="02020603050405020304" pitchFamily="18" charset="0"/>
              </a:rPr>
              <a:t>Conceptual framework of drawing instruments</a:t>
            </a:r>
          </a:p>
          <a:p>
            <a:pPr marL="285750" indent="-285750">
              <a:lnSpc>
                <a:spcPct val="150000"/>
              </a:lnSpc>
              <a:buFont typeface="Arial" panose="020B0604020202020204" pitchFamily="34" charset="0"/>
              <a:buChar char="•"/>
            </a:pPr>
            <a:r>
              <a:rPr lang="en-IN" sz="2000" dirty="0">
                <a:cs typeface="Times New Roman" panose="02020603050405020304" pitchFamily="18" charset="0"/>
              </a:rPr>
              <a:t>Line types, dimensioning</a:t>
            </a:r>
          </a:p>
          <a:p>
            <a:pPr marL="285750" indent="-285750">
              <a:lnSpc>
                <a:spcPct val="150000"/>
              </a:lnSpc>
              <a:buFont typeface="Arial" panose="020B0604020202020204" pitchFamily="34" charset="0"/>
              <a:buChar char="•"/>
            </a:pPr>
            <a:r>
              <a:rPr lang="en-IN" sz="2000" dirty="0">
                <a:cs typeface="Times New Roman" panose="02020603050405020304" pitchFamily="18" charset="0"/>
              </a:rPr>
              <a:t>Single stroke vertical gothic letter writing, </a:t>
            </a:r>
          </a:p>
          <a:p>
            <a:pPr marL="285750" indent="-285750">
              <a:lnSpc>
                <a:spcPct val="150000"/>
              </a:lnSpc>
              <a:buFont typeface="Arial" panose="020B0604020202020204" pitchFamily="34" charset="0"/>
              <a:buChar char="•"/>
            </a:pPr>
            <a:r>
              <a:rPr lang="en-IN" sz="2000" dirty="0">
                <a:cs typeface="Times New Roman" panose="02020603050405020304" pitchFamily="18" charset="0"/>
              </a:rPr>
              <a:t>Scales-plain and diagonal, </a:t>
            </a:r>
          </a:p>
          <a:p>
            <a:pPr marL="285750" indent="-285750">
              <a:lnSpc>
                <a:spcPct val="150000"/>
              </a:lnSpc>
              <a:buFont typeface="Arial" panose="020B0604020202020204" pitchFamily="34" charset="0"/>
              <a:buChar char="•"/>
            </a:pPr>
            <a:r>
              <a:rPr lang="en-IN" sz="2000" dirty="0">
                <a:cs typeface="Times New Roman" panose="02020603050405020304" pitchFamily="18" charset="0"/>
              </a:rPr>
              <a:t>Introduction to AutoCAD interface</a:t>
            </a:r>
            <a:endParaRPr lang="en-IN" sz="20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4300" y="1876298"/>
            <a:ext cx="2804243" cy="1879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A.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4336226"/>
            <a:ext cx="143827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1905"/>
          <a:stretch/>
        </p:blipFill>
        <p:spPr bwMode="auto">
          <a:xfrm>
            <a:off x="381000" y="4316201"/>
            <a:ext cx="3528369"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5"/>
          <a:stretch>
            <a:fillRect/>
          </a:stretch>
        </p:blipFill>
        <p:spPr>
          <a:xfrm>
            <a:off x="4440748" y="4682712"/>
            <a:ext cx="2027104" cy="1219200"/>
          </a:xfrm>
          <a:prstGeom prst="rect">
            <a:avLst/>
          </a:prstGeom>
        </p:spPr>
      </p:pic>
      <p:pic>
        <p:nvPicPr>
          <p:cNvPr id="2050" name="Picture 2" descr="Online/Cloud-based Autodesk Autocad Software, For Windows, Free Demo/Trial  Availabl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34400" y="1500849"/>
            <a:ext cx="3399844" cy="191217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34400" y="3809173"/>
            <a:ext cx="3429000" cy="231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658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457200"/>
            <a:ext cx="9372600" cy="615553"/>
          </a:xfrm>
        </p:spPr>
        <p:txBody>
          <a:bodyPr/>
          <a:lstStyle/>
          <a:p>
            <a:r>
              <a:rPr lang="en-US" dirty="0">
                <a:solidFill>
                  <a:schemeClr val="tx1"/>
                </a:solidFill>
              </a:rPr>
              <a:t>Unit 2: </a:t>
            </a:r>
            <a:r>
              <a:rPr lang="en-US" dirty="0">
                <a:solidFill>
                  <a:schemeClr val="tx1"/>
                </a:solidFill>
                <a:cs typeface="Times New Roman" panose="02020603050405020304" pitchFamily="18" charset="0"/>
              </a:rPr>
              <a:t>Projection of Points and Lines </a:t>
            </a:r>
            <a:endParaRPr lang="en-IN" dirty="0">
              <a:solidFill>
                <a:schemeClr val="tx1"/>
              </a:solidFill>
            </a:endParaRPr>
          </a:p>
        </p:txBody>
      </p:sp>
      <p:sp>
        <p:nvSpPr>
          <p:cNvPr id="8" name="Text Placeholder 7"/>
          <p:cNvSpPr>
            <a:spLocks noGrp="1"/>
          </p:cNvSpPr>
          <p:nvPr>
            <p:ph type="body" idx="1"/>
          </p:nvPr>
        </p:nvSpPr>
        <p:spPr>
          <a:xfrm>
            <a:off x="990600" y="1295400"/>
            <a:ext cx="5415116" cy="1846659"/>
          </a:xfrm>
        </p:spPr>
        <p:txBody>
          <a:bodyPr/>
          <a:lstStyle/>
          <a:p>
            <a:pPr marL="355600" indent="-342900">
              <a:lnSpc>
                <a:spcPct val="200000"/>
              </a:lnSpc>
              <a:buFont typeface="Arial" panose="020B0604020202020204" pitchFamily="34" charset="0"/>
              <a:buChar char="•"/>
              <a:tabLst>
                <a:tab pos="354965" algn="l"/>
                <a:tab pos="355600" algn="l"/>
              </a:tabLst>
            </a:pPr>
            <a:r>
              <a:rPr lang="en-IN" sz="2000" dirty="0">
                <a:solidFill>
                  <a:srgbClr val="2C2C2C"/>
                </a:solidFill>
                <a:latin typeface="Times New Roman"/>
                <a:cs typeface="Times New Roman"/>
              </a:rPr>
              <a:t>Principles</a:t>
            </a:r>
            <a:r>
              <a:rPr lang="en-IN" sz="2000" spc="-40" dirty="0">
                <a:solidFill>
                  <a:srgbClr val="2C2C2C"/>
                </a:solidFill>
                <a:latin typeface="Times New Roman"/>
                <a:cs typeface="Times New Roman"/>
              </a:rPr>
              <a:t> </a:t>
            </a:r>
            <a:r>
              <a:rPr lang="en-IN" sz="2000" dirty="0">
                <a:solidFill>
                  <a:srgbClr val="2C2C2C"/>
                </a:solidFill>
                <a:latin typeface="Times New Roman"/>
                <a:cs typeface="Times New Roman"/>
              </a:rPr>
              <a:t>of</a:t>
            </a:r>
            <a:r>
              <a:rPr lang="en-IN" sz="2000" spc="-15" dirty="0">
                <a:solidFill>
                  <a:srgbClr val="2C2C2C"/>
                </a:solidFill>
                <a:latin typeface="Times New Roman"/>
                <a:cs typeface="Times New Roman"/>
              </a:rPr>
              <a:t> </a:t>
            </a:r>
            <a:r>
              <a:rPr lang="en-IN" sz="2000" dirty="0">
                <a:solidFill>
                  <a:srgbClr val="2C2C2C"/>
                </a:solidFill>
                <a:latin typeface="Times New Roman"/>
                <a:cs typeface="Times New Roman"/>
              </a:rPr>
              <a:t>orthographic</a:t>
            </a:r>
            <a:r>
              <a:rPr lang="en-IN" sz="2000" spc="-15" dirty="0">
                <a:solidFill>
                  <a:srgbClr val="2C2C2C"/>
                </a:solidFill>
                <a:latin typeface="Times New Roman"/>
                <a:cs typeface="Times New Roman"/>
              </a:rPr>
              <a:t> </a:t>
            </a:r>
            <a:r>
              <a:rPr lang="en-IN" sz="2000" dirty="0">
                <a:solidFill>
                  <a:srgbClr val="2C2C2C"/>
                </a:solidFill>
                <a:latin typeface="Times New Roman"/>
                <a:cs typeface="Times New Roman"/>
              </a:rPr>
              <a:t>projections</a:t>
            </a:r>
            <a:endParaRPr lang="en-IN" sz="2000" dirty="0">
              <a:latin typeface="Times New Roman"/>
              <a:cs typeface="Times New Roman"/>
            </a:endParaRPr>
          </a:p>
          <a:p>
            <a:pPr marL="342900" indent="-342900">
              <a:lnSpc>
                <a:spcPct val="200000"/>
              </a:lnSpc>
              <a:buFont typeface="Arial" panose="020B0604020202020204" pitchFamily="34" charset="0"/>
              <a:buChar char="•"/>
            </a:pPr>
            <a:r>
              <a:rPr lang="en-US" sz="2000" dirty="0">
                <a:cs typeface="Times New Roman" panose="02020603050405020304" pitchFamily="18" charset="0"/>
              </a:rPr>
              <a:t>Projection of points and lines</a:t>
            </a:r>
          </a:p>
          <a:p>
            <a:pPr marL="342900" indent="-342900">
              <a:lnSpc>
                <a:spcPct val="200000"/>
              </a:lnSpc>
              <a:buFont typeface="Arial" panose="020B0604020202020204" pitchFamily="34" charset="0"/>
              <a:buChar char="•"/>
            </a:pPr>
            <a:r>
              <a:rPr lang="en-US" sz="2000" dirty="0">
                <a:cs typeface="Times New Roman" panose="02020603050405020304" pitchFamily="18" charset="0"/>
              </a:rPr>
              <a:t>AutoCAD- basic commands</a:t>
            </a:r>
            <a:endParaRPr lang="en-IN" dirty="0"/>
          </a:p>
        </p:txBody>
      </p:sp>
      <p:pic>
        <p:nvPicPr>
          <p:cNvPr id="3074" name="Picture 2" descr="CADforYOU: Theories of Projec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103493"/>
            <a:ext cx="4495800" cy="237350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ʙʀᴇᴇzʏ🐾 on Twitter: &quot;Life is about perspective. You might think you're a  lion... but to some people, you're a dick https://t.co/8VyEBYPaN5&quot; / X"/>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6200" y="1053088"/>
            <a:ext cx="3776935" cy="3036505"/>
          </a:xfrm>
          <a:prstGeom prst="rect">
            <a:avLst/>
          </a:prstGeom>
          <a:noFill/>
          <a:extLst>
            <a:ext uri="{909E8E84-426E-40DD-AFC4-6F175D3DCCD1}">
              <a14:hiddenFill xmlns:a14="http://schemas.microsoft.com/office/drawing/2010/main">
                <a:solidFill>
                  <a:srgbClr val="FFFFFF"/>
                </a:solidFill>
              </a14:hiddenFill>
            </a:ext>
          </a:extLst>
        </p:spPr>
      </p:pic>
      <p:pic>
        <p:nvPicPr>
          <p:cNvPr id="12" name="object 2"/>
          <p:cNvPicPr/>
          <p:nvPr/>
        </p:nvPicPr>
        <p:blipFill>
          <a:blip r:embed="rId4" cstate="print"/>
          <a:stretch>
            <a:fillRect/>
          </a:stretch>
        </p:blipFill>
        <p:spPr>
          <a:xfrm>
            <a:off x="6405716" y="4223446"/>
            <a:ext cx="5243239" cy="2133600"/>
          </a:xfrm>
          <a:prstGeom prst="rect">
            <a:avLst/>
          </a:prstGeom>
        </p:spPr>
      </p:pic>
    </p:spTree>
    <p:extLst>
      <p:ext uri="{BB962C8B-B14F-4D97-AF65-F5344CB8AC3E}">
        <p14:creationId xmlns:p14="http://schemas.microsoft.com/office/powerpoint/2010/main" val="3389666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457200"/>
            <a:ext cx="9372600" cy="615553"/>
          </a:xfrm>
        </p:spPr>
        <p:txBody>
          <a:bodyPr/>
          <a:lstStyle/>
          <a:p>
            <a:r>
              <a:rPr lang="en-US" dirty="0">
                <a:solidFill>
                  <a:schemeClr val="tx1"/>
                </a:solidFill>
              </a:rPr>
              <a:t>Unit 3: </a:t>
            </a:r>
            <a:r>
              <a:rPr lang="en-US" dirty="0">
                <a:solidFill>
                  <a:schemeClr val="tx1"/>
                </a:solidFill>
                <a:cs typeface="Times New Roman" panose="02020603050405020304" pitchFamily="18" charset="0"/>
              </a:rPr>
              <a:t>Orthographic and Sectional Views </a:t>
            </a:r>
            <a:endParaRPr lang="en-IN" dirty="0">
              <a:solidFill>
                <a:schemeClr val="tx1"/>
              </a:solidFill>
            </a:endParaRPr>
          </a:p>
        </p:txBody>
      </p:sp>
      <p:sp>
        <p:nvSpPr>
          <p:cNvPr id="8" name="Text Placeholder 7"/>
          <p:cNvSpPr>
            <a:spLocks noGrp="1"/>
          </p:cNvSpPr>
          <p:nvPr>
            <p:ph type="body" idx="1"/>
          </p:nvPr>
        </p:nvSpPr>
        <p:spPr>
          <a:xfrm>
            <a:off x="990600" y="1295400"/>
            <a:ext cx="10591800" cy="1846659"/>
          </a:xfrm>
        </p:spPr>
        <p:txBody>
          <a:bodyPr/>
          <a:lstStyle/>
          <a:p>
            <a:pPr marL="355600" indent="-342900">
              <a:lnSpc>
                <a:spcPct val="200000"/>
              </a:lnSpc>
              <a:buFont typeface="Arial" panose="020B0604020202020204" pitchFamily="34" charset="0"/>
              <a:buChar char="•"/>
              <a:tabLst>
                <a:tab pos="354965" algn="l"/>
                <a:tab pos="355600" algn="l"/>
              </a:tabLst>
            </a:pPr>
            <a:r>
              <a:rPr lang="en-US" sz="2000" dirty="0">
                <a:cs typeface="Times New Roman" panose="02020603050405020304" pitchFamily="18" charset="0"/>
              </a:rPr>
              <a:t>Introduction, principles, importance, orthographic views</a:t>
            </a:r>
          </a:p>
          <a:p>
            <a:pPr marL="355600" indent="-342900">
              <a:lnSpc>
                <a:spcPct val="200000"/>
              </a:lnSpc>
              <a:buFont typeface="Arial" panose="020B0604020202020204" pitchFamily="34" charset="0"/>
              <a:buChar char="•"/>
              <a:tabLst>
                <a:tab pos="354965" algn="l"/>
                <a:tab pos="355600" algn="l"/>
              </a:tabLst>
            </a:pPr>
            <a:r>
              <a:rPr lang="en-US" sz="2000" dirty="0">
                <a:cs typeface="Times New Roman" panose="02020603050405020304" pitchFamily="18" charset="0"/>
              </a:rPr>
              <a:t>Sectional views (full, half, and offset)</a:t>
            </a:r>
          </a:p>
          <a:p>
            <a:pPr marL="355600" indent="-342900">
              <a:lnSpc>
                <a:spcPct val="200000"/>
              </a:lnSpc>
              <a:buFont typeface="Arial" panose="020B0604020202020204" pitchFamily="34" charset="0"/>
              <a:buChar char="•"/>
              <a:tabLst>
                <a:tab pos="354965" algn="l"/>
                <a:tab pos="355600" algn="l"/>
              </a:tabLst>
            </a:pPr>
            <a:r>
              <a:rPr lang="en-US" sz="2000" dirty="0">
                <a:cs typeface="Times New Roman" panose="02020603050405020304" pitchFamily="18" charset="0"/>
              </a:rPr>
              <a:t>AutoCAD commands for 2D</a:t>
            </a:r>
            <a:endParaRPr lang="en-IN" dirty="0"/>
          </a:p>
        </p:txBody>
      </p:sp>
      <p:pic>
        <p:nvPicPr>
          <p:cNvPr id="4098" name="Picture 2" descr="DANotes: Motors: Load and motor characteris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4297" y="1315064"/>
            <a:ext cx="3991110" cy="2799735"/>
          </a:xfrm>
          <a:prstGeom prst="rect">
            <a:avLst/>
          </a:prstGeom>
          <a:noFill/>
          <a:extLst>
            <a:ext uri="{909E8E84-426E-40DD-AFC4-6F175D3DCCD1}">
              <a14:hiddenFill xmlns:a14="http://schemas.microsoft.com/office/drawing/2010/main">
                <a:solidFill>
                  <a:srgbClr val="FFFFFF"/>
                </a:solidFill>
              </a14:hiddenFill>
            </a:ext>
          </a:extLst>
        </p:spPr>
      </p:pic>
      <p:pic>
        <p:nvPicPr>
          <p:cNvPr id="9" name="object 6"/>
          <p:cNvPicPr/>
          <p:nvPr/>
        </p:nvPicPr>
        <p:blipFill>
          <a:blip r:embed="rId3" cstate="print"/>
          <a:stretch>
            <a:fillRect/>
          </a:stretch>
        </p:blipFill>
        <p:spPr>
          <a:xfrm>
            <a:off x="7455841" y="4134463"/>
            <a:ext cx="4126559" cy="2517371"/>
          </a:xfrm>
          <a:prstGeom prst="rect">
            <a:avLst/>
          </a:prstGeom>
        </p:spPr>
      </p:pic>
      <p:pic>
        <p:nvPicPr>
          <p:cNvPr id="4100" name="Picture 4" descr="A Guide to Section Drawing | The TMG Blo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114799"/>
            <a:ext cx="3925222" cy="2428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560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11277600" cy="857864"/>
          </a:xfrm>
        </p:spPr>
        <p:txBody>
          <a:bodyPr/>
          <a:lstStyle/>
          <a:p>
            <a:r>
              <a:rPr lang="en-US" dirty="0">
                <a:solidFill>
                  <a:schemeClr val="tx1"/>
                </a:solidFill>
              </a:rPr>
              <a:t>Unit 4: </a:t>
            </a:r>
            <a:r>
              <a:rPr lang="en-IN" dirty="0">
                <a:solidFill>
                  <a:schemeClr val="tx1"/>
                </a:solidFill>
              </a:rPr>
              <a:t>Isometric Views and Development of Surfaces </a:t>
            </a:r>
          </a:p>
        </p:txBody>
      </p:sp>
      <p:sp>
        <p:nvSpPr>
          <p:cNvPr id="8" name="Text Placeholder 7"/>
          <p:cNvSpPr>
            <a:spLocks noGrp="1"/>
          </p:cNvSpPr>
          <p:nvPr>
            <p:ph type="body" idx="1"/>
          </p:nvPr>
        </p:nvSpPr>
        <p:spPr>
          <a:xfrm>
            <a:off x="609600" y="1315065"/>
            <a:ext cx="10591800" cy="3077766"/>
          </a:xfrm>
        </p:spPr>
        <p:txBody>
          <a:bodyPr/>
          <a:lstStyle/>
          <a:p>
            <a:pPr marL="355600" indent="-342900">
              <a:lnSpc>
                <a:spcPct val="200000"/>
              </a:lnSpc>
              <a:buFont typeface="Arial" panose="020B0604020202020204" pitchFamily="34" charset="0"/>
              <a:buChar char="•"/>
              <a:tabLst>
                <a:tab pos="354965" algn="l"/>
                <a:tab pos="355600" algn="l"/>
              </a:tabLst>
            </a:pPr>
            <a:r>
              <a:rPr lang="en-IN" sz="2000" dirty="0"/>
              <a:t>Introduction isometric projection, terminology</a:t>
            </a:r>
          </a:p>
          <a:p>
            <a:pPr marL="355600" indent="-342900">
              <a:lnSpc>
                <a:spcPct val="200000"/>
              </a:lnSpc>
              <a:buFont typeface="Arial" panose="020B0604020202020204" pitchFamily="34" charset="0"/>
              <a:buChar char="•"/>
              <a:tabLst>
                <a:tab pos="354965" algn="l"/>
                <a:tab pos="355600" algn="l"/>
              </a:tabLst>
            </a:pPr>
            <a:r>
              <a:rPr lang="en-IN" sz="2000" dirty="0"/>
              <a:t>Isometric scale, isometric views of prisms and pyramids</a:t>
            </a:r>
          </a:p>
          <a:p>
            <a:pPr marL="355600" indent="-342900">
              <a:lnSpc>
                <a:spcPct val="200000"/>
              </a:lnSpc>
              <a:buFont typeface="Arial" panose="020B0604020202020204" pitchFamily="34" charset="0"/>
              <a:buChar char="•"/>
              <a:tabLst>
                <a:tab pos="354965" algn="l"/>
                <a:tab pos="355600" algn="l"/>
              </a:tabLst>
            </a:pPr>
            <a:r>
              <a:rPr lang="en-IN" sz="2000" dirty="0"/>
              <a:t>Introduction to surface development</a:t>
            </a:r>
          </a:p>
          <a:p>
            <a:pPr marL="355600" indent="-342900">
              <a:lnSpc>
                <a:spcPct val="200000"/>
              </a:lnSpc>
              <a:buFont typeface="Arial" panose="020B0604020202020204" pitchFamily="34" charset="0"/>
              <a:buChar char="•"/>
              <a:tabLst>
                <a:tab pos="354965" algn="l"/>
                <a:tab pos="355600" algn="l"/>
              </a:tabLst>
            </a:pPr>
            <a:r>
              <a:rPr lang="en-IN" sz="2000" dirty="0"/>
              <a:t>Surface development of cylinder, prisms, cone and pyramids</a:t>
            </a:r>
          </a:p>
          <a:p>
            <a:pPr marL="355600" indent="-342900">
              <a:lnSpc>
                <a:spcPct val="200000"/>
              </a:lnSpc>
              <a:buFont typeface="Arial" panose="020B0604020202020204" pitchFamily="34" charset="0"/>
              <a:buChar char="•"/>
              <a:tabLst>
                <a:tab pos="354965" algn="l"/>
                <a:tab pos="355600" algn="l"/>
              </a:tabLst>
            </a:pPr>
            <a:r>
              <a:rPr lang="en-IN" sz="2000" dirty="0"/>
              <a:t>3D modelling on AutoCAD</a:t>
            </a:r>
            <a:endParaRPr lang="en-IN" dirty="0"/>
          </a:p>
        </p:txBody>
      </p:sp>
      <p:pic>
        <p:nvPicPr>
          <p:cNvPr id="7" name="Picture 3" descr="C:\Users\mmm\Desktop\images\Old_Building_by_daporta.p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1143000"/>
            <a:ext cx="2819400" cy="3044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397747"/>
            <a:ext cx="4211637" cy="2135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 name="Picture 2" descr="Duct Designing in HVAC System : Pharmaguidel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4392831"/>
            <a:ext cx="3706922" cy="214039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Definition of isometric view | PCMa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44085" y="4466842"/>
            <a:ext cx="2850492" cy="1781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791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11277600" cy="615553"/>
          </a:xfrm>
        </p:spPr>
        <p:txBody>
          <a:bodyPr/>
          <a:lstStyle/>
          <a:p>
            <a:r>
              <a:rPr lang="en-US" dirty="0">
                <a:solidFill>
                  <a:schemeClr val="tx1"/>
                </a:solidFill>
              </a:rPr>
              <a:t>Unit 5: Introduction to Digital Fabrication</a:t>
            </a:r>
            <a:endParaRPr lang="en-IN" dirty="0">
              <a:solidFill>
                <a:schemeClr val="tx1"/>
              </a:solidFill>
            </a:endParaRPr>
          </a:p>
        </p:txBody>
      </p:sp>
      <p:sp>
        <p:nvSpPr>
          <p:cNvPr id="8" name="Text Placeholder 7"/>
          <p:cNvSpPr>
            <a:spLocks noGrp="1"/>
          </p:cNvSpPr>
          <p:nvPr>
            <p:ph type="body" idx="1"/>
          </p:nvPr>
        </p:nvSpPr>
        <p:spPr>
          <a:xfrm>
            <a:off x="609600" y="1315065"/>
            <a:ext cx="10591800" cy="2154436"/>
          </a:xfrm>
        </p:spPr>
        <p:txBody>
          <a:bodyPr/>
          <a:lstStyle/>
          <a:p>
            <a:pPr marL="355600" indent="-342900">
              <a:lnSpc>
                <a:spcPct val="100000"/>
              </a:lnSpc>
              <a:spcBef>
                <a:spcPts val="100"/>
              </a:spcBef>
              <a:buFont typeface="Arial" panose="020B0604020202020204" pitchFamily="34" charset="0"/>
              <a:buChar char="•"/>
              <a:tabLst>
                <a:tab pos="354965" algn="l"/>
                <a:tab pos="355600" algn="l"/>
              </a:tabLst>
            </a:pPr>
            <a:r>
              <a:rPr lang="en-US" sz="2000" dirty="0"/>
              <a:t>Need of digital manufacturing</a:t>
            </a:r>
          </a:p>
          <a:p>
            <a:pPr marL="342900" indent="-342900">
              <a:lnSpc>
                <a:spcPct val="100000"/>
              </a:lnSpc>
              <a:spcBef>
                <a:spcPts val="35"/>
              </a:spcBef>
              <a:buClr>
                <a:srgbClr val="2C2C2C"/>
              </a:buClr>
              <a:buFont typeface="Arial" panose="020B0604020202020204" pitchFamily="34" charset="0"/>
              <a:buChar char="•"/>
            </a:pPr>
            <a:endParaRPr lang="en-US" sz="2000" dirty="0"/>
          </a:p>
          <a:p>
            <a:pPr marL="355600" indent="-342900">
              <a:lnSpc>
                <a:spcPct val="100000"/>
              </a:lnSpc>
              <a:buFont typeface="Arial" panose="020B0604020202020204" pitchFamily="34" charset="0"/>
              <a:buChar char="•"/>
              <a:tabLst>
                <a:tab pos="354965" algn="l"/>
                <a:tab pos="355600" algn="l"/>
              </a:tabLst>
            </a:pPr>
            <a:r>
              <a:rPr lang="en-US" sz="2000" dirty="0"/>
              <a:t>Prototype, types and roles of prototypes</a:t>
            </a:r>
          </a:p>
          <a:p>
            <a:pPr marL="342900" indent="-342900">
              <a:lnSpc>
                <a:spcPct val="100000"/>
              </a:lnSpc>
              <a:spcBef>
                <a:spcPts val="40"/>
              </a:spcBef>
              <a:buClr>
                <a:srgbClr val="2C2C2C"/>
              </a:buClr>
              <a:buFont typeface="Arial" panose="020B0604020202020204" pitchFamily="34" charset="0"/>
              <a:buChar char="•"/>
            </a:pPr>
            <a:endParaRPr lang="en-US" sz="2000" dirty="0"/>
          </a:p>
          <a:p>
            <a:pPr marL="355600" indent="-342900">
              <a:lnSpc>
                <a:spcPct val="100000"/>
              </a:lnSpc>
              <a:buFont typeface="Arial" panose="020B0604020202020204" pitchFamily="34" charset="0"/>
              <a:buChar char="•"/>
              <a:tabLst>
                <a:tab pos="354965" algn="l"/>
                <a:tab pos="355600" algn="l"/>
              </a:tabLst>
            </a:pPr>
            <a:r>
              <a:rPr lang="en-US" sz="2000" dirty="0"/>
              <a:t>Rapid Prototyping (RPT), phases of RPT, fundamentals of RPT, advantages,</a:t>
            </a:r>
          </a:p>
          <a:p>
            <a:pPr marL="342900" indent="-342900">
              <a:lnSpc>
                <a:spcPct val="100000"/>
              </a:lnSpc>
              <a:spcBef>
                <a:spcPts val="40"/>
              </a:spcBef>
              <a:buClr>
                <a:srgbClr val="2C2C2C"/>
              </a:buClr>
              <a:buFont typeface="Arial" panose="020B0604020202020204" pitchFamily="34" charset="0"/>
              <a:buChar char="•"/>
            </a:pPr>
            <a:endParaRPr lang="en-US" sz="2000" dirty="0"/>
          </a:p>
          <a:p>
            <a:pPr marL="355600" indent="-342900">
              <a:lnSpc>
                <a:spcPct val="100000"/>
              </a:lnSpc>
              <a:buFont typeface="Arial" panose="020B0604020202020204" pitchFamily="34" charset="0"/>
              <a:buChar char="•"/>
              <a:tabLst>
                <a:tab pos="354965" algn="l"/>
                <a:tab pos="355600" algn="l"/>
              </a:tabLst>
            </a:pPr>
            <a:r>
              <a:rPr lang="en-US" sz="2000" dirty="0"/>
              <a:t>Practice of 2D and 3D </a:t>
            </a:r>
            <a:r>
              <a:rPr lang="en-US" sz="2000" dirty="0" err="1"/>
              <a:t>modelling</a:t>
            </a:r>
            <a:r>
              <a:rPr lang="en-US" sz="2000" dirty="0"/>
              <a:t> on AutoCAD</a:t>
            </a:r>
          </a:p>
        </p:txBody>
      </p:sp>
      <p:pic>
        <p:nvPicPr>
          <p:cNvPr id="9" name="Picture 8"/>
          <p:cNvPicPr>
            <a:picLocks noChangeAspect="1"/>
          </p:cNvPicPr>
          <p:nvPr/>
        </p:nvPicPr>
        <p:blipFill>
          <a:blip r:embed="rId2"/>
          <a:stretch>
            <a:fillRect/>
          </a:stretch>
        </p:blipFill>
        <p:spPr>
          <a:xfrm>
            <a:off x="838200" y="3711812"/>
            <a:ext cx="4529138" cy="2797631"/>
          </a:xfrm>
          <a:prstGeom prst="rect">
            <a:avLst/>
          </a:prstGeom>
        </p:spPr>
      </p:pic>
      <p:pic>
        <p:nvPicPr>
          <p:cNvPr id="7180" name="Picture 12" descr="5 Popular Digital Fabrication Technologies in Use Today (20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3616902"/>
            <a:ext cx="4338812" cy="2892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218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11277600" cy="615553"/>
          </a:xfrm>
        </p:spPr>
        <p:txBody>
          <a:bodyPr/>
          <a:lstStyle/>
          <a:p>
            <a:r>
              <a:rPr lang="en-US" dirty="0">
                <a:solidFill>
                  <a:schemeClr val="tx1"/>
                </a:solidFill>
              </a:rPr>
              <a:t>Unit 6: </a:t>
            </a:r>
            <a:r>
              <a:rPr lang="en-IN" dirty="0">
                <a:solidFill>
                  <a:schemeClr val="tx1"/>
                </a:solidFill>
              </a:rPr>
              <a:t>Rapid Prototyping Systems </a:t>
            </a:r>
          </a:p>
        </p:txBody>
      </p:sp>
      <p:sp>
        <p:nvSpPr>
          <p:cNvPr id="8" name="Text Placeholder 7"/>
          <p:cNvSpPr>
            <a:spLocks noGrp="1"/>
          </p:cNvSpPr>
          <p:nvPr>
            <p:ph type="body" idx="1"/>
          </p:nvPr>
        </p:nvSpPr>
        <p:spPr>
          <a:xfrm>
            <a:off x="609600" y="1315065"/>
            <a:ext cx="10591800" cy="2769989"/>
          </a:xfrm>
        </p:spPr>
        <p:txBody>
          <a:bodyPr/>
          <a:lstStyle/>
          <a:p>
            <a:pPr marL="342900" indent="-342900">
              <a:lnSpc>
                <a:spcPct val="150000"/>
              </a:lnSpc>
              <a:buFont typeface="Arial" panose="020B0604020202020204" pitchFamily="34" charset="0"/>
              <a:buChar char="•"/>
            </a:pPr>
            <a:r>
              <a:rPr lang="en-US" sz="2000" dirty="0"/>
              <a:t>Classification of RPT systems,</a:t>
            </a:r>
          </a:p>
          <a:p>
            <a:pPr marL="342900" indent="-342900">
              <a:lnSpc>
                <a:spcPct val="150000"/>
              </a:lnSpc>
              <a:buFont typeface="Arial" panose="020B0604020202020204" pitchFamily="34" charset="0"/>
              <a:buChar char="•"/>
            </a:pPr>
            <a:r>
              <a:rPr lang="en-US" sz="2000" dirty="0"/>
              <a:t>Process chain,</a:t>
            </a:r>
          </a:p>
          <a:p>
            <a:pPr marL="342900" indent="-342900">
              <a:lnSpc>
                <a:spcPct val="150000"/>
              </a:lnSpc>
              <a:buFont typeface="Arial" panose="020B0604020202020204" pitchFamily="34" charset="0"/>
              <a:buChar char="•"/>
            </a:pPr>
            <a:r>
              <a:rPr lang="en-US" sz="2000" dirty="0"/>
              <a:t>3D modelling,</a:t>
            </a:r>
          </a:p>
          <a:p>
            <a:pPr marL="342900" indent="-342900">
              <a:lnSpc>
                <a:spcPct val="150000"/>
              </a:lnSpc>
              <a:buFont typeface="Arial" panose="020B0604020202020204" pitchFamily="34" charset="0"/>
              <a:buChar char="•"/>
            </a:pPr>
            <a:r>
              <a:rPr lang="en-US" sz="2000" dirty="0"/>
              <a:t>Data conversion,</a:t>
            </a:r>
          </a:p>
          <a:p>
            <a:pPr marL="342900" indent="-342900">
              <a:lnSpc>
                <a:spcPct val="150000"/>
              </a:lnSpc>
              <a:buFont typeface="Arial" panose="020B0604020202020204" pitchFamily="34" charset="0"/>
              <a:buChar char="•"/>
            </a:pPr>
            <a:r>
              <a:rPr lang="en-US" sz="2000" dirty="0"/>
              <a:t>Checking-building-</a:t>
            </a:r>
            <a:r>
              <a:rPr lang="en-US" sz="2000" dirty="0" err="1"/>
              <a:t>postprocessing</a:t>
            </a:r>
            <a:r>
              <a:rPr lang="en-US" sz="2000" dirty="0"/>
              <a:t>,</a:t>
            </a:r>
          </a:p>
          <a:p>
            <a:pPr marL="342900" indent="-342900">
              <a:lnSpc>
                <a:spcPct val="150000"/>
              </a:lnSpc>
              <a:buFont typeface="Arial" panose="020B0604020202020204" pitchFamily="34" charset="0"/>
              <a:buChar char="•"/>
            </a:pPr>
            <a:r>
              <a:rPr lang="en-US" sz="2000" dirty="0" err="1"/>
              <a:t>Stereolithography</a:t>
            </a:r>
            <a:r>
              <a:rPr lang="en-US" sz="2000" dirty="0"/>
              <a:t> (STL)-process, principle</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4468" y="1170945"/>
            <a:ext cx="3894332" cy="2105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t="21852"/>
          <a:stretch/>
        </p:blipFill>
        <p:spPr bwMode="auto">
          <a:xfrm>
            <a:off x="3505200" y="4649478"/>
            <a:ext cx="4147959" cy="1748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1" y="4481689"/>
            <a:ext cx="2370367" cy="2052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4178" y="1461912"/>
            <a:ext cx="3463644" cy="1814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53400" y="3658312"/>
            <a:ext cx="3835400" cy="1865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0072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40457" y="767283"/>
            <a:ext cx="8158480" cy="635000"/>
          </a:xfrm>
          <a:prstGeom prst="rect">
            <a:avLst/>
          </a:prstGeom>
        </p:spPr>
        <p:txBody>
          <a:bodyPr vert="horz" wrap="square" lIns="0" tIns="12065" rIns="0" bIns="0" rtlCol="0">
            <a:spAutoFit/>
          </a:bodyPr>
          <a:lstStyle/>
          <a:p>
            <a:pPr marL="12700">
              <a:lnSpc>
                <a:spcPct val="100000"/>
              </a:lnSpc>
              <a:spcBef>
                <a:spcPts val="95"/>
              </a:spcBef>
            </a:pPr>
            <a:r>
              <a:rPr spc="-5" dirty="0"/>
              <a:t>Benefits</a:t>
            </a:r>
            <a:r>
              <a:rPr spc="-30" dirty="0"/>
              <a:t> </a:t>
            </a:r>
            <a:r>
              <a:rPr spc="-5" dirty="0"/>
              <a:t>of Engineering</a:t>
            </a:r>
            <a:r>
              <a:rPr spc="15" dirty="0"/>
              <a:t> </a:t>
            </a:r>
            <a:r>
              <a:rPr spc="-25" dirty="0"/>
              <a:t>Drawing</a:t>
            </a:r>
            <a:r>
              <a:rPr dirty="0"/>
              <a:t> </a:t>
            </a:r>
            <a:r>
              <a:rPr spc="-5" dirty="0"/>
              <a:t>in </a:t>
            </a:r>
            <a:r>
              <a:rPr spc="-10" dirty="0"/>
              <a:t>CSE</a:t>
            </a:r>
          </a:p>
        </p:txBody>
      </p:sp>
      <p:sp>
        <p:nvSpPr>
          <p:cNvPr id="3" name="object 3"/>
          <p:cNvSpPr txBox="1"/>
          <p:nvPr/>
        </p:nvSpPr>
        <p:spPr>
          <a:xfrm>
            <a:off x="838200" y="1647449"/>
            <a:ext cx="10972800" cy="4372351"/>
          </a:xfrm>
          <a:prstGeom prst="rect">
            <a:avLst/>
          </a:prstGeom>
        </p:spPr>
        <p:txBody>
          <a:bodyPr vert="horz" wrap="square" lIns="0" tIns="12065" rIns="0" bIns="0" rtlCol="0">
            <a:spAutoFit/>
          </a:bodyPr>
          <a:lstStyle/>
          <a:p>
            <a:pPr marL="355600" marR="6350" indent="-342900" algn="just">
              <a:lnSpc>
                <a:spcPct val="150100"/>
              </a:lnSpc>
              <a:spcBef>
                <a:spcPts val="95"/>
              </a:spcBef>
              <a:buFont typeface="Wingdings"/>
              <a:buChar char=""/>
              <a:tabLst>
                <a:tab pos="355600" algn="l"/>
              </a:tabLst>
            </a:pPr>
            <a:r>
              <a:rPr sz="2400" dirty="0">
                <a:solidFill>
                  <a:srgbClr val="2C2C2C"/>
                </a:solidFill>
                <a:latin typeface="Times New Roman"/>
                <a:cs typeface="Times New Roman"/>
              </a:rPr>
              <a:t>Every</a:t>
            </a:r>
            <a:r>
              <a:rPr sz="2400" spc="25" dirty="0">
                <a:solidFill>
                  <a:srgbClr val="2C2C2C"/>
                </a:solidFill>
                <a:latin typeface="Times New Roman"/>
                <a:cs typeface="Times New Roman"/>
              </a:rPr>
              <a:t> </a:t>
            </a:r>
            <a:r>
              <a:rPr sz="2400" spc="-5" dirty="0">
                <a:solidFill>
                  <a:srgbClr val="2C2C2C"/>
                </a:solidFill>
                <a:latin typeface="Times New Roman"/>
                <a:cs typeface="Times New Roman"/>
              </a:rPr>
              <a:t>engineer</a:t>
            </a:r>
            <a:r>
              <a:rPr sz="2400" spc="35" dirty="0">
                <a:solidFill>
                  <a:srgbClr val="2C2C2C"/>
                </a:solidFill>
                <a:latin typeface="Times New Roman"/>
                <a:cs typeface="Times New Roman"/>
              </a:rPr>
              <a:t> </a:t>
            </a:r>
            <a:r>
              <a:rPr sz="2400" spc="-5" dirty="0">
                <a:solidFill>
                  <a:srgbClr val="2C2C2C"/>
                </a:solidFill>
                <a:latin typeface="Times New Roman"/>
                <a:cs typeface="Times New Roman"/>
              </a:rPr>
              <a:t>should</a:t>
            </a:r>
            <a:r>
              <a:rPr sz="2400" spc="25" dirty="0">
                <a:solidFill>
                  <a:srgbClr val="2C2C2C"/>
                </a:solidFill>
                <a:latin typeface="Times New Roman"/>
                <a:cs typeface="Times New Roman"/>
              </a:rPr>
              <a:t> </a:t>
            </a:r>
            <a:r>
              <a:rPr sz="2400" spc="-5" dirty="0">
                <a:solidFill>
                  <a:srgbClr val="2C2C2C"/>
                </a:solidFill>
                <a:latin typeface="Times New Roman"/>
                <a:cs typeface="Times New Roman"/>
              </a:rPr>
              <a:t>have</a:t>
            </a:r>
            <a:r>
              <a:rPr sz="2400" spc="20" dirty="0">
                <a:solidFill>
                  <a:srgbClr val="2C2C2C"/>
                </a:solidFill>
                <a:latin typeface="Times New Roman"/>
                <a:cs typeface="Times New Roman"/>
              </a:rPr>
              <a:t> </a:t>
            </a:r>
            <a:r>
              <a:rPr sz="2400" dirty="0">
                <a:solidFill>
                  <a:srgbClr val="2C2C2C"/>
                </a:solidFill>
                <a:latin typeface="Times New Roman"/>
                <a:cs typeface="Times New Roman"/>
              </a:rPr>
              <a:t>the</a:t>
            </a:r>
            <a:r>
              <a:rPr sz="2400" spc="20" dirty="0">
                <a:solidFill>
                  <a:srgbClr val="2C2C2C"/>
                </a:solidFill>
                <a:latin typeface="Times New Roman"/>
                <a:cs typeface="Times New Roman"/>
              </a:rPr>
              <a:t> </a:t>
            </a:r>
            <a:r>
              <a:rPr sz="2400" spc="-5" dirty="0">
                <a:solidFill>
                  <a:srgbClr val="2C2C2C"/>
                </a:solidFill>
                <a:latin typeface="Times New Roman"/>
                <a:cs typeface="Times New Roman"/>
              </a:rPr>
              <a:t>ability</a:t>
            </a:r>
            <a:r>
              <a:rPr sz="2400" spc="10" dirty="0">
                <a:solidFill>
                  <a:srgbClr val="2C2C2C"/>
                </a:solidFill>
                <a:latin typeface="Times New Roman"/>
                <a:cs typeface="Times New Roman"/>
              </a:rPr>
              <a:t> </a:t>
            </a:r>
            <a:r>
              <a:rPr sz="2400" dirty="0">
                <a:solidFill>
                  <a:srgbClr val="2C2C2C"/>
                </a:solidFill>
                <a:latin typeface="Times New Roman"/>
                <a:cs typeface="Times New Roman"/>
              </a:rPr>
              <a:t>to</a:t>
            </a:r>
            <a:r>
              <a:rPr sz="2400" spc="25" dirty="0">
                <a:solidFill>
                  <a:srgbClr val="2C2C2C"/>
                </a:solidFill>
                <a:latin typeface="Times New Roman"/>
                <a:cs typeface="Times New Roman"/>
              </a:rPr>
              <a:t> </a:t>
            </a:r>
            <a:r>
              <a:rPr sz="2400" spc="-5" dirty="0">
                <a:solidFill>
                  <a:srgbClr val="2C2C2C"/>
                </a:solidFill>
                <a:latin typeface="Times New Roman"/>
                <a:cs typeface="Times New Roman"/>
              </a:rPr>
              <a:t>express</a:t>
            </a:r>
            <a:r>
              <a:rPr sz="2400" spc="10" dirty="0">
                <a:solidFill>
                  <a:srgbClr val="2C2C2C"/>
                </a:solidFill>
                <a:latin typeface="Times New Roman"/>
                <a:cs typeface="Times New Roman"/>
              </a:rPr>
              <a:t> </a:t>
            </a:r>
            <a:r>
              <a:rPr sz="2400" dirty="0">
                <a:solidFill>
                  <a:srgbClr val="2C2C2C"/>
                </a:solidFill>
                <a:latin typeface="Times New Roman"/>
                <a:cs typeface="Times New Roman"/>
              </a:rPr>
              <a:t>their</a:t>
            </a:r>
            <a:r>
              <a:rPr sz="2400" spc="30" dirty="0">
                <a:solidFill>
                  <a:srgbClr val="2C2C2C"/>
                </a:solidFill>
                <a:latin typeface="Times New Roman"/>
                <a:cs typeface="Times New Roman"/>
              </a:rPr>
              <a:t> </a:t>
            </a:r>
            <a:r>
              <a:rPr sz="2400" dirty="0">
                <a:solidFill>
                  <a:srgbClr val="2C2C2C"/>
                </a:solidFill>
                <a:latin typeface="Times New Roman"/>
                <a:cs typeface="Times New Roman"/>
              </a:rPr>
              <a:t>own</a:t>
            </a:r>
            <a:r>
              <a:rPr sz="2400" spc="15" dirty="0">
                <a:solidFill>
                  <a:srgbClr val="2C2C2C"/>
                </a:solidFill>
                <a:latin typeface="Times New Roman"/>
                <a:cs typeface="Times New Roman"/>
              </a:rPr>
              <a:t> </a:t>
            </a:r>
            <a:r>
              <a:rPr sz="2400" dirty="0">
                <a:solidFill>
                  <a:srgbClr val="2C2C2C"/>
                </a:solidFill>
                <a:latin typeface="Times New Roman"/>
                <a:cs typeface="Times New Roman"/>
              </a:rPr>
              <a:t>design</a:t>
            </a:r>
            <a:r>
              <a:rPr sz="2400" spc="30" dirty="0">
                <a:solidFill>
                  <a:srgbClr val="2C2C2C"/>
                </a:solidFill>
                <a:latin typeface="Times New Roman"/>
                <a:cs typeface="Times New Roman"/>
              </a:rPr>
              <a:t> </a:t>
            </a:r>
            <a:r>
              <a:rPr lang="en-US" sz="2400" dirty="0">
                <a:solidFill>
                  <a:srgbClr val="2C2C2C"/>
                </a:solidFill>
                <a:latin typeface="Times New Roman"/>
                <a:cs typeface="Times New Roman"/>
              </a:rPr>
              <a:t>i</a:t>
            </a:r>
            <a:r>
              <a:rPr sz="2400" dirty="0">
                <a:solidFill>
                  <a:srgbClr val="2C2C2C"/>
                </a:solidFill>
                <a:latin typeface="Times New Roman"/>
                <a:cs typeface="Times New Roman"/>
              </a:rPr>
              <a:t>dea</a:t>
            </a:r>
            <a:r>
              <a:rPr lang="en-US" sz="2400" dirty="0">
                <a:solidFill>
                  <a:srgbClr val="2C2C2C"/>
                </a:solidFill>
                <a:latin typeface="Times New Roman"/>
                <a:cs typeface="Times New Roman"/>
              </a:rPr>
              <a:t>s</a:t>
            </a:r>
            <a:r>
              <a:rPr sz="2400" spc="10" dirty="0">
                <a:solidFill>
                  <a:srgbClr val="2C2C2C"/>
                </a:solidFill>
                <a:latin typeface="Times New Roman"/>
                <a:cs typeface="Times New Roman"/>
              </a:rPr>
              <a:t> </a:t>
            </a:r>
            <a:r>
              <a:rPr sz="2400" spc="-10" dirty="0">
                <a:solidFill>
                  <a:srgbClr val="2C2C2C"/>
                </a:solidFill>
                <a:latin typeface="Times New Roman"/>
                <a:cs typeface="Times New Roman"/>
              </a:rPr>
              <a:t>as</a:t>
            </a:r>
            <a:r>
              <a:rPr sz="2400" spc="25" dirty="0">
                <a:solidFill>
                  <a:srgbClr val="2C2C2C"/>
                </a:solidFill>
                <a:latin typeface="Times New Roman"/>
                <a:cs typeface="Times New Roman"/>
              </a:rPr>
              <a:t> </a:t>
            </a:r>
            <a:r>
              <a:rPr sz="2400" dirty="0">
                <a:solidFill>
                  <a:srgbClr val="2C2C2C"/>
                </a:solidFill>
                <a:latin typeface="Times New Roman"/>
                <a:cs typeface="Times New Roman"/>
              </a:rPr>
              <a:t>a </a:t>
            </a:r>
            <a:r>
              <a:rPr sz="2400" spc="-585" dirty="0">
                <a:solidFill>
                  <a:srgbClr val="2C2C2C"/>
                </a:solidFill>
                <a:latin typeface="Times New Roman"/>
                <a:cs typeface="Times New Roman"/>
              </a:rPr>
              <a:t> </a:t>
            </a:r>
            <a:r>
              <a:rPr sz="2400" dirty="0">
                <a:solidFill>
                  <a:srgbClr val="2C2C2C"/>
                </a:solidFill>
                <a:latin typeface="Times New Roman"/>
                <a:cs typeface="Times New Roman"/>
              </a:rPr>
              <a:t>drawing</a:t>
            </a:r>
            <a:r>
              <a:rPr sz="2400" spc="-20" dirty="0">
                <a:solidFill>
                  <a:srgbClr val="2C2C2C"/>
                </a:solidFill>
                <a:latin typeface="Times New Roman"/>
                <a:cs typeface="Times New Roman"/>
              </a:rPr>
              <a:t> </a:t>
            </a:r>
            <a:r>
              <a:rPr sz="2400" dirty="0">
                <a:solidFill>
                  <a:srgbClr val="2C2C2C"/>
                </a:solidFill>
                <a:latin typeface="Times New Roman"/>
                <a:cs typeface="Times New Roman"/>
              </a:rPr>
              <a:t>and convey</a:t>
            </a:r>
            <a:r>
              <a:rPr sz="2400" spc="-15" dirty="0">
                <a:solidFill>
                  <a:srgbClr val="2C2C2C"/>
                </a:solidFill>
                <a:latin typeface="Times New Roman"/>
                <a:cs typeface="Times New Roman"/>
              </a:rPr>
              <a:t> </a:t>
            </a:r>
            <a:r>
              <a:rPr sz="2400" dirty="0">
                <a:solidFill>
                  <a:srgbClr val="2C2C2C"/>
                </a:solidFill>
                <a:latin typeface="Times New Roman"/>
                <a:cs typeface="Times New Roman"/>
              </a:rPr>
              <a:t>to</a:t>
            </a:r>
            <a:r>
              <a:rPr sz="2400" spc="-5" dirty="0">
                <a:solidFill>
                  <a:srgbClr val="2C2C2C"/>
                </a:solidFill>
                <a:latin typeface="Times New Roman"/>
                <a:cs typeface="Times New Roman"/>
              </a:rPr>
              <a:t> </a:t>
            </a:r>
            <a:r>
              <a:rPr sz="2400" dirty="0">
                <a:solidFill>
                  <a:srgbClr val="2C2C2C"/>
                </a:solidFill>
                <a:latin typeface="Times New Roman"/>
                <a:cs typeface="Times New Roman"/>
              </a:rPr>
              <a:t>others</a:t>
            </a:r>
            <a:r>
              <a:rPr sz="2400" spc="-15" dirty="0">
                <a:solidFill>
                  <a:srgbClr val="2C2C2C"/>
                </a:solidFill>
                <a:latin typeface="Times New Roman"/>
                <a:cs typeface="Times New Roman"/>
              </a:rPr>
              <a:t> </a:t>
            </a:r>
            <a:r>
              <a:rPr sz="2400" dirty="0">
                <a:solidFill>
                  <a:srgbClr val="2C2C2C"/>
                </a:solidFill>
                <a:latin typeface="Times New Roman"/>
                <a:cs typeface="Times New Roman"/>
              </a:rPr>
              <a:t>so</a:t>
            </a:r>
            <a:r>
              <a:rPr sz="2400" spc="-5" dirty="0">
                <a:solidFill>
                  <a:srgbClr val="2C2C2C"/>
                </a:solidFill>
                <a:latin typeface="Times New Roman"/>
                <a:cs typeface="Times New Roman"/>
              </a:rPr>
              <a:t> </a:t>
            </a:r>
            <a:r>
              <a:rPr sz="2400" dirty="0">
                <a:solidFill>
                  <a:srgbClr val="2C2C2C"/>
                </a:solidFill>
                <a:latin typeface="Times New Roman"/>
                <a:cs typeface="Times New Roman"/>
              </a:rPr>
              <a:t>that</a:t>
            </a:r>
            <a:r>
              <a:rPr sz="2400" spc="-15" dirty="0">
                <a:solidFill>
                  <a:srgbClr val="2C2C2C"/>
                </a:solidFill>
                <a:latin typeface="Times New Roman"/>
                <a:cs typeface="Times New Roman"/>
              </a:rPr>
              <a:t> </a:t>
            </a:r>
            <a:r>
              <a:rPr sz="2400" dirty="0">
                <a:solidFill>
                  <a:srgbClr val="2C2C2C"/>
                </a:solidFill>
                <a:latin typeface="Times New Roman"/>
                <a:cs typeface="Times New Roman"/>
              </a:rPr>
              <a:t>it</a:t>
            </a:r>
            <a:r>
              <a:rPr sz="2400" spc="-10" dirty="0">
                <a:solidFill>
                  <a:srgbClr val="2C2C2C"/>
                </a:solidFill>
                <a:latin typeface="Times New Roman"/>
                <a:cs typeface="Times New Roman"/>
              </a:rPr>
              <a:t> </a:t>
            </a:r>
            <a:r>
              <a:rPr sz="2400" dirty="0">
                <a:solidFill>
                  <a:srgbClr val="2C2C2C"/>
                </a:solidFill>
                <a:latin typeface="Times New Roman"/>
                <a:cs typeface="Times New Roman"/>
              </a:rPr>
              <a:t>can</a:t>
            </a:r>
            <a:r>
              <a:rPr sz="2400" spc="-15" dirty="0">
                <a:solidFill>
                  <a:srgbClr val="2C2C2C"/>
                </a:solidFill>
                <a:latin typeface="Times New Roman"/>
                <a:cs typeface="Times New Roman"/>
              </a:rPr>
              <a:t> </a:t>
            </a:r>
            <a:r>
              <a:rPr sz="2400" spc="-5" dirty="0">
                <a:solidFill>
                  <a:srgbClr val="2C2C2C"/>
                </a:solidFill>
                <a:latin typeface="Times New Roman"/>
                <a:cs typeface="Times New Roman"/>
              </a:rPr>
              <a:t>be</a:t>
            </a:r>
            <a:r>
              <a:rPr sz="2400" spc="-10" dirty="0">
                <a:solidFill>
                  <a:srgbClr val="2C2C2C"/>
                </a:solidFill>
                <a:latin typeface="Times New Roman"/>
                <a:cs typeface="Times New Roman"/>
              </a:rPr>
              <a:t> </a:t>
            </a:r>
            <a:r>
              <a:rPr sz="2400" spc="-5" dirty="0">
                <a:solidFill>
                  <a:srgbClr val="2C2C2C"/>
                </a:solidFill>
                <a:latin typeface="Times New Roman"/>
                <a:cs typeface="Times New Roman"/>
              </a:rPr>
              <a:t>manufactured</a:t>
            </a:r>
            <a:r>
              <a:rPr lang="en-US" sz="2400" spc="-5" dirty="0">
                <a:solidFill>
                  <a:srgbClr val="2C2C2C"/>
                </a:solidFill>
                <a:latin typeface="Times New Roman"/>
                <a:cs typeface="Times New Roman"/>
              </a:rPr>
              <a:t>,</a:t>
            </a:r>
            <a:endParaRPr sz="2400" dirty="0">
              <a:latin typeface="Times New Roman"/>
              <a:cs typeface="Times New Roman"/>
            </a:endParaRPr>
          </a:p>
          <a:p>
            <a:pPr marL="355600" marR="5080" indent="-342900" algn="just">
              <a:lnSpc>
                <a:spcPct val="150000"/>
              </a:lnSpc>
              <a:spcBef>
                <a:spcPts val="1200"/>
              </a:spcBef>
              <a:buFont typeface="Wingdings"/>
              <a:buChar char=""/>
              <a:tabLst>
                <a:tab pos="355600" algn="l"/>
                <a:tab pos="1671955" algn="l"/>
                <a:tab pos="2810510" algn="l"/>
                <a:tab pos="3744595" algn="l"/>
                <a:tab pos="4892675" algn="l"/>
                <a:tab pos="6924675" algn="l"/>
                <a:tab pos="7893684" algn="l"/>
                <a:tab pos="9199880" algn="l"/>
              </a:tabLst>
            </a:pPr>
            <a:r>
              <a:rPr sz="2400" spc="-175" dirty="0">
                <a:solidFill>
                  <a:srgbClr val="2C2C2C"/>
                </a:solidFill>
                <a:latin typeface="Times New Roman"/>
                <a:cs typeface="Times New Roman"/>
              </a:rPr>
              <a:t>T</a:t>
            </a:r>
            <a:r>
              <a:rPr sz="2400" dirty="0">
                <a:solidFill>
                  <a:srgbClr val="2C2C2C"/>
                </a:solidFill>
                <a:latin typeface="Times New Roman"/>
                <a:cs typeface="Times New Roman"/>
              </a:rPr>
              <a:t>echni</a:t>
            </a:r>
            <a:r>
              <a:rPr sz="2400" spc="-15" dirty="0">
                <a:solidFill>
                  <a:srgbClr val="2C2C2C"/>
                </a:solidFill>
                <a:latin typeface="Times New Roman"/>
                <a:cs typeface="Times New Roman"/>
              </a:rPr>
              <a:t>c</a:t>
            </a:r>
            <a:r>
              <a:rPr sz="2400" spc="-10" dirty="0">
                <a:solidFill>
                  <a:srgbClr val="2C2C2C"/>
                </a:solidFill>
                <a:latin typeface="Times New Roman"/>
                <a:cs typeface="Times New Roman"/>
              </a:rPr>
              <a:t>a</a:t>
            </a:r>
            <a:r>
              <a:rPr sz="2400" dirty="0">
                <a:solidFill>
                  <a:srgbClr val="2C2C2C"/>
                </a:solidFill>
                <a:latin typeface="Times New Roman"/>
                <a:cs typeface="Times New Roman"/>
              </a:rPr>
              <a:t>l	drawing	</a:t>
            </a:r>
            <a:r>
              <a:rPr sz="2400" spc="-10" dirty="0">
                <a:solidFill>
                  <a:srgbClr val="2C2C2C"/>
                </a:solidFill>
                <a:latin typeface="Times New Roman"/>
                <a:cs typeface="Times New Roman"/>
              </a:rPr>
              <a:t>a</a:t>
            </a:r>
            <a:r>
              <a:rPr sz="2400" dirty="0">
                <a:solidFill>
                  <a:srgbClr val="2C2C2C"/>
                </a:solidFill>
                <a:latin typeface="Times New Roman"/>
                <a:cs typeface="Times New Roman"/>
              </a:rPr>
              <a:t>l</a:t>
            </a:r>
            <a:r>
              <a:rPr sz="2400" spc="5" dirty="0">
                <a:solidFill>
                  <a:srgbClr val="2C2C2C"/>
                </a:solidFill>
                <a:latin typeface="Times New Roman"/>
                <a:cs typeface="Times New Roman"/>
              </a:rPr>
              <a:t>l</a:t>
            </a:r>
            <a:r>
              <a:rPr sz="2400" spc="-15" dirty="0">
                <a:solidFill>
                  <a:srgbClr val="2C2C2C"/>
                </a:solidFill>
                <a:latin typeface="Times New Roman"/>
                <a:cs typeface="Times New Roman"/>
              </a:rPr>
              <a:t>o</a:t>
            </a:r>
            <a:r>
              <a:rPr sz="2400" spc="-5" dirty="0">
                <a:solidFill>
                  <a:srgbClr val="2C2C2C"/>
                </a:solidFill>
                <a:latin typeface="Times New Roman"/>
                <a:cs typeface="Times New Roman"/>
              </a:rPr>
              <a:t>ws</a:t>
            </a:r>
            <a:r>
              <a:rPr sz="2400" dirty="0">
                <a:solidFill>
                  <a:srgbClr val="2C2C2C"/>
                </a:solidFill>
                <a:latin typeface="Times New Roman"/>
                <a:cs typeface="Times New Roman"/>
              </a:rPr>
              <a:t>	e</a:t>
            </a:r>
            <a:r>
              <a:rPr sz="2400" spc="-45" dirty="0">
                <a:solidFill>
                  <a:srgbClr val="2C2C2C"/>
                </a:solidFill>
                <a:latin typeface="Times New Roman"/>
                <a:cs typeface="Times New Roman"/>
              </a:rPr>
              <a:t>f</a:t>
            </a:r>
            <a:r>
              <a:rPr sz="2400" dirty="0">
                <a:solidFill>
                  <a:srgbClr val="2C2C2C"/>
                </a:solidFill>
                <a:latin typeface="Times New Roman"/>
                <a:cs typeface="Times New Roman"/>
              </a:rPr>
              <a:t>fic</a:t>
            </a:r>
            <a:r>
              <a:rPr sz="2400" spc="-10" dirty="0">
                <a:solidFill>
                  <a:srgbClr val="2C2C2C"/>
                </a:solidFill>
                <a:latin typeface="Times New Roman"/>
                <a:cs typeface="Times New Roman"/>
              </a:rPr>
              <a:t>i</a:t>
            </a:r>
            <a:r>
              <a:rPr sz="2400" dirty="0">
                <a:solidFill>
                  <a:srgbClr val="2C2C2C"/>
                </a:solidFill>
                <a:latin typeface="Times New Roman"/>
                <a:cs typeface="Times New Roman"/>
              </a:rPr>
              <a:t>e</a:t>
            </a:r>
            <a:r>
              <a:rPr sz="2400" spc="-10" dirty="0">
                <a:solidFill>
                  <a:srgbClr val="2C2C2C"/>
                </a:solidFill>
                <a:latin typeface="Times New Roman"/>
                <a:cs typeface="Times New Roman"/>
              </a:rPr>
              <a:t>n</a:t>
            </a:r>
            <a:r>
              <a:rPr sz="2400" dirty="0">
                <a:solidFill>
                  <a:srgbClr val="2C2C2C"/>
                </a:solidFill>
                <a:latin typeface="Times New Roman"/>
                <a:cs typeface="Times New Roman"/>
              </a:rPr>
              <a:t>t	co</a:t>
            </a:r>
            <a:r>
              <a:rPr sz="2400" spc="-20" dirty="0">
                <a:solidFill>
                  <a:srgbClr val="2C2C2C"/>
                </a:solidFill>
                <a:latin typeface="Times New Roman"/>
                <a:cs typeface="Times New Roman"/>
              </a:rPr>
              <a:t>mm</a:t>
            </a:r>
            <a:r>
              <a:rPr sz="2400" dirty="0">
                <a:solidFill>
                  <a:srgbClr val="2C2C2C"/>
                </a:solidFill>
                <a:latin typeface="Times New Roman"/>
                <a:cs typeface="Times New Roman"/>
              </a:rPr>
              <a:t>unication	a</a:t>
            </a:r>
            <a:r>
              <a:rPr sz="2400" spc="-20" dirty="0">
                <a:solidFill>
                  <a:srgbClr val="2C2C2C"/>
                </a:solidFill>
                <a:latin typeface="Times New Roman"/>
                <a:cs typeface="Times New Roman"/>
              </a:rPr>
              <a:t>m</a:t>
            </a:r>
            <a:r>
              <a:rPr sz="2400" dirty="0">
                <a:solidFill>
                  <a:srgbClr val="2C2C2C"/>
                </a:solidFill>
                <a:latin typeface="Times New Roman"/>
                <a:cs typeface="Times New Roman"/>
              </a:rPr>
              <a:t>ong	en</a:t>
            </a:r>
            <a:r>
              <a:rPr sz="2400" spc="-10" dirty="0">
                <a:solidFill>
                  <a:srgbClr val="2C2C2C"/>
                </a:solidFill>
                <a:latin typeface="Times New Roman"/>
                <a:cs typeface="Times New Roman"/>
              </a:rPr>
              <a:t>g</a:t>
            </a:r>
            <a:r>
              <a:rPr sz="2400" dirty="0">
                <a:solidFill>
                  <a:srgbClr val="2C2C2C"/>
                </a:solidFill>
                <a:latin typeface="Times New Roman"/>
                <a:cs typeface="Times New Roman"/>
              </a:rPr>
              <a:t>ineers	and  can</a:t>
            </a:r>
            <a:r>
              <a:rPr sz="2400" spc="-20" dirty="0">
                <a:solidFill>
                  <a:srgbClr val="2C2C2C"/>
                </a:solidFill>
                <a:latin typeface="Times New Roman"/>
                <a:cs typeface="Times New Roman"/>
              </a:rPr>
              <a:t> </a:t>
            </a:r>
            <a:r>
              <a:rPr sz="2400" dirty="0">
                <a:solidFill>
                  <a:srgbClr val="2C2C2C"/>
                </a:solidFill>
                <a:latin typeface="Times New Roman"/>
                <a:cs typeface="Times New Roman"/>
              </a:rPr>
              <a:t>be kept</a:t>
            </a:r>
            <a:r>
              <a:rPr sz="2400" spc="-15" dirty="0">
                <a:solidFill>
                  <a:srgbClr val="2C2C2C"/>
                </a:solidFill>
                <a:latin typeface="Times New Roman"/>
                <a:cs typeface="Times New Roman"/>
              </a:rPr>
              <a:t> </a:t>
            </a:r>
            <a:r>
              <a:rPr sz="2400" spc="-5" dirty="0">
                <a:solidFill>
                  <a:srgbClr val="2C2C2C"/>
                </a:solidFill>
                <a:latin typeface="Times New Roman"/>
                <a:cs typeface="Times New Roman"/>
              </a:rPr>
              <a:t>as </a:t>
            </a:r>
            <a:r>
              <a:rPr sz="2400" dirty="0">
                <a:solidFill>
                  <a:srgbClr val="2C2C2C"/>
                </a:solidFill>
                <a:latin typeface="Times New Roman"/>
                <a:cs typeface="Times New Roman"/>
              </a:rPr>
              <a:t>a record</a:t>
            </a:r>
            <a:r>
              <a:rPr sz="2400" spc="-20" dirty="0">
                <a:solidFill>
                  <a:srgbClr val="2C2C2C"/>
                </a:solidFill>
                <a:latin typeface="Times New Roman"/>
                <a:cs typeface="Times New Roman"/>
              </a:rPr>
              <a:t> </a:t>
            </a:r>
            <a:r>
              <a:rPr sz="2400" dirty="0">
                <a:solidFill>
                  <a:srgbClr val="2C2C2C"/>
                </a:solidFill>
                <a:latin typeface="Times New Roman"/>
                <a:cs typeface="Times New Roman"/>
              </a:rPr>
              <a:t>of the</a:t>
            </a:r>
            <a:r>
              <a:rPr sz="2400" spc="-25" dirty="0">
                <a:solidFill>
                  <a:srgbClr val="2C2C2C"/>
                </a:solidFill>
                <a:latin typeface="Times New Roman"/>
                <a:cs typeface="Times New Roman"/>
              </a:rPr>
              <a:t> </a:t>
            </a:r>
            <a:r>
              <a:rPr sz="2400" dirty="0">
                <a:solidFill>
                  <a:srgbClr val="2C2C2C"/>
                </a:solidFill>
                <a:latin typeface="Times New Roman"/>
                <a:cs typeface="Times New Roman"/>
              </a:rPr>
              <a:t>planning</a:t>
            </a:r>
            <a:r>
              <a:rPr sz="2400" spc="-15" dirty="0">
                <a:solidFill>
                  <a:srgbClr val="2C2C2C"/>
                </a:solidFill>
                <a:latin typeface="Times New Roman"/>
                <a:cs typeface="Times New Roman"/>
              </a:rPr>
              <a:t> </a:t>
            </a:r>
            <a:r>
              <a:rPr sz="2400" dirty="0">
                <a:solidFill>
                  <a:srgbClr val="2C2C2C"/>
                </a:solidFill>
                <a:latin typeface="Times New Roman"/>
                <a:cs typeface="Times New Roman"/>
              </a:rPr>
              <a:t>process</a:t>
            </a:r>
            <a:r>
              <a:rPr lang="en-US" sz="2400" dirty="0">
                <a:solidFill>
                  <a:srgbClr val="2C2C2C"/>
                </a:solidFill>
                <a:latin typeface="Times New Roman"/>
                <a:cs typeface="Times New Roman"/>
              </a:rPr>
              <a:t>,</a:t>
            </a:r>
            <a:endParaRPr sz="2400" dirty="0">
              <a:latin typeface="Times New Roman"/>
              <a:cs typeface="Times New Roman"/>
            </a:endParaRPr>
          </a:p>
          <a:p>
            <a:pPr algn="just">
              <a:lnSpc>
                <a:spcPct val="100000"/>
              </a:lnSpc>
              <a:spcBef>
                <a:spcPts val="55"/>
              </a:spcBef>
              <a:buClr>
                <a:srgbClr val="2C2C2C"/>
              </a:buClr>
              <a:buFont typeface="Wingdings"/>
              <a:buChar char=""/>
            </a:pPr>
            <a:endParaRPr sz="2250" dirty="0">
              <a:latin typeface="Times New Roman"/>
              <a:cs typeface="Times New Roman"/>
            </a:endParaRPr>
          </a:p>
          <a:p>
            <a:pPr marL="355600" indent="-342900" algn="just">
              <a:lnSpc>
                <a:spcPct val="100000"/>
              </a:lnSpc>
              <a:buFont typeface="Wingdings"/>
              <a:buChar char=""/>
              <a:tabLst>
                <a:tab pos="355600" algn="l"/>
              </a:tabLst>
            </a:pPr>
            <a:r>
              <a:rPr sz="2400" spc="-5" dirty="0">
                <a:solidFill>
                  <a:srgbClr val="2C2C2C"/>
                </a:solidFill>
                <a:latin typeface="Times New Roman"/>
                <a:cs typeface="Times New Roman"/>
              </a:rPr>
              <a:t>CPU</a:t>
            </a:r>
            <a:r>
              <a:rPr sz="2400" spc="10" dirty="0">
                <a:solidFill>
                  <a:srgbClr val="2C2C2C"/>
                </a:solidFill>
                <a:latin typeface="Times New Roman"/>
                <a:cs typeface="Times New Roman"/>
              </a:rPr>
              <a:t> </a:t>
            </a:r>
            <a:r>
              <a:rPr lang="en-US" sz="2400" spc="-5" dirty="0">
                <a:solidFill>
                  <a:srgbClr val="2C2C2C"/>
                </a:solidFill>
                <a:latin typeface="Times New Roman"/>
                <a:cs typeface="Times New Roman"/>
              </a:rPr>
              <a:t>d</a:t>
            </a:r>
            <a:r>
              <a:rPr sz="2400" spc="-5" dirty="0">
                <a:solidFill>
                  <a:srgbClr val="2C2C2C"/>
                </a:solidFill>
                <a:latin typeface="Times New Roman"/>
                <a:cs typeface="Times New Roman"/>
              </a:rPr>
              <a:t>esign</a:t>
            </a:r>
            <a:r>
              <a:rPr sz="2400" spc="-10" dirty="0">
                <a:solidFill>
                  <a:srgbClr val="2C2C2C"/>
                </a:solidFill>
                <a:latin typeface="Times New Roman"/>
                <a:cs typeface="Times New Roman"/>
              </a:rPr>
              <a:t> </a:t>
            </a:r>
            <a:r>
              <a:rPr sz="2400" dirty="0">
                <a:solidFill>
                  <a:srgbClr val="2C2C2C"/>
                </a:solidFill>
                <a:latin typeface="Times New Roman"/>
                <a:cs typeface="Times New Roman"/>
              </a:rPr>
              <a:t>can</a:t>
            </a:r>
            <a:r>
              <a:rPr sz="2400" spc="-20" dirty="0">
                <a:solidFill>
                  <a:srgbClr val="2C2C2C"/>
                </a:solidFill>
                <a:latin typeface="Times New Roman"/>
                <a:cs typeface="Times New Roman"/>
              </a:rPr>
              <a:t> </a:t>
            </a:r>
            <a:r>
              <a:rPr sz="2400" dirty="0">
                <a:solidFill>
                  <a:srgbClr val="2C2C2C"/>
                </a:solidFill>
                <a:latin typeface="Times New Roman"/>
                <a:cs typeface="Times New Roman"/>
              </a:rPr>
              <a:t>only be</a:t>
            </a:r>
            <a:r>
              <a:rPr sz="2400" spc="-10" dirty="0">
                <a:solidFill>
                  <a:srgbClr val="2C2C2C"/>
                </a:solidFill>
                <a:latin typeface="Times New Roman"/>
                <a:cs typeface="Times New Roman"/>
              </a:rPr>
              <a:t> </a:t>
            </a:r>
            <a:r>
              <a:rPr sz="2400" dirty="0">
                <a:solidFill>
                  <a:srgbClr val="2C2C2C"/>
                </a:solidFill>
                <a:latin typeface="Times New Roman"/>
                <a:cs typeface="Times New Roman"/>
              </a:rPr>
              <a:t>done</a:t>
            </a:r>
            <a:r>
              <a:rPr sz="2400" spc="-5" dirty="0">
                <a:solidFill>
                  <a:srgbClr val="2C2C2C"/>
                </a:solidFill>
                <a:latin typeface="Times New Roman"/>
                <a:cs typeface="Times New Roman"/>
              </a:rPr>
              <a:t> </a:t>
            </a:r>
            <a:r>
              <a:rPr sz="2400" dirty="0">
                <a:solidFill>
                  <a:srgbClr val="2C2C2C"/>
                </a:solidFill>
                <a:latin typeface="Times New Roman"/>
                <a:cs typeface="Times New Roman"/>
              </a:rPr>
              <a:t>through</a:t>
            </a:r>
            <a:r>
              <a:rPr sz="2400" spc="-15" dirty="0">
                <a:solidFill>
                  <a:srgbClr val="2C2C2C"/>
                </a:solidFill>
                <a:latin typeface="Times New Roman"/>
                <a:cs typeface="Times New Roman"/>
              </a:rPr>
              <a:t> </a:t>
            </a:r>
            <a:r>
              <a:rPr sz="2400" dirty="0">
                <a:solidFill>
                  <a:srgbClr val="2C2C2C"/>
                </a:solidFill>
                <a:latin typeface="Times New Roman"/>
                <a:cs typeface="Times New Roman"/>
              </a:rPr>
              <a:t>the</a:t>
            </a:r>
            <a:r>
              <a:rPr sz="2400" spc="-25" dirty="0">
                <a:solidFill>
                  <a:srgbClr val="2C2C2C"/>
                </a:solidFill>
                <a:latin typeface="Times New Roman"/>
                <a:cs typeface="Times New Roman"/>
              </a:rPr>
              <a:t> </a:t>
            </a:r>
            <a:r>
              <a:rPr sz="2400" dirty="0">
                <a:solidFill>
                  <a:srgbClr val="2C2C2C"/>
                </a:solidFill>
                <a:latin typeface="Times New Roman"/>
                <a:cs typeface="Times New Roman"/>
              </a:rPr>
              <a:t>basic</a:t>
            </a:r>
            <a:r>
              <a:rPr lang="en-US" sz="2400" dirty="0">
                <a:solidFill>
                  <a:srgbClr val="2C2C2C"/>
                </a:solidFill>
                <a:latin typeface="Times New Roman"/>
                <a:cs typeface="Times New Roman"/>
              </a:rPr>
              <a:t>s</a:t>
            </a:r>
            <a:r>
              <a:rPr sz="2400" spc="-10" dirty="0">
                <a:solidFill>
                  <a:srgbClr val="2C2C2C"/>
                </a:solidFill>
                <a:latin typeface="Times New Roman"/>
                <a:cs typeface="Times New Roman"/>
              </a:rPr>
              <a:t> </a:t>
            </a:r>
            <a:r>
              <a:rPr sz="2400" dirty="0">
                <a:solidFill>
                  <a:srgbClr val="2C2C2C"/>
                </a:solidFill>
                <a:latin typeface="Times New Roman"/>
                <a:cs typeface="Times New Roman"/>
              </a:rPr>
              <a:t>of</a:t>
            </a:r>
            <a:r>
              <a:rPr sz="2400" spc="-10" dirty="0">
                <a:solidFill>
                  <a:srgbClr val="2C2C2C"/>
                </a:solidFill>
                <a:latin typeface="Times New Roman"/>
                <a:cs typeface="Times New Roman"/>
              </a:rPr>
              <a:t> </a:t>
            </a:r>
            <a:r>
              <a:rPr sz="2400" dirty="0">
                <a:solidFill>
                  <a:srgbClr val="2C2C2C"/>
                </a:solidFill>
                <a:latin typeface="Times New Roman"/>
                <a:cs typeface="Times New Roman"/>
              </a:rPr>
              <a:t>engineering</a:t>
            </a:r>
            <a:r>
              <a:rPr sz="2400" spc="-35" dirty="0">
                <a:solidFill>
                  <a:srgbClr val="2C2C2C"/>
                </a:solidFill>
                <a:latin typeface="Times New Roman"/>
                <a:cs typeface="Times New Roman"/>
              </a:rPr>
              <a:t> </a:t>
            </a:r>
            <a:r>
              <a:rPr sz="2400" dirty="0">
                <a:solidFill>
                  <a:srgbClr val="2C2C2C"/>
                </a:solidFill>
                <a:latin typeface="Times New Roman"/>
                <a:cs typeface="Times New Roman"/>
              </a:rPr>
              <a:t>drawing</a:t>
            </a:r>
            <a:r>
              <a:rPr lang="en-US" sz="2400" dirty="0">
                <a:solidFill>
                  <a:srgbClr val="2C2C2C"/>
                </a:solidFill>
                <a:latin typeface="Times New Roman"/>
                <a:cs typeface="Times New Roman"/>
              </a:rPr>
              <a:t>,</a:t>
            </a:r>
            <a:endParaRPr sz="2400" dirty="0">
              <a:latin typeface="Times New Roman"/>
              <a:cs typeface="Times New Roman"/>
            </a:endParaRPr>
          </a:p>
          <a:p>
            <a:pPr marL="355600" marR="6350" indent="-342900" algn="just">
              <a:lnSpc>
                <a:spcPct val="150100"/>
              </a:lnSpc>
              <a:spcBef>
                <a:spcPts val="1195"/>
              </a:spcBef>
              <a:buFont typeface="Wingdings"/>
              <a:buChar char=""/>
              <a:tabLst>
                <a:tab pos="355600" algn="l"/>
                <a:tab pos="701040" algn="l"/>
                <a:tab pos="1503045" algn="l"/>
                <a:tab pos="2118995" algn="l"/>
                <a:tab pos="2515235" algn="l"/>
                <a:tab pos="3587750" algn="l"/>
                <a:tab pos="4119879" algn="l"/>
                <a:tab pos="5038725" algn="l"/>
                <a:tab pos="5434965" algn="l"/>
                <a:tab pos="5967095" algn="l"/>
                <a:tab pos="6889750" algn="l"/>
                <a:tab pos="7791450" algn="l"/>
                <a:tab pos="8152765" algn="l"/>
                <a:tab pos="8803640" algn="l"/>
                <a:tab pos="9098280" algn="l"/>
              </a:tabLst>
            </a:pPr>
            <a:r>
              <a:rPr sz="2400" dirty="0">
                <a:solidFill>
                  <a:srgbClr val="2C2C2C"/>
                </a:solidFill>
                <a:latin typeface="Times New Roman"/>
                <a:cs typeface="Times New Roman"/>
              </a:rPr>
              <a:t>It	h</a:t>
            </a:r>
            <a:r>
              <a:rPr sz="2400" spc="-10" dirty="0">
                <a:solidFill>
                  <a:srgbClr val="2C2C2C"/>
                </a:solidFill>
                <a:latin typeface="Times New Roman"/>
                <a:cs typeface="Times New Roman"/>
              </a:rPr>
              <a:t>e</a:t>
            </a:r>
            <a:r>
              <a:rPr sz="2400" spc="-5" dirty="0">
                <a:solidFill>
                  <a:srgbClr val="2C2C2C"/>
                </a:solidFill>
                <a:latin typeface="Times New Roman"/>
                <a:cs typeface="Times New Roman"/>
              </a:rPr>
              <a:t>lps</a:t>
            </a:r>
            <a:r>
              <a:rPr sz="2400" dirty="0">
                <a:solidFill>
                  <a:srgbClr val="2C2C2C"/>
                </a:solidFill>
                <a:latin typeface="Times New Roman"/>
                <a:cs typeface="Times New Roman"/>
              </a:rPr>
              <a:t>	you	</a:t>
            </a:r>
            <a:r>
              <a:rPr sz="2400" spc="5" dirty="0">
                <a:solidFill>
                  <a:srgbClr val="2C2C2C"/>
                </a:solidFill>
                <a:latin typeface="Times New Roman"/>
                <a:cs typeface="Times New Roman"/>
              </a:rPr>
              <a:t>t</a:t>
            </a:r>
            <a:r>
              <a:rPr sz="2400" dirty="0">
                <a:solidFill>
                  <a:srgbClr val="2C2C2C"/>
                </a:solidFill>
                <a:latin typeface="Times New Roman"/>
                <a:cs typeface="Times New Roman"/>
              </a:rPr>
              <a:t>o	convert	2</a:t>
            </a:r>
            <a:r>
              <a:rPr sz="2400" spc="-5" dirty="0">
                <a:solidFill>
                  <a:srgbClr val="2C2C2C"/>
                </a:solidFill>
                <a:latin typeface="Times New Roman"/>
                <a:cs typeface="Times New Roman"/>
              </a:rPr>
              <a:t>D</a:t>
            </a:r>
            <a:r>
              <a:rPr sz="2400" dirty="0">
                <a:solidFill>
                  <a:srgbClr val="2C2C2C"/>
                </a:solidFill>
                <a:latin typeface="Times New Roman"/>
                <a:cs typeface="Times New Roman"/>
              </a:rPr>
              <a:t>	</a:t>
            </a:r>
            <a:r>
              <a:rPr sz="2400" spc="5" dirty="0">
                <a:solidFill>
                  <a:srgbClr val="2C2C2C"/>
                </a:solidFill>
                <a:latin typeface="Times New Roman"/>
                <a:cs typeface="Times New Roman"/>
              </a:rPr>
              <a:t>i</a:t>
            </a:r>
            <a:r>
              <a:rPr sz="2400" dirty="0">
                <a:solidFill>
                  <a:srgbClr val="2C2C2C"/>
                </a:solidFill>
                <a:latin typeface="Times New Roman"/>
                <a:cs typeface="Times New Roman"/>
              </a:rPr>
              <a:t>n</a:t>
            </a:r>
            <a:r>
              <a:rPr lang="en-US" sz="2400" dirty="0">
                <a:solidFill>
                  <a:srgbClr val="2C2C2C"/>
                </a:solidFill>
                <a:latin typeface="Times New Roman"/>
                <a:cs typeface="Times New Roman"/>
              </a:rPr>
              <a:t> </a:t>
            </a:r>
            <a:r>
              <a:rPr sz="2400" dirty="0">
                <a:solidFill>
                  <a:srgbClr val="2C2C2C"/>
                </a:solidFill>
                <a:latin typeface="Times New Roman"/>
                <a:cs typeface="Times New Roman"/>
              </a:rPr>
              <a:t>3</a:t>
            </a:r>
            <a:r>
              <a:rPr sz="2400" spc="-5" dirty="0">
                <a:solidFill>
                  <a:srgbClr val="2C2C2C"/>
                </a:solidFill>
                <a:latin typeface="Times New Roman"/>
                <a:cs typeface="Times New Roman"/>
              </a:rPr>
              <a:t>D</a:t>
            </a:r>
            <a:r>
              <a:rPr sz="2400" dirty="0">
                <a:solidFill>
                  <a:srgbClr val="2C2C2C"/>
                </a:solidFill>
                <a:latin typeface="Times New Roman"/>
                <a:cs typeface="Times New Roman"/>
              </a:rPr>
              <a:t>	model	which	</a:t>
            </a:r>
            <a:r>
              <a:rPr sz="2400" spc="-15" dirty="0">
                <a:solidFill>
                  <a:srgbClr val="2C2C2C"/>
                </a:solidFill>
                <a:latin typeface="Times New Roman"/>
                <a:cs typeface="Times New Roman"/>
              </a:rPr>
              <a:t>i</a:t>
            </a:r>
            <a:r>
              <a:rPr sz="2400" spc="-5" dirty="0">
                <a:solidFill>
                  <a:srgbClr val="2C2C2C"/>
                </a:solidFill>
                <a:latin typeface="Times New Roman"/>
                <a:cs typeface="Times New Roman"/>
              </a:rPr>
              <a:t>s</a:t>
            </a:r>
            <a:r>
              <a:rPr lang="en-US" sz="2400" dirty="0">
                <a:solidFill>
                  <a:srgbClr val="2C2C2C"/>
                </a:solidFill>
                <a:latin typeface="Times New Roman"/>
                <a:cs typeface="Times New Roman"/>
              </a:rPr>
              <a:t> </a:t>
            </a:r>
            <a:r>
              <a:rPr sz="2400" dirty="0">
                <a:solidFill>
                  <a:srgbClr val="2C2C2C"/>
                </a:solidFill>
                <a:latin typeface="Times New Roman"/>
                <a:cs typeface="Times New Roman"/>
              </a:rPr>
              <a:t>a</a:t>
            </a:r>
            <a:r>
              <a:rPr sz="2400" spc="5" dirty="0">
                <a:solidFill>
                  <a:srgbClr val="2C2C2C"/>
                </a:solidFill>
                <a:latin typeface="Times New Roman"/>
                <a:cs typeface="Times New Roman"/>
              </a:rPr>
              <a:t>l</a:t>
            </a:r>
            <a:r>
              <a:rPr sz="2400" spc="-5" dirty="0">
                <a:solidFill>
                  <a:srgbClr val="2C2C2C"/>
                </a:solidFill>
                <a:latin typeface="Times New Roman"/>
                <a:cs typeface="Times New Roman"/>
              </a:rPr>
              <a:t>so</a:t>
            </a:r>
            <a:r>
              <a:rPr lang="en-US" sz="2400" dirty="0">
                <a:solidFill>
                  <a:srgbClr val="2C2C2C"/>
                </a:solidFill>
                <a:latin typeface="Times New Roman"/>
                <a:cs typeface="Times New Roman"/>
              </a:rPr>
              <a:t> </a:t>
            </a:r>
            <a:r>
              <a:rPr sz="2400" dirty="0">
                <a:solidFill>
                  <a:srgbClr val="2C2C2C"/>
                </a:solidFill>
                <a:latin typeface="Times New Roman"/>
                <a:cs typeface="Times New Roman"/>
              </a:rPr>
              <a:t>a</a:t>
            </a:r>
            <a:r>
              <a:rPr lang="en-US" sz="2400" dirty="0">
                <a:solidFill>
                  <a:srgbClr val="2C2C2C"/>
                </a:solidFill>
                <a:latin typeface="Times New Roman"/>
                <a:cs typeface="Times New Roman"/>
              </a:rPr>
              <a:t> </a:t>
            </a:r>
            <a:r>
              <a:rPr sz="2400" dirty="0">
                <a:solidFill>
                  <a:srgbClr val="2C2C2C"/>
                </a:solidFill>
                <a:latin typeface="Times New Roman"/>
                <a:cs typeface="Times New Roman"/>
              </a:rPr>
              <a:t>v</a:t>
            </a:r>
            <a:r>
              <a:rPr sz="2400" spc="-10" dirty="0">
                <a:solidFill>
                  <a:srgbClr val="2C2C2C"/>
                </a:solidFill>
                <a:latin typeface="Times New Roman"/>
                <a:cs typeface="Times New Roman"/>
              </a:rPr>
              <a:t>e</a:t>
            </a:r>
            <a:r>
              <a:rPr sz="2400" dirty="0">
                <a:solidFill>
                  <a:srgbClr val="2C2C2C"/>
                </a:solidFill>
                <a:latin typeface="Times New Roman"/>
                <a:cs typeface="Times New Roman"/>
              </a:rPr>
              <a:t>ry</a:t>
            </a:r>
            <a:r>
              <a:rPr lang="en-US" sz="2400" dirty="0">
                <a:solidFill>
                  <a:srgbClr val="2C2C2C"/>
                </a:solidFill>
                <a:latin typeface="Times New Roman"/>
                <a:cs typeface="Times New Roman"/>
              </a:rPr>
              <a:t> i</a:t>
            </a:r>
            <a:r>
              <a:rPr sz="2400" spc="-5" dirty="0">
                <a:solidFill>
                  <a:srgbClr val="2C2C2C"/>
                </a:solidFill>
                <a:latin typeface="Times New Roman"/>
                <a:cs typeface="Times New Roman"/>
              </a:rPr>
              <a:t>mportant</a:t>
            </a:r>
            <a:r>
              <a:rPr sz="2400" spc="-20" dirty="0">
                <a:solidFill>
                  <a:srgbClr val="2C2C2C"/>
                </a:solidFill>
                <a:latin typeface="Times New Roman"/>
                <a:cs typeface="Times New Roman"/>
              </a:rPr>
              <a:t> </a:t>
            </a:r>
            <a:r>
              <a:rPr sz="2400" dirty="0">
                <a:solidFill>
                  <a:srgbClr val="2C2C2C"/>
                </a:solidFill>
                <a:latin typeface="Times New Roman"/>
                <a:cs typeface="Times New Roman"/>
              </a:rPr>
              <a:t>criteria</a:t>
            </a:r>
            <a:r>
              <a:rPr sz="2400" spc="-30" dirty="0">
                <a:solidFill>
                  <a:srgbClr val="2C2C2C"/>
                </a:solidFill>
                <a:latin typeface="Times New Roman"/>
                <a:cs typeface="Times New Roman"/>
              </a:rPr>
              <a:t> </a:t>
            </a:r>
            <a:r>
              <a:rPr sz="2400" dirty="0">
                <a:solidFill>
                  <a:srgbClr val="2C2C2C"/>
                </a:solidFill>
                <a:latin typeface="Times New Roman"/>
                <a:cs typeface="Times New Roman"/>
              </a:rPr>
              <a:t>in</a:t>
            </a:r>
            <a:r>
              <a:rPr sz="2400" spc="-15" dirty="0">
                <a:solidFill>
                  <a:srgbClr val="2C2C2C"/>
                </a:solidFill>
                <a:latin typeface="Times New Roman"/>
                <a:cs typeface="Times New Roman"/>
              </a:rPr>
              <a:t> </a:t>
            </a:r>
            <a:r>
              <a:rPr sz="2400" spc="-5" dirty="0">
                <a:solidFill>
                  <a:srgbClr val="2C2C2C"/>
                </a:solidFill>
                <a:latin typeface="Times New Roman"/>
                <a:cs typeface="Times New Roman"/>
              </a:rPr>
              <a:t>game</a:t>
            </a:r>
            <a:r>
              <a:rPr sz="2400" dirty="0">
                <a:solidFill>
                  <a:srgbClr val="2C2C2C"/>
                </a:solidFill>
                <a:latin typeface="Times New Roman"/>
                <a:cs typeface="Times New Roman"/>
              </a:rPr>
              <a:t> design.</a:t>
            </a:r>
            <a:endParaRPr sz="2400" dirty="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20061" y="767283"/>
            <a:ext cx="8401050" cy="635000"/>
          </a:xfrm>
          <a:prstGeom prst="rect">
            <a:avLst/>
          </a:prstGeom>
        </p:spPr>
        <p:txBody>
          <a:bodyPr vert="horz" wrap="square" lIns="0" tIns="12065" rIns="0" bIns="0" rtlCol="0">
            <a:spAutoFit/>
          </a:bodyPr>
          <a:lstStyle/>
          <a:p>
            <a:pPr marL="12700">
              <a:lnSpc>
                <a:spcPct val="100000"/>
              </a:lnSpc>
              <a:spcBef>
                <a:spcPts val="95"/>
              </a:spcBef>
            </a:pPr>
            <a:r>
              <a:rPr spc="-5" dirty="0"/>
              <a:t>Benefits</a:t>
            </a:r>
            <a:r>
              <a:rPr spc="-30" dirty="0"/>
              <a:t> </a:t>
            </a:r>
            <a:r>
              <a:rPr spc="-5" dirty="0"/>
              <a:t>of </a:t>
            </a:r>
            <a:r>
              <a:rPr spc="-15" dirty="0"/>
              <a:t>Digital</a:t>
            </a:r>
            <a:r>
              <a:rPr spc="15" dirty="0"/>
              <a:t> </a:t>
            </a:r>
            <a:r>
              <a:rPr spc="-10" dirty="0"/>
              <a:t>Manufacturing</a:t>
            </a:r>
            <a:r>
              <a:rPr spc="40" dirty="0"/>
              <a:t> </a:t>
            </a:r>
            <a:r>
              <a:rPr spc="-5" dirty="0"/>
              <a:t>in </a:t>
            </a:r>
            <a:r>
              <a:rPr spc="-10" dirty="0"/>
              <a:t>CSE</a:t>
            </a:r>
          </a:p>
        </p:txBody>
      </p:sp>
      <p:sp>
        <p:nvSpPr>
          <p:cNvPr id="3" name="object 3"/>
          <p:cNvSpPr txBox="1"/>
          <p:nvPr/>
        </p:nvSpPr>
        <p:spPr>
          <a:xfrm>
            <a:off x="685800" y="1580113"/>
            <a:ext cx="10896600" cy="3833742"/>
          </a:xfrm>
          <a:prstGeom prst="rect">
            <a:avLst/>
          </a:prstGeom>
        </p:spPr>
        <p:txBody>
          <a:bodyPr vert="horz" wrap="square" lIns="0" tIns="12065" rIns="0" bIns="0" rtlCol="0">
            <a:spAutoFit/>
          </a:bodyPr>
          <a:lstStyle/>
          <a:p>
            <a:pPr marL="355600" marR="5715" indent="-342900" algn="just">
              <a:lnSpc>
                <a:spcPct val="150000"/>
              </a:lnSpc>
              <a:spcBef>
                <a:spcPts val="95"/>
              </a:spcBef>
              <a:buFont typeface="Wingdings"/>
              <a:buChar char=""/>
              <a:tabLst>
                <a:tab pos="355600" algn="l"/>
              </a:tabLst>
            </a:pPr>
            <a:r>
              <a:rPr sz="2400" dirty="0">
                <a:solidFill>
                  <a:srgbClr val="2C2C2C"/>
                </a:solidFill>
                <a:latin typeface="Times New Roman"/>
                <a:cs typeface="Times New Roman"/>
              </a:rPr>
              <a:t>Rapid </a:t>
            </a:r>
            <a:r>
              <a:rPr sz="2400" spc="-5" dirty="0">
                <a:solidFill>
                  <a:srgbClr val="2C2C2C"/>
                </a:solidFill>
                <a:latin typeface="Times New Roman"/>
                <a:cs typeface="Times New Roman"/>
              </a:rPr>
              <a:t>Prototyping </a:t>
            </a:r>
            <a:r>
              <a:rPr sz="2400" spc="-10" dirty="0">
                <a:solidFill>
                  <a:srgbClr val="2C2C2C"/>
                </a:solidFill>
                <a:latin typeface="Times New Roman"/>
                <a:cs typeface="Times New Roman"/>
              </a:rPr>
              <a:t>helps </a:t>
            </a:r>
            <a:r>
              <a:rPr sz="2400" spc="-5" dirty="0">
                <a:solidFill>
                  <a:srgbClr val="2C2C2C"/>
                </a:solidFill>
                <a:latin typeface="Times New Roman"/>
                <a:cs typeface="Times New Roman"/>
              </a:rPr>
              <a:t>designers present </a:t>
            </a:r>
            <a:r>
              <a:rPr sz="2400" spc="-10" dirty="0">
                <a:solidFill>
                  <a:srgbClr val="2C2C2C"/>
                </a:solidFill>
                <a:latin typeface="Times New Roman"/>
                <a:cs typeface="Times New Roman"/>
              </a:rPr>
              <a:t>new </a:t>
            </a:r>
            <a:r>
              <a:rPr sz="2400" spc="-5" dirty="0">
                <a:solidFill>
                  <a:srgbClr val="2C2C2C"/>
                </a:solidFill>
                <a:latin typeface="Times New Roman"/>
                <a:cs typeface="Times New Roman"/>
              </a:rPr>
              <a:t>concepts </a:t>
            </a:r>
            <a:r>
              <a:rPr sz="2400" dirty="0">
                <a:solidFill>
                  <a:srgbClr val="2C2C2C"/>
                </a:solidFill>
                <a:latin typeface="Times New Roman"/>
                <a:cs typeface="Times New Roman"/>
              </a:rPr>
              <a:t>to </a:t>
            </a:r>
            <a:r>
              <a:rPr sz="2400" spc="-5" dirty="0">
                <a:solidFill>
                  <a:srgbClr val="2C2C2C"/>
                </a:solidFill>
                <a:latin typeface="Times New Roman"/>
                <a:cs typeface="Times New Roman"/>
              </a:rPr>
              <a:t>board members, </a:t>
            </a:r>
            <a:r>
              <a:rPr sz="2400" dirty="0">
                <a:solidFill>
                  <a:srgbClr val="2C2C2C"/>
                </a:solidFill>
                <a:latin typeface="Times New Roman"/>
                <a:cs typeface="Times New Roman"/>
              </a:rPr>
              <a:t> </a:t>
            </a:r>
            <a:r>
              <a:rPr sz="2400" spc="-5" dirty="0">
                <a:solidFill>
                  <a:srgbClr val="2C2C2C"/>
                </a:solidFill>
                <a:latin typeface="Times New Roman"/>
                <a:cs typeface="Times New Roman"/>
              </a:rPr>
              <a:t>clients or </a:t>
            </a:r>
            <a:r>
              <a:rPr sz="2400" dirty="0">
                <a:solidFill>
                  <a:srgbClr val="2C2C2C"/>
                </a:solidFill>
                <a:latin typeface="Times New Roman"/>
                <a:cs typeface="Times New Roman"/>
              </a:rPr>
              <a:t>investors so </a:t>
            </a:r>
            <a:r>
              <a:rPr sz="2400" spc="-5" dirty="0">
                <a:solidFill>
                  <a:srgbClr val="2C2C2C"/>
                </a:solidFill>
                <a:latin typeface="Times New Roman"/>
                <a:cs typeface="Times New Roman"/>
              </a:rPr>
              <a:t>that </a:t>
            </a:r>
            <a:r>
              <a:rPr sz="2400" dirty="0">
                <a:solidFill>
                  <a:srgbClr val="2C2C2C"/>
                </a:solidFill>
                <a:latin typeface="Times New Roman"/>
                <a:cs typeface="Times New Roman"/>
              </a:rPr>
              <a:t>they can understand and approve a </a:t>
            </a:r>
            <a:r>
              <a:rPr sz="2400" spc="-5" dirty="0">
                <a:solidFill>
                  <a:srgbClr val="2C2C2C"/>
                </a:solidFill>
                <a:latin typeface="Times New Roman"/>
                <a:cs typeface="Times New Roman"/>
              </a:rPr>
              <a:t>development </a:t>
            </a:r>
            <a:r>
              <a:rPr sz="2400" dirty="0">
                <a:solidFill>
                  <a:srgbClr val="2C2C2C"/>
                </a:solidFill>
                <a:latin typeface="Times New Roman"/>
                <a:cs typeface="Times New Roman"/>
              </a:rPr>
              <a:t> o</a:t>
            </a:r>
            <a:r>
              <a:rPr lang="en-US" sz="2400" dirty="0">
                <a:solidFill>
                  <a:srgbClr val="2C2C2C"/>
                </a:solidFill>
                <a:latin typeface="Times New Roman"/>
                <a:cs typeface="Times New Roman"/>
              </a:rPr>
              <a:t>f</a:t>
            </a:r>
            <a:r>
              <a:rPr sz="2400" spc="-5" dirty="0">
                <a:solidFill>
                  <a:srgbClr val="2C2C2C"/>
                </a:solidFill>
                <a:latin typeface="Times New Roman"/>
                <a:cs typeface="Times New Roman"/>
              </a:rPr>
              <a:t> </a:t>
            </a:r>
            <a:r>
              <a:rPr sz="2400" dirty="0">
                <a:solidFill>
                  <a:srgbClr val="2C2C2C"/>
                </a:solidFill>
                <a:latin typeface="Times New Roman"/>
                <a:cs typeface="Times New Roman"/>
              </a:rPr>
              <a:t>produc</a:t>
            </a:r>
            <a:r>
              <a:rPr lang="en-US" sz="2400" dirty="0">
                <a:solidFill>
                  <a:srgbClr val="2C2C2C"/>
                </a:solidFill>
                <a:latin typeface="Times New Roman"/>
                <a:cs typeface="Times New Roman"/>
              </a:rPr>
              <a:t>t,</a:t>
            </a:r>
            <a:endParaRPr sz="2400" dirty="0">
              <a:latin typeface="Times New Roman"/>
              <a:cs typeface="Times New Roman"/>
            </a:endParaRPr>
          </a:p>
          <a:p>
            <a:pPr marL="355600" marR="5080" indent="-342900" algn="just">
              <a:lnSpc>
                <a:spcPct val="150100"/>
              </a:lnSpc>
              <a:spcBef>
                <a:spcPts val="1200"/>
              </a:spcBef>
              <a:buFont typeface="Wingdings"/>
              <a:buChar char=""/>
              <a:tabLst>
                <a:tab pos="355600" algn="l"/>
              </a:tabLst>
            </a:pPr>
            <a:r>
              <a:rPr sz="2400" dirty="0">
                <a:solidFill>
                  <a:srgbClr val="2C2C2C"/>
                </a:solidFill>
                <a:latin typeface="Times New Roman"/>
                <a:cs typeface="Times New Roman"/>
              </a:rPr>
              <a:t>It </a:t>
            </a:r>
            <a:r>
              <a:rPr sz="2400" spc="-5" dirty="0">
                <a:solidFill>
                  <a:srgbClr val="2C2C2C"/>
                </a:solidFill>
                <a:latin typeface="Times New Roman"/>
                <a:cs typeface="Times New Roman"/>
              </a:rPr>
              <a:t>helps </a:t>
            </a:r>
            <a:r>
              <a:rPr sz="2400" dirty="0">
                <a:solidFill>
                  <a:srgbClr val="2C2C2C"/>
                </a:solidFill>
                <a:latin typeface="Times New Roman"/>
                <a:cs typeface="Times New Roman"/>
              </a:rPr>
              <a:t>you </a:t>
            </a:r>
            <a:r>
              <a:rPr sz="2400" spc="-5" dirty="0">
                <a:solidFill>
                  <a:srgbClr val="2C2C2C"/>
                </a:solidFill>
                <a:latin typeface="Times New Roman"/>
                <a:cs typeface="Times New Roman"/>
              </a:rPr>
              <a:t>test </a:t>
            </a:r>
            <a:r>
              <a:rPr sz="2400" spc="-10" dirty="0">
                <a:solidFill>
                  <a:srgbClr val="2C2C2C"/>
                </a:solidFill>
                <a:latin typeface="Times New Roman"/>
                <a:cs typeface="Times New Roman"/>
              </a:rPr>
              <a:t>different </a:t>
            </a:r>
            <a:r>
              <a:rPr sz="2400" spc="-5" dirty="0">
                <a:solidFill>
                  <a:srgbClr val="2C2C2C"/>
                </a:solidFill>
                <a:latin typeface="Times New Roman"/>
                <a:cs typeface="Times New Roman"/>
              </a:rPr>
              <a:t>components </a:t>
            </a:r>
            <a:r>
              <a:rPr sz="2400" dirty="0">
                <a:solidFill>
                  <a:srgbClr val="2C2C2C"/>
                </a:solidFill>
                <a:latin typeface="Times New Roman"/>
                <a:cs typeface="Times New Roman"/>
              </a:rPr>
              <a:t>and </a:t>
            </a:r>
            <a:r>
              <a:rPr sz="2400" spc="-5" dirty="0">
                <a:solidFill>
                  <a:srgbClr val="2C2C2C"/>
                </a:solidFill>
                <a:latin typeface="Times New Roman"/>
                <a:cs typeface="Times New Roman"/>
              </a:rPr>
              <a:t>refine </a:t>
            </a:r>
            <a:r>
              <a:rPr sz="2400" dirty="0">
                <a:solidFill>
                  <a:srgbClr val="2C2C2C"/>
                </a:solidFill>
                <a:latin typeface="Times New Roman"/>
                <a:cs typeface="Times New Roman"/>
              </a:rPr>
              <a:t>your ideas, </a:t>
            </a:r>
            <a:r>
              <a:rPr sz="2400" spc="-5" dirty="0">
                <a:solidFill>
                  <a:srgbClr val="2C2C2C"/>
                </a:solidFill>
                <a:latin typeface="Times New Roman"/>
                <a:cs typeface="Times New Roman"/>
              </a:rPr>
              <a:t>providing </a:t>
            </a:r>
            <a:r>
              <a:rPr sz="2400" dirty="0">
                <a:solidFill>
                  <a:srgbClr val="2C2C2C"/>
                </a:solidFill>
                <a:latin typeface="Times New Roman"/>
                <a:cs typeface="Times New Roman"/>
              </a:rPr>
              <a:t>a </a:t>
            </a:r>
            <a:r>
              <a:rPr sz="2400" spc="5" dirty="0">
                <a:solidFill>
                  <a:srgbClr val="2C2C2C"/>
                </a:solidFill>
                <a:latin typeface="Times New Roman"/>
                <a:cs typeface="Times New Roman"/>
              </a:rPr>
              <a:t> </a:t>
            </a:r>
            <a:r>
              <a:rPr sz="2400" dirty="0">
                <a:solidFill>
                  <a:srgbClr val="2C2C2C"/>
                </a:solidFill>
                <a:latin typeface="Times New Roman"/>
                <a:cs typeface="Times New Roman"/>
              </a:rPr>
              <a:t>clear</a:t>
            </a:r>
            <a:r>
              <a:rPr sz="2400" spc="-35" dirty="0">
                <a:solidFill>
                  <a:srgbClr val="2C2C2C"/>
                </a:solidFill>
                <a:latin typeface="Times New Roman"/>
                <a:cs typeface="Times New Roman"/>
              </a:rPr>
              <a:t> </a:t>
            </a:r>
            <a:r>
              <a:rPr sz="2400" dirty="0">
                <a:solidFill>
                  <a:srgbClr val="2C2C2C"/>
                </a:solidFill>
                <a:latin typeface="Times New Roman"/>
                <a:cs typeface="Times New Roman"/>
              </a:rPr>
              <a:t>pathway</a:t>
            </a:r>
            <a:r>
              <a:rPr sz="2400" spc="-5" dirty="0">
                <a:solidFill>
                  <a:srgbClr val="2C2C2C"/>
                </a:solidFill>
                <a:latin typeface="Times New Roman"/>
                <a:cs typeface="Times New Roman"/>
              </a:rPr>
              <a:t> from</a:t>
            </a:r>
            <a:r>
              <a:rPr sz="2400" spc="-10" dirty="0">
                <a:solidFill>
                  <a:srgbClr val="2C2C2C"/>
                </a:solidFill>
                <a:latin typeface="Times New Roman"/>
                <a:cs typeface="Times New Roman"/>
              </a:rPr>
              <a:t> </a:t>
            </a:r>
            <a:r>
              <a:rPr sz="2400" dirty="0">
                <a:solidFill>
                  <a:srgbClr val="2C2C2C"/>
                </a:solidFill>
                <a:latin typeface="Times New Roman"/>
                <a:cs typeface="Times New Roman"/>
              </a:rPr>
              <a:t>concept</a:t>
            </a:r>
            <a:r>
              <a:rPr sz="2400" spc="-20" dirty="0">
                <a:solidFill>
                  <a:srgbClr val="2C2C2C"/>
                </a:solidFill>
                <a:latin typeface="Times New Roman"/>
                <a:cs typeface="Times New Roman"/>
              </a:rPr>
              <a:t> </a:t>
            </a:r>
            <a:r>
              <a:rPr sz="2400" dirty="0">
                <a:solidFill>
                  <a:srgbClr val="2C2C2C"/>
                </a:solidFill>
                <a:latin typeface="Times New Roman"/>
                <a:cs typeface="Times New Roman"/>
              </a:rPr>
              <a:t>to</a:t>
            </a:r>
            <a:r>
              <a:rPr sz="2400" spc="-15" dirty="0">
                <a:solidFill>
                  <a:srgbClr val="2C2C2C"/>
                </a:solidFill>
                <a:latin typeface="Times New Roman"/>
                <a:cs typeface="Times New Roman"/>
              </a:rPr>
              <a:t> </a:t>
            </a:r>
            <a:r>
              <a:rPr sz="2400" spc="-20" dirty="0">
                <a:solidFill>
                  <a:srgbClr val="2C2C2C"/>
                </a:solidFill>
                <a:latin typeface="Times New Roman"/>
                <a:cs typeface="Times New Roman"/>
              </a:rPr>
              <a:t>reality</a:t>
            </a:r>
            <a:r>
              <a:rPr lang="en-US" sz="2400" spc="-20" dirty="0">
                <a:solidFill>
                  <a:srgbClr val="2C2C2C"/>
                </a:solidFill>
                <a:latin typeface="Times New Roman"/>
                <a:cs typeface="Times New Roman"/>
              </a:rPr>
              <a:t>,</a:t>
            </a:r>
            <a:endParaRPr sz="2400" dirty="0">
              <a:latin typeface="Times New Roman"/>
              <a:cs typeface="Times New Roman"/>
            </a:endParaRPr>
          </a:p>
          <a:p>
            <a:pPr>
              <a:lnSpc>
                <a:spcPct val="100000"/>
              </a:lnSpc>
              <a:spcBef>
                <a:spcPts val="50"/>
              </a:spcBef>
              <a:buClr>
                <a:srgbClr val="2C2C2C"/>
              </a:buClr>
              <a:buFont typeface="Wingdings"/>
              <a:buChar char=""/>
            </a:pPr>
            <a:endParaRPr sz="2250" dirty="0">
              <a:latin typeface="Times New Roman"/>
              <a:cs typeface="Times New Roman"/>
            </a:endParaRPr>
          </a:p>
          <a:p>
            <a:pPr marL="355600" indent="-342900">
              <a:lnSpc>
                <a:spcPct val="100000"/>
              </a:lnSpc>
              <a:buFont typeface="Wingdings"/>
              <a:buChar char=""/>
              <a:tabLst>
                <a:tab pos="355600" algn="l"/>
              </a:tabLst>
            </a:pPr>
            <a:r>
              <a:rPr sz="2400" dirty="0">
                <a:solidFill>
                  <a:srgbClr val="2C2C2C"/>
                </a:solidFill>
                <a:latin typeface="Times New Roman"/>
                <a:cs typeface="Times New Roman"/>
              </a:rPr>
              <a:t>Reducing</a:t>
            </a:r>
            <a:r>
              <a:rPr sz="2400" spc="-20" dirty="0">
                <a:solidFill>
                  <a:srgbClr val="2C2C2C"/>
                </a:solidFill>
                <a:latin typeface="Times New Roman"/>
                <a:cs typeface="Times New Roman"/>
              </a:rPr>
              <a:t> </a:t>
            </a:r>
            <a:r>
              <a:rPr lang="en-US" sz="2400" dirty="0">
                <a:solidFill>
                  <a:srgbClr val="2C2C2C"/>
                </a:solidFill>
                <a:latin typeface="Times New Roman"/>
                <a:cs typeface="Times New Roman"/>
              </a:rPr>
              <a:t>p</a:t>
            </a:r>
            <a:r>
              <a:rPr sz="2400" dirty="0">
                <a:solidFill>
                  <a:srgbClr val="2C2C2C"/>
                </a:solidFill>
                <a:latin typeface="Times New Roman"/>
                <a:cs typeface="Times New Roman"/>
              </a:rPr>
              <a:t>roduct</a:t>
            </a:r>
            <a:r>
              <a:rPr sz="2400" spc="-10" dirty="0">
                <a:solidFill>
                  <a:srgbClr val="2C2C2C"/>
                </a:solidFill>
                <a:latin typeface="Times New Roman"/>
                <a:cs typeface="Times New Roman"/>
              </a:rPr>
              <a:t> </a:t>
            </a:r>
            <a:r>
              <a:rPr lang="en-US" sz="2400" spc="-5" dirty="0">
                <a:solidFill>
                  <a:srgbClr val="2C2C2C"/>
                </a:solidFill>
                <a:latin typeface="Times New Roman"/>
                <a:cs typeface="Times New Roman"/>
              </a:rPr>
              <a:t>d</a:t>
            </a:r>
            <a:r>
              <a:rPr sz="2400" spc="-5" dirty="0">
                <a:solidFill>
                  <a:srgbClr val="2C2C2C"/>
                </a:solidFill>
                <a:latin typeface="Times New Roman"/>
                <a:cs typeface="Times New Roman"/>
              </a:rPr>
              <a:t>evelopment</a:t>
            </a:r>
            <a:r>
              <a:rPr sz="2400" spc="-10" dirty="0">
                <a:solidFill>
                  <a:srgbClr val="2C2C2C"/>
                </a:solidFill>
                <a:latin typeface="Times New Roman"/>
                <a:cs typeface="Times New Roman"/>
              </a:rPr>
              <a:t> </a:t>
            </a:r>
            <a:r>
              <a:rPr lang="en-US" sz="2400" spc="-5" dirty="0">
                <a:solidFill>
                  <a:srgbClr val="2C2C2C"/>
                </a:solidFill>
                <a:latin typeface="Times New Roman"/>
                <a:cs typeface="Times New Roman"/>
              </a:rPr>
              <a:t>c</a:t>
            </a:r>
            <a:r>
              <a:rPr sz="2400" spc="-5" dirty="0">
                <a:solidFill>
                  <a:srgbClr val="2C2C2C"/>
                </a:solidFill>
                <a:latin typeface="Times New Roman"/>
                <a:cs typeface="Times New Roman"/>
              </a:rPr>
              <a:t>osts</a:t>
            </a:r>
            <a:r>
              <a:rPr lang="en-US" sz="2400" spc="-5" dirty="0">
                <a:solidFill>
                  <a:srgbClr val="2C2C2C"/>
                </a:solidFill>
                <a:latin typeface="Times New Roman"/>
                <a:cs typeface="Times New Roman"/>
              </a:rPr>
              <a:t>,</a:t>
            </a:r>
            <a:endParaRPr sz="2400" dirty="0">
              <a:latin typeface="Times New Roman"/>
              <a:cs typeface="Times New Roman"/>
            </a:endParaRPr>
          </a:p>
          <a:p>
            <a:pPr>
              <a:lnSpc>
                <a:spcPct val="100000"/>
              </a:lnSpc>
              <a:buClr>
                <a:srgbClr val="2C2C2C"/>
              </a:buClr>
              <a:buFont typeface="Wingdings"/>
              <a:buChar char=""/>
            </a:pPr>
            <a:endParaRPr sz="2300" dirty="0">
              <a:latin typeface="Times New Roman"/>
              <a:cs typeface="Times New Roman"/>
            </a:endParaRPr>
          </a:p>
          <a:p>
            <a:pPr marL="355600" indent="-342900">
              <a:lnSpc>
                <a:spcPct val="100000"/>
              </a:lnSpc>
              <a:buFont typeface="Wingdings"/>
              <a:buChar char=""/>
              <a:tabLst>
                <a:tab pos="355600" algn="l"/>
              </a:tabLst>
            </a:pPr>
            <a:r>
              <a:rPr sz="2400" dirty="0">
                <a:solidFill>
                  <a:srgbClr val="2C2C2C"/>
                </a:solidFill>
                <a:latin typeface="Times New Roman"/>
                <a:cs typeface="Times New Roman"/>
              </a:rPr>
              <a:t>Allowing</a:t>
            </a:r>
            <a:r>
              <a:rPr sz="2400" spc="-45" dirty="0">
                <a:solidFill>
                  <a:srgbClr val="2C2C2C"/>
                </a:solidFill>
                <a:latin typeface="Times New Roman"/>
                <a:cs typeface="Times New Roman"/>
              </a:rPr>
              <a:t> </a:t>
            </a:r>
            <a:r>
              <a:rPr lang="en-US" sz="2400" dirty="0">
                <a:solidFill>
                  <a:srgbClr val="2C2C2C"/>
                </a:solidFill>
                <a:latin typeface="Times New Roman"/>
                <a:cs typeface="Times New Roman"/>
              </a:rPr>
              <a:t>f</a:t>
            </a:r>
            <a:r>
              <a:rPr sz="2400" dirty="0">
                <a:solidFill>
                  <a:srgbClr val="2C2C2C"/>
                </a:solidFill>
                <a:latin typeface="Times New Roman"/>
                <a:cs typeface="Times New Roman"/>
              </a:rPr>
              <a:t>unctionality</a:t>
            </a:r>
            <a:r>
              <a:rPr sz="2400" spc="-100" dirty="0">
                <a:solidFill>
                  <a:srgbClr val="2C2C2C"/>
                </a:solidFill>
                <a:latin typeface="Times New Roman"/>
                <a:cs typeface="Times New Roman"/>
              </a:rPr>
              <a:t> </a:t>
            </a:r>
            <a:r>
              <a:rPr lang="en-US" sz="2400" spc="-25" dirty="0">
                <a:solidFill>
                  <a:srgbClr val="2C2C2C"/>
                </a:solidFill>
                <a:latin typeface="Times New Roman"/>
                <a:cs typeface="Times New Roman"/>
              </a:rPr>
              <a:t>t</a:t>
            </a:r>
            <a:r>
              <a:rPr sz="2400" spc="-25" dirty="0">
                <a:solidFill>
                  <a:srgbClr val="2C2C2C"/>
                </a:solidFill>
                <a:latin typeface="Times New Roman"/>
                <a:cs typeface="Times New Roman"/>
              </a:rPr>
              <a:t>esting</a:t>
            </a:r>
            <a:endParaRPr sz="240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20061" y="767283"/>
            <a:ext cx="8401050" cy="635000"/>
          </a:xfrm>
          <a:prstGeom prst="rect">
            <a:avLst/>
          </a:prstGeom>
        </p:spPr>
        <p:txBody>
          <a:bodyPr vert="horz" wrap="square" lIns="0" tIns="12065" rIns="0" bIns="0" rtlCol="0">
            <a:spAutoFit/>
          </a:bodyPr>
          <a:lstStyle/>
          <a:p>
            <a:pPr marL="12700">
              <a:lnSpc>
                <a:spcPct val="100000"/>
              </a:lnSpc>
              <a:spcBef>
                <a:spcPts val="95"/>
              </a:spcBef>
            </a:pPr>
            <a:r>
              <a:rPr spc="-5" dirty="0"/>
              <a:t>Benefits</a:t>
            </a:r>
            <a:r>
              <a:rPr spc="-30" dirty="0"/>
              <a:t> </a:t>
            </a:r>
            <a:r>
              <a:rPr spc="-5" dirty="0"/>
              <a:t>of </a:t>
            </a:r>
            <a:r>
              <a:rPr spc="-15" dirty="0"/>
              <a:t>Digital</a:t>
            </a:r>
            <a:r>
              <a:rPr spc="15" dirty="0"/>
              <a:t> </a:t>
            </a:r>
            <a:r>
              <a:rPr spc="-10" dirty="0"/>
              <a:t>Manufacturing</a:t>
            </a:r>
            <a:r>
              <a:rPr spc="40" dirty="0"/>
              <a:t> </a:t>
            </a:r>
            <a:r>
              <a:rPr spc="-5" dirty="0"/>
              <a:t>in </a:t>
            </a:r>
            <a:r>
              <a:rPr spc="-10" dirty="0"/>
              <a:t>CSE</a:t>
            </a:r>
          </a:p>
        </p:txBody>
      </p:sp>
      <p:sp>
        <p:nvSpPr>
          <p:cNvPr id="3" name="object 3"/>
          <p:cNvSpPr txBox="1"/>
          <p:nvPr/>
        </p:nvSpPr>
        <p:spPr>
          <a:xfrm>
            <a:off x="685800" y="1762759"/>
            <a:ext cx="10668000" cy="3824124"/>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5600" algn="l"/>
              </a:tabLst>
            </a:pPr>
            <a:r>
              <a:rPr sz="2400" spc="-5" dirty="0">
                <a:solidFill>
                  <a:srgbClr val="2C2C2C"/>
                </a:solidFill>
                <a:latin typeface="Times New Roman"/>
                <a:cs typeface="Times New Roman"/>
              </a:rPr>
              <a:t>Eliminating</a:t>
            </a:r>
            <a:r>
              <a:rPr sz="2400" spc="-40" dirty="0">
                <a:solidFill>
                  <a:srgbClr val="2C2C2C"/>
                </a:solidFill>
                <a:latin typeface="Times New Roman"/>
                <a:cs typeface="Times New Roman"/>
              </a:rPr>
              <a:t> </a:t>
            </a:r>
            <a:r>
              <a:rPr sz="2400" dirty="0">
                <a:solidFill>
                  <a:srgbClr val="2C2C2C"/>
                </a:solidFill>
                <a:latin typeface="Times New Roman"/>
                <a:cs typeface="Times New Roman"/>
              </a:rPr>
              <a:t>the</a:t>
            </a:r>
            <a:r>
              <a:rPr sz="2400" spc="-25" dirty="0">
                <a:solidFill>
                  <a:srgbClr val="2C2C2C"/>
                </a:solidFill>
                <a:latin typeface="Times New Roman"/>
                <a:cs typeface="Times New Roman"/>
              </a:rPr>
              <a:t> </a:t>
            </a:r>
            <a:r>
              <a:rPr lang="en-US" sz="2400" spc="-25" dirty="0">
                <a:solidFill>
                  <a:srgbClr val="2C2C2C"/>
                </a:solidFill>
                <a:latin typeface="Times New Roman"/>
                <a:cs typeface="Times New Roman"/>
              </a:rPr>
              <a:t>r</a:t>
            </a:r>
            <a:r>
              <a:rPr sz="2400" dirty="0">
                <a:solidFill>
                  <a:srgbClr val="2C2C2C"/>
                </a:solidFill>
                <a:latin typeface="Times New Roman"/>
                <a:cs typeface="Times New Roman"/>
              </a:rPr>
              <a:t>isk</a:t>
            </a:r>
            <a:r>
              <a:rPr sz="2400" spc="-10" dirty="0">
                <a:solidFill>
                  <a:srgbClr val="2C2C2C"/>
                </a:solidFill>
                <a:latin typeface="Times New Roman"/>
                <a:cs typeface="Times New Roman"/>
              </a:rPr>
              <a:t> </a:t>
            </a:r>
            <a:r>
              <a:rPr sz="2400" dirty="0">
                <a:solidFill>
                  <a:srgbClr val="2C2C2C"/>
                </a:solidFill>
                <a:latin typeface="Times New Roman"/>
                <a:cs typeface="Times New Roman"/>
              </a:rPr>
              <a:t>of</a:t>
            </a:r>
            <a:r>
              <a:rPr sz="2400" spc="-5" dirty="0">
                <a:solidFill>
                  <a:srgbClr val="2C2C2C"/>
                </a:solidFill>
                <a:latin typeface="Times New Roman"/>
                <a:cs typeface="Times New Roman"/>
              </a:rPr>
              <a:t> </a:t>
            </a:r>
            <a:r>
              <a:rPr lang="en-US" sz="2400" dirty="0">
                <a:solidFill>
                  <a:srgbClr val="2C2C2C"/>
                </a:solidFill>
                <a:latin typeface="Times New Roman"/>
                <a:cs typeface="Times New Roman"/>
              </a:rPr>
              <a:t>p</a:t>
            </a:r>
            <a:r>
              <a:rPr sz="2400" dirty="0">
                <a:solidFill>
                  <a:srgbClr val="2C2C2C"/>
                </a:solidFill>
                <a:latin typeface="Times New Roman"/>
                <a:cs typeface="Times New Roman"/>
              </a:rPr>
              <a:t>roduct</a:t>
            </a:r>
            <a:r>
              <a:rPr sz="2400" spc="-10" dirty="0">
                <a:solidFill>
                  <a:srgbClr val="2C2C2C"/>
                </a:solidFill>
                <a:latin typeface="Times New Roman"/>
                <a:cs typeface="Times New Roman"/>
              </a:rPr>
              <a:t> </a:t>
            </a:r>
            <a:r>
              <a:rPr lang="en-US" sz="2400" dirty="0">
                <a:solidFill>
                  <a:srgbClr val="2C2C2C"/>
                </a:solidFill>
                <a:latin typeface="Times New Roman"/>
                <a:cs typeface="Times New Roman"/>
              </a:rPr>
              <a:t>f</a:t>
            </a:r>
            <a:r>
              <a:rPr sz="2400" dirty="0">
                <a:solidFill>
                  <a:srgbClr val="2C2C2C"/>
                </a:solidFill>
                <a:latin typeface="Times New Roman"/>
                <a:cs typeface="Times New Roman"/>
              </a:rPr>
              <a:t>ailure</a:t>
            </a:r>
            <a:r>
              <a:rPr lang="en-US" sz="2400" dirty="0">
                <a:solidFill>
                  <a:srgbClr val="2C2C2C"/>
                </a:solidFill>
                <a:latin typeface="Times New Roman"/>
                <a:cs typeface="Times New Roman"/>
              </a:rPr>
              <a:t>,</a:t>
            </a:r>
            <a:endParaRPr sz="2400" dirty="0">
              <a:latin typeface="Times New Roman"/>
              <a:cs typeface="Times New Roman"/>
            </a:endParaRPr>
          </a:p>
          <a:p>
            <a:pPr>
              <a:lnSpc>
                <a:spcPct val="100000"/>
              </a:lnSpc>
              <a:spcBef>
                <a:spcPts val="50"/>
              </a:spcBef>
              <a:buClr>
                <a:srgbClr val="2C2C2C"/>
              </a:buClr>
              <a:buFont typeface="Wingdings"/>
              <a:buChar char=""/>
            </a:pPr>
            <a:endParaRPr sz="2250" dirty="0">
              <a:latin typeface="Times New Roman"/>
              <a:cs typeface="Times New Roman"/>
            </a:endParaRPr>
          </a:p>
          <a:p>
            <a:pPr marL="355600" indent="-342900">
              <a:lnSpc>
                <a:spcPct val="100000"/>
              </a:lnSpc>
              <a:spcBef>
                <a:spcPts val="5"/>
              </a:spcBef>
              <a:buFont typeface="Wingdings"/>
              <a:buChar char=""/>
              <a:tabLst>
                <a:tab pos="355600" algn="l"/>
              </a:tabLst>
            </a:pPr>
            <a:r>
              <a:rPr sz="2400" spc="-5" dirty="0">
                <a:solidFill>
                  <a:srgbClr val="2C2C2C"/>
                </a:solidFill>
                <a:latin typeface="Times New Roman"/>
                <a:cs typeface="Times New Roman"/>
              </a:rPr>
              <a:t>Improving</a:t>
            </a:r>
            <a:r>
              <a:rPr sz="2400" dirty="0">
                <a:solidFill>
                  <a:srgbClr val="2C2C2C"/>
                </a:solidFill>
                <a:latin typeface="Times New Roman"/>
                <a:cs typeface="Times New Roman"/>
              </a:rPr>
              <a:t> </a:t>
            </a:r>
            <a:r>
              <a:rPr lang="en-US" sz="2400" dirty="0">
                <a:solidFill>
                  <a:srgbClr val="2C2C2C"/>
                </a:solidFill>
                <a:latin typeface="Times New Roman"/>
                <a:cs typeface="Times New Roman"/>
              </a:rPr>
              <a:t>u</a:t>
            </a:r>
            <a:r>
              <a:rPr sz="2400" dirty="0">
                <a:solidFill>
                  <a:srgbClr val="2C2C2C"/>
                </a:solidFill>
                <a:latin typeface="Times New Roman"/>
                <a:cs typeface="Times New Roman"/>
              </a:rPr>
              <a:t>ser </a:t>
            </a:r>
            <a:r>
              <a:rPr lang="en-US" sz="2400" dirty="0">
                <a:solidFill>
                  <a:srgbClr val="2C2C2C"/>
                </a:solidFill>
                <a:latin typeface="Times New Roman"/>
                <a:cs typeface="Times New Roman"/>
              </a:rPr>
              <a:t>i</a:t>
            </a:r>
            <a:r>
              <a:rPr sz="2400" spc="-5" dirty="0">
                <a:solidFill>
                  <a:srgbClr val="2C2C2C"/>
                </a:solidFill>
                <a:latin typeface="Times New Roman"/>
                <a:cs typeface="Times New Roman"/>
              </a:rPr>
              <a:t>nvolvement</a:t>
            </a:r>
            <a:r>
              <a:rPr lang="en-US" sz="2400" spc="-5" dirty="0">
                <a:solidFill>
                  <a:srgbClr val="2C2C2C"/>
                </a:solidFill>
                <a:latin typeface="Times New Roman"/>
                <a:cs typeface="Times New Roman"/>
              </a:rPr>
              <a:t>,</a:t>
            </a:r>
            <a:endParaRPr sz="2400" dirty="0">
              <a:latin typeface="Times New Roman"/>
              <a:cs typeface="Times New Roman"/>
            </a:endParaRPr>
          </a:p>
          <a:p>
            <a:pPr>
              <a:lnSpc>
                <a:spcPct val="100000"/>
              </a:lnSpc>
              <a:spcBef>
                <a:spcPts val="50"/>
              </a:spcBef>
              <a:buClr>
                <a:srgbClr val="2C2C2C"/>
              </a:buClr>
              <a:buFont typeface="Wingdings"/>
              <a:buChar char=""/>
            </a:pPr>
            <a:endParaRPr sz="2250" dirty="0">
              <a:latin typeface="Times New Roman"/>
              <a:cs typeface="Times New Roman"/>
            </a:endParaRPr>
          </a:p>
          <a:p>
            <a:pPr marL="355600" indent="-342900">
              <a:lnSpc>
                <a:spcPct val="100000"/>
              </a:lnSpc>
              <a:buFont typeface="Wingdings"/>
              <a:buChar char=""/>
              <a:tabLst>
                <a:tab pos="355600" algn="l"/>
              </a:tabLst>
            </a:pPr>
            <a:r>
              <a:rPr sz="2400" dirty="0">
                <a:solidFill>
                  <a:srgbClr val="2C2C2C"/>
                </a:solidFill>
                <a:latin typeface="Times New Roman"/>
                <a:cs typeface="Times New Roman"/>
              </a:rPr>
              <a:t>Increased</a:t>
            </a:r>
            <a:r>
              <a:rPr sz="2400" spc="-25" dirty="0">
                <a:solidFill>
                  <a:srgbClr val="2C2C2C"/>
                </a:solidFill>
                <a:latin typeface="Times New Roman"/>
                <a:cs typeface="Times New Roman"/>
              </a:rPr>
              <a:t> </a:t>
            </a:r>
            <a:r>
              <a:rPr sz="2400" spc="-10" dirty="0">
                <a:solidFill>
                  <a:srgbClr val="2C2C2C"/>
                </a:solidFill>
                <a:latin typeface="Times New Roman"/>
                <a:cs typeface="Times New Roman"/>
              </a:rPr>
              <a:t>efficiency</a:t>
            </a:r>
            <a:r>
              <a:rPr sz="2400" spc="-20" dirty="0">
                <a:solidFill>
                  <a:srgbClr val="2C2C2C"/>
                </a:solidFill>
                <a:latin typeface="Times New Roman"/>
                <a:cs typeface="Times New Roman"/>
              </a:rPr>
              <a:t> </a:t>
            </a:r>
            <a:r>
              <a:rPr sz="2400" dirty="0">
                <a:solidFill>
                  <a:srgbClr val="2C2C2C"/>
                </a:solidFill>
                <a:latin typeface="Times New Roman"/>
                <a:cs typeface="Times New Roman"/>
              </a:rPr>
              <a:t>through</a:t>
            </a:r>
            <a:r>
              <a:rPr sz="2400" spc="-10" dirty="0">
                <a:solidFill>
                  <a:srgbClr val="2C2C2C"/>
                </a:solidFill>
                <a:latin typeface="Times New Roman"/>
                <a:cs typeface="Times New Roman"/>
              </a:rPr>
              <a:t> </a:t>
            </a:r>
            <a:r>
              <a:rPr sz="2400" spc="-5" dirty="0">
                <a:solidFill>
                  <a:srgbClr val="2C2C2C"/>
                </a:solidFill>
                <a:latin typeface="Times New Roman"/>
                <a:cs typeface="Times New Roman"/>
              </a:rPr>
              <a:t>automated</a:t>
            </a:r>
            <a:r>
              <a:rPr sz="2400" spc="-15" dirty="0">
                <a:solidFill>
                  <a:srgbClr val="2C2C2C"/>
                </a:solidFill>
                <a:latin typeface="Times New Roman"/>
                <a:cs typeface="Times New Roman"/>
              </a:rPr>
              <a:t> </a:t>
            </a:r>
            <a:r>
              <a:rPr sz="2400" dirty="0">
                <a:solidFill>
                  <a:srgbClr val="2C2C2C"/>
                </a:solidFill>
                <a:latin typeface="Times New Roman"/>
                <a:cs typeface="Times New Roman"/>
              </a:rPr>
              <a:t>exchange</a:t>
            </a:r>
            <a:r>
              <a:rPr sz="2400" spc="-20" dirty="0">
                <a:solidFill>
                  <a:srgbClr val="2C2C2C"/>
                </a:solidFill>
                <a:latin typeface="Times New Roman"/>
                <a:cs typeface="Times New Roman"/>
              </a:rPr>
              <a:t> </a:t>
            </a:r>
            <a:r>
              <a:rPr sz="2400" dirty="0">
                <a:solidFill>
                  <a:srgbClr val="2C2C2C"/>
                </a:solidFill>
                <a:latin typeface="Times New Roman"/>
                <a:cs typeface="Times New Roman"/>
              </a:rPr>
              <a:t>of</a:t>
            </a:r>
            <a:r>
              <a:rPr sz="2400" spc="5" dirty="0">
                <a:solidFill>
                  <a:srgbClr val="2C2C2C"/>
                </a:solidFill>
                <a:latin typeface="Times New Roman"/>
                <a:cs typeface="Times New Roman"/>
              </a:rPr>
              <a:t> </a:t>
            </a:r>
            <a:r>
              <a:rPr sz="2400" dirty="0">
                <a:solidFill>
                  <a:srgbClr val="2C2C2C"/>
                </a:solidFill>
                <a:latin typeface="Times New Roman"/>
                <a:cs typeface="Times New Roman"/>
              </a:rPr>
              <a:t>data</a:t>
            </a:r>
            <a:r>
              <a:rPr lang="en-US" sz="2400" dirty="0">
                <a:solidFill>
                  <a:srgbClr val="2C2C2C"/>
                </a:solidFill>
                <a:latin typeface="Times New Roman"/>
                <a:cs typeface="Times New Roman"/>
              </a:rPr>
              <a:t>,</a:t>
            </a:r>
            <a:endParaRPr sz="2400" dirty="0">
              <a:latin typeface="Times New Roman"/>
              <a:cs typeface="Times New Roman"/>
            </a:endParaRPr>
          </a:p>
          <a:p>
            <a:pPr>
              <a:lnSpc>
                <a:spcPct val="100000"/>
              </a:lnSpc>
              <a:buClr>
                <a:srgbClr val="2C2C2C"/>
              </a:buClr>
              <a:buFont typeface="Wingdings"/>
              <a:buChar char=""/>
            </a:pPr>
            <a:endParaRPr sz="2300" dirty="0">
              <a:latin typeface="Times New Roman"/>
              <a:cs typeface="Times New Roman"/>
            </a:endParaRPr>
          </a:p>
          <a:p>
            <a:pPr marL="355600" indent="-342900">
              <a:lnSpc>
                <a:spcPct val="100000"/>
              </a:lnSpc>
              <a:buFont typeface="Wingdings"/>
              <a:buChar char=""/>
              <a:tabLst>
                <a:tab pos="355600" algn="l"/>
              </a:tabLst>
            </a:pPr>
            <a:r>
              <a:rPr sz="2400" spc="-20" dirty="0">
                <a:solidFill>
                  <a:srgbClr val="2C2C2C"/>
                </a:solidFill>
                <a:latin typeface="Times New Roman"/>
                <a:cs typeface="Times New Roman"/>
              </a:rPr>
              <a:t>Avoidance</a:t>
            </a:r>
            <a:r>
              <a:rPr sz="2400" spc="-15" dirty="0">
                <a:solidFill>
                  <a:srgbClr val="2C2C2C"/>
                </a:solidFill>
                <a:latin typeface="Times New Roman"/>
                <a:cs typeface="Times New Roman"/>
              </a:rPr>
              <a:t> </a:t>
            </a:r>
            <a:r>
              <a:rPr sz="2400" dirty="0">
                <a:solidFill>
                  <a:srgbClr val="2C2C2C"/>
                </a:solidFill>
                <a:latin typeface="Times New Roman"/>
                <a:cs typeface="Times New Roman"/>
              </a:rPr>
              <a:t>of</a:t>
            </a:r>
            <a:r>
              <a:rPr sz="2400" spc="-10" dirty="0">
                <a:solidFill>
                  <a:srgbClr val="2C2C2C"/>
                </a:solidFill>
                <a:latin typeface="Times New Roman"/>
                <a:cs typeface="Times New Roman"/>
              </a:rPr>
              <a:t> </a:t>
            </a:r>
            <a:r>
              <a:rPr sz="2400" dirty="0">
                <a:solidFill>
                  <a:srgbClr val="2C2C2C"/>
                </a:solidFill>
                <a:latin typeface="Times New Roman"/>
                <a:cs typeface="Times New Roman"/>
              </a:rPr>
              <a:t>costly</a:t>
            </a:r>
            <a:r>
              <a:rPr sz="2400" spc="-5" dirty="0">
                <a:solidFill>
                  <a:srgbClr val="2C2C2C"/>
                </a:solidFill>
                <a:latin typeface="Times New Roman"/>
                <a:cs typeface="Times New Roman"/>
              </a:rPr>
              <a:t> </a:t>
            </a:r>
            <a:r>
              <a:rPr sz="2400" dirty="0">
                <a:solidFill>
                  <a:srgbClr val="2C2C2C"/>
                </a:solidFill>
                <a:latin typeface="Times New Roman"/>
                <a:cs typeface="Times New Roman"/>
              </a:rPr>
              <a:t>errors</a:t>
            </a:r>
            <a:r>
              <a:rPr sz="2400" spc="-20" dirty="0">
                <a:solidFill>
                  <a:srgbClr val="2C2C2C"/>
                </a:solidFill>
                <a:latin typeface="Times New Roman"/>
                <a:cs typeface="Times New Roman"/>
              </a:rPr>
              <a:t> </a:t>
            </a:r>
            <a:r>
              <a:rPr sz="2400" dirty="0">
                <a:solidFill>
                  <a:srgbClr val="2C2C2C"/>
                </a:solidFill>
                <a:latin typeface="Times New Roman"/>
                <a:cs typeface="Times New Roman"/>
              </a:rPr>
              <a:t>due to</a:t>
            </a:r>
            <a:r>
              <a:rPr sz="2400" spc="-15" dirty="0">
                <a:solidFill>
                  <a:srgbClr val="2C2C2C"/>
                </a:solidFill>
                <a:latin typeface="Times New Roman"/>
                <a:cs typeface="Times New Roman"/>
              </a:rPr>
              <a:t> </a:t>
            </a:r>
            <a:r>
              <a:rPr sz="2400" spc="-5" dirty="0">
                <a:solidFill>
                  <a:srgbClr val="2C2C2C"/>
                </a:solidFill>
                <a:latin typeface="Times New Roman"/>
                <a:cs typeface="Times New Roman"/>
              </a:rPr>
              <a:t>missed</a:t>
            </a:r>
            <a:r>
              <a:rPr sz="2400" spc="5" dirty="0">
                <a:solidFill>
                  <a:srgbClr val="2C2C2C"/>
                </a:solidFill>
                <a:latin typeface="Times New Roman"/>
                <a:cs typeface="Times New Roman"/>
              </a:rPr>
              <a:t> </a:t>
            </a:r>
            <a:r>
              <a:rPr sz="2400" dirty="0">
                <a:solidFill>
                  <a:srgbClr val="2C2C2C"/>
                </a:solidFill>
                <a:latin typeface="Times New Roman"/>
                <a:cs typeface="Times New Roman"/>
              </a:rPr>
              <a:t>or </a:t>
            </a:r>
            <a:r>
              <a:rPr sz="2400" spc="-5" dirty="0">
                <a:solidFill>
                  <a:srgbClr val="2C2C2C"/>
                </a:solidFill>
                <a:latin typeface="Times New Roman"/>
                <a:cs typeface="Times New Roman"/>
              </a:rPr>
              <a:t>misinterpreted</a:t>
            </a:r>
            <a:r>
              <a:rPr sz="2400" spc="-30" dirty="0">
                <a:solidFill>
                  <a:srgbClr val="2C2C2C"/>
                </a:solidFill>
                <a:latin typeface="Times New Roman"/>
                <a:cs typeface="Times New Roman"/>
              </a:rPr>
              <a:t> </a:t>
            </a:r>
            <a:r>
              <a:rPr sz="2400" dirty="0">
                <a:solidFill>
                  <a:srgbClr val="2C2C2C"/>
                </a:solidFill>
                <a:latin typeface="Times New Roman"/>
                <a:cs typeface="Times New Roman"/>
              </a:rPr>
              <a:t>data</a:t>
            </a:r>
            <a:r>
              <a:rPr lang="en-US" sz="2400" dirty="0">
                <a:solidFill>
                  <a:srgbClr val="2C2C2C"/>
                </a:solidFill>
                <a:latin typeface="Times New Roman"/>
                <a:cs typeface="Times New Roman"/>
              </a:rPr>
              <a:t>,</a:t>
            </a:r>
            <a:endParaRPr sz="2400" dirty="0">
              <a:latin typeface="Times New Roman"/>
              <a:cs typeface="Times New Roman"/>
            </a:endParaRPr>
          </a:p>
          <a:p>
            <a:pPr marL="355600" marR="5080" indent="-342900">
              <a:lnSpc>
                <a:spcPct val="150000"/>
              </a:lnSpc>
              <a:spcBef>
                <a:spcPts val="1200"/>
              </a:spcBef>
              <a:buFont typeface="Wingdings"/>
              <a:buChar char=""/>
              <a:tabLst>
                <a:tab pos="355600" algn="l"/>
                <a:tab pos="1373505" algn="l"/>
                <a:tab pos="2138680" algn="l"/>
                <a:tab pos="2988945" algn="l"/>
                <a:tab pos="4903470" algn="l"/>
                <a:tab pos="5314950" algn="l"/>
                <a:tab pos="6668770" algn="l"/>
                <a:tab pos="7282815" algn="l"/>
                <a:tab pos="8399780" algn="l"/>
                <a:tab pos="8945880" algn="l"/>
              </a:tabLst>
            </a:pPr>
            <a:r>
              <a:rPr sz="2400" dirty="0">
                <a:solidFill>
                  <a:srgbClr val="2C2C2C"/>
                </a:solidFill>
                <a:latin typeface="Times New Roman"/>
                <a:cs typeface="Times New Roman"/>
              </a:rPr>
              <a:t>Dig</a:t>
            </a:r>
            <a:r>
              <a:rPr sz="2400" spc="-10" dirty="0">
                <a:solidFill>
                  <a:srgbClr val="2C2C2C"/>
                </a:solidFill>
                <a:latin typeface="Times New Roman"/>
                <a:cs typeface="Times New Roman"/>
              </a:rPr>
              <a:t>i</a:t>
            </a:r>
            <a:r>
              <a:rPr sz="2400" dirty="0">
                <a:solidFill>
                  <a:srgbClr val="2C2C2C"/>
                </a:solidFill>
                <a:latin typeface="Times New Roman"/>
                <a:cs typeface="Times New Roman"/>
              </a:rPr>
              <a:t>tal	to</a:t>
            </a:r>
            <a:r>
              <a:rPr sz="2400" spc="-10" dirty="0">
                <a:solidFill>
                  <a:srgbClr val="2C2C2C"/>
                </a:solidFill>
                <a:latin typeface="Times New Roman"/>
                <a:cs typeface="Times New Roman"/>
              </a:rPr>
              <a:t>o</a:t>
            </a:r>
            <a:r>
              <a:rPr sz="2400" spc="-5" dirty="0">
                <a:solidFill>
                  <a:srgbClr val="2C2C2C"/>
                </a:solidFill>
                <a:latin typeface="Times New Roman"/>
                <a:cs typeface="Times New Roman"/>
              </a:rPr>
              <a:t>ls</a:t>
            </a:r>
            <a:r>
              <a:rPr sz="2400" dirty="0">
                <a:solidFill>
                  <a:srgbClr val="2C2C2C"/>
                </a:solidFill>
                <a:latin typeface="Times New Roman"/>
                <a:cs typeface="Times New Roman"/>
              </a:rPr>
              <a:t>	allow	</a:t>
            </a:r>
            <a:r>
              <a:rPr sz="2400" spc="-20" dirty="0">
                <a:solidFill>
                  <a:srgbClr val="2C2C2C"/>
                </a:solidFill>
                <a:latin typeface="Times New Roman"/>
                <a:cs typeface="Times New Roman"/>
              </a:rPr>
              <a:t>m</a:t>
            </a:r>
            <a:r>
              <a:rPr sz="2400" dirty="0">
                <a:solidFill>
                  <a:srgbClr val="2C2C2C"/>
                </a:solidFill>
                <a:latin typeface="Times New Roman"/>
                <a:cs typeface="Times New Roman"/>
              </a:rPr>
              <a:t>anufacturers	</a:t>
            </a:r>
            <a:r>
              <a:rPr sz="2400" spc="5" dirty="0">
                <a:solidFill>
                  <a:srgbClr val="2C2C2C"/>
                </a:solidFill>
                <a:latin typeface="Times New Roman"/>
                <a:cs typeface="Times New Roman"/>
              </a:rPr>
              <a:t>t</a:t>
            </a:r>
            <a:r>
              <a:rPr sz="2400" dirty="0">
                <a:solidFill>
                  <a:srgbClr val="2C2C2C"/>
                </a:solidFill>
                <a:latin typeface="Times New Roman"/>
                <a:cs typeface="Times New Roman"/>
              </a:rPr>
              <a:t>o	</a:t>
            </a:r>
            <a:r>
              <a:rPr sz="2400" spc="-10" dirty="0">
                <a:solidFill>
                  <a:srgbClr val="2C2C2C"/>
                </a:solidFill>
                <a:latin typeface="Times New Roman"/>
                <a:cs typeface="Times New Roman"/>
              </a:rPr>
              <a:t>c</a:t>
            </a:r>
            <a:r>
              <a:rPr sz="2400" dirty="0">
                <a:solidFill>
                  <a:srgbClr val="2C2C2C"/>
                </a:solidFill>
                <a:latin typeface="Times New Roman"/>
                <a:cs typeface="Times New Roman"/>
              </a:rPr>
              <a:t>e</a:t>
            </a:r>
            <a:r>
              <a:rPr sz="2400" spc="-10" dirty="0">
                <a:solidFill>
                  <a:srgbClr val="2C2C2C"/>
                </a:solidFill>
                <a:latin typeface="Times New Roman"/>
                <a:cs typeface="Times New Roman"/>
              </a:rPr>
              <a:t>n</a:t>
            </a:r>
            <a:r>
              <a:rPr sz="2400" dirty="0">
                <a:solidFill>
                  <a:srgbClr val="2C2C2C"/>
                </a:solidFill>
                <a:latin typeface="Times New Roman"/>
                <a:cs typeface="Times New Roman"/>
              </a:rPr>
              <a:t>tra</a:t>
            </a:r>
            <a:r>
              <a:rPr sz="2400" spc="-10" dirty="0">
                <a:solidFill>
                  <a:srgbClr val="2C2C2C"/>
                </a:solidFill>
                <a:latin typeface="Times New Roman"/>
                <a:cs typeface="Times New Roman"/>
              </a:rPr>
              <a:t>l</a:t>
            </a:r>
            <a:r>
              <a:rPr sz="2400" dirty="0">
                <a:solidFill>
                  <a:srgbClr val="2C2C2C"/>
                </a:solidFill>
                <a:latin typeface="Times New Roman"/>
                <a:cs typeface="Times New Roman"/>
              </a:rPr>
              <a:t>i</a:t>
            </a:r>
            <a:r>
              <a:rPr sz="2400" spc="-20" dirty="0">
                <a:solidFill>
                  <a:srgbClr val="2C2C2C"/>
                </a:solidFill>
                <a:latin typeface="Times New Roman"/>
                <a:cs typeface="Times New Roman"/>
              </a:rPr>
              <a:t>z</a:t>
            </a:r>
            <a:r>
              <a:rPr sz="2400" dirty="0">
                <a:solidFill>
                  <a:srgbClr val="2C2C2C"/>
                </a:solidFill>
                <a:latin typeface="Times New Roman"/>
                <a:cs typeface="Times New Roman"/>
              </a:rPr>
              <a:t>e	and	</a:t>
            </a:r>
            <a:r>
              <a:rPr sz="2400" spc="-20" dirty="0">
                <a:solidFill>
                  <a:srgbClr val="2C2C2C"/>
                </a:solidFill>
                <a:latin typeface="Times New Roman"/>
                <a:cs typeface="Times New Roman"/>
              </a:rPr>
              <a:t>m</a:t>
            </a:r>
            <a:r>
              <a:rPr sz="2400" dirty="0">
                <a:solidFill>
                  <a:srgbClr val="2C2C2C"/>
                </a:solidFill>
                <a:latin typeface="Times New Roman"/>
                <a:cs typeface="Times New Roman"/>
              </a:rPr>
              <a:t>a</a:t>
            </a:r>
            <a:r>
              <a:rPr sz="2400" spc="-10" dirty="0">
                <a:solidFill>
                  <a:srgbClr val="2C2C2C"/>
                </a:solidFill>
                <a:latin typeface="Times New Roman"/>
                <a:cs typeface="Times New Roman"/>
              </a:rPr>
              <a:t>n</a:t>
            </a:r>
            <a:r>
              <a:rPr sz="2400" dirty="0">
                <a:solidFill>
                  <a:srgbClr val="2C2C2C"/>
                </a:solidFill>
                <a:latin typeface="Times New Roman"/>
                <a:cs typeface="Times New Roman"/>
              </a:rPr>
              <a:t>age	the	e</a:t>
            </a:r>
            <a:r>
              <a:rPr sz="2400" spc="-10" dirty="0">
                <a:solidFill>
                  <a:srgbClr val="2C2C2C"/>
                </a:solidFill>
                <a:latin typeface="Times New Roman"/>
                <a:cs typeface="Times New Roman"/>
              </a:rPr>
              <a:t>n</a:t>
            </a:r>
            <a:r>
              <a:rPr sz="2400" dirty="0">
                <a:solidFill>
                  <a:srgbClr val="2C2C2C"/>
                </a:solidFill>
                <a:latin typeface="Times New Roman"/>
                <a:cs typeface="Times New Roman"/>
              </a:rPr>
              <a:t>ti</a:t>
            </a:r>
            <a:r>
              <a:rPr sz="2400" spc="-10" dirty="0">
                <a:solidFill>
                  <a:srgbClr val="2C2C2C"/>
                </a:solidFill>
                <a:latin typeface="Times New Roman"/>
                <a:cs typeface="Times New Roman"/>
              </a:rPr>
              <a:t>r</a:t>
            </a:r>
            <a:r>
              <a:rPr sz="2400" dirty="0">
                <a:solidFill>
                  <a:srgbClr val="2C2C2C"/>
                </a:solidFill>
                <a:latin typeface="Times New Roman"/>
                <a:cs typeface="Times New Roman"/>
              </a:rPr>
              <a:t>e  </a:t>
            </a:r>
            <a:r>
              <a:rPr sz="2400" spc="-5" dirty="0">
                <a:solidFill>
                  <a:srgbClr val="2C2C2C"/>
                </a:solidFill>
                <a:latin typeface="Times New Roman"/>
                <a:cs typeface="Times New Roman"/>
              </a:rPr>
              <a:t>manufacturing process </a:t>
            </a:r>
            <a:r>
              <a:rPr sz="2400" dirty="0">
                <a:solidFill>
                  <a:srgbClr val="2C2C2C"/>
                </a:solidFill>
                <a:latin typeface="Times New Roman"/>
                <a:cs typeface="Times New Roman"/>
              </a:rPr>
              <a:t>in</a:t>
            </a:r>
            <a:r>
              <a:rPr sz="2400" spc="-15" dirty="0">
                <a:solidFill>
                  <a:srgbClr val="2C2C2C"/>
                </a:solidFill>
                <a:latin typeface="Times New Roman"/>
                <a:cs typeface="Times New Roman"/>
              </a:rPr>
              <a:t> </a:t>
            </a:r>
            <a:r>
              <a:rPr sz="2400" dirty="0">
                <a:solidFill>
                  <a:srgbClr val="2C2C2C"/>
                </a:solidFill>
                <a:latin typeface="Times New Roman"/>
                <a:cs typeface="Times New Roman"/>
              </a:rPr>
              <a:t>one</a:t>
            </a:r>
            <a:r>
              <a:rPr sz="2400" spc="-10" dirty="0">
                <a:solidFill>
                  <a:srgbClr val="2C2C2C"/>
                </a:solidFill>
                <a:latin typeface="Times New Roman"/>
                <a:cs typeface="Times New Roman"/>
              </a:rPr>
              <a:t> </a:t>
            </a:r>
            <a:r>
              <a:rPr sz="2400" dirty="0">
                <a:solidFill>
                  <a:srgbClr val="2C2C2C"/>
                </a:solidFill>
                <a:latin typeface="Times New Roman"/>
                <a:cs typeface="Times New Roman"/>
              </a:rPr>
              <a:t>software</a:t>
            </a:r>
            <a:r>
              <a:rPr sz="2400" spc="5" dirty="0">
                <a:solidFill>
                  <a:srgbClr val="2C2C2C"/>
                </a:solidFill>
                <a:latin typeface="Times New Roman"/>
                <a:cs typeface="Times New Roman"/>
              </a:rPr>
              <a:t> </a:t>
            </a:r>
            <a:r>
              <a:rPr sz="2400" spc="-5" dirty="0">
                <a:solidFill>
                  <a:srgbClr val="2C2C2C"/>
                </a:solidFill>
                <a:latin typeface="Times New Roman"/>
                <a:cs typeface="Times New Roman"/>
              </a:rPr>
              <a:t>platform,</a:t>
            </a:r>
            <a:endParaRPr sz="2400" dirty="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45278" y="2368372"/>
            <a:ext cx="2674620" cy="848994"/>
          </a:xfrm>
          <a:prstGeom prst="rect">
            <a:avLst/>
          </a:prstGeom>
        </p:spPr>
        <p:txBody>
          <a:bodyPr vert="horz" wrap="square" lIns="0" tIns="12700" rIns="0" bIns="0" rtlCol="0">
            <a:spAutoFit/>
          </a:bodyPr>
          <a:lstStyle/>
          <a:p>
            <a:pPr marL="12700">
              <a:lnSpc>
                <a:spcPct val="100000"/>
              </a:lnSpc>
              <a:spcBef>
                <a:spcPts val="100"/>
              </a:spcBef>
            </a:pPr>
            <a:r>
              <a:rPr sz="5400" u="none" spc="-5" dirty="0">
                <a:latin typeface="Corbel"/>
                <a:cs typeface="Corbel"/>
              </a:rPr>
              <a:t>THANKS</a:t>
            </a:r>
            <a:endParaRPr sz="5400">
              <a:latin typeface="Corbel"/>
              <a:cs typeface="Corbe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307</TotalTime>
  <Words>1972</Words>
  <Application>Microsoft Office PowerPoint</Application>
  <PresentationFormat>Widescreen</PresentationFormat>
  <Paragraphs>184</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Arial MT</vt:lpstr>
      <vt:lpstr>Calibri</vt:lpstr>
      <vt:lpstr>Corbel</vt:lpstr>
      <vt:lpstr>Times New Roman</vt:lpstr>
      <vt:lpstr>Wingdings</vt:lpstr>
      <vt:lpstr>Office Theme</vt:lpstr>
      <vt:lpstr>PowerPoint Presentation</vt:lpstr>
      <vt:lpstr>Course Outcomes (CO)</vt:lpstr>
      <vt:lpstr>Program Outcomes (PO)</vt:lpstr>
      <vt:lpstr>PowerPoint Presentation</vt:lpstr>
      <vt:lpstr>PowerPoint Presentation</vt:lpstr>
      <vt:lpstr>PowerPoint Presentation</vt:lpstr>
      <vt:lpstr>Text Books and References</vt:lpstr>
      <vt:lpstr>Course Details</vt:lpstr>
      <vt:lpstr>Course Assessment Model</vt:lpstr>
      <vt:lpstr>Course Content</vt:lpstr>
      <vt:lpstr>Course Content</vt:lpstr>
      <vt:lpstr>Introduction to Engineering Drawing</vt:lpstr>
      <vt:lpstr>Introduction to Engineering Drawing</vt:lpstr>
      <vt:lpstr>PowerPoint Presentation</vt:lpstr>
      <vt:lpstr>PowerPoint Presentation</vt:lpstr>
      <vt:lpstr>Unit 1: Introduction to Engineering Drawing</vt:lpstr>
      <vt:lpstr>Unit 2: Projection of Points and Lines </vt:lpstr>
      <vt:lpstr>Unit 3: Orthographic and Sectional Views </vt:lpstr>
      <vt:lpstr>Unit 4: Isometric Views and Development of Surfaces </vt:lpstr>
      <vt:lpstr>Unit 5: Introduction to Digital Fabrication</vt:lpstr>
      <vt:lpstr>Unit 6: Rapid Prototyping Systems </vt:lpstr>
      <vt:lpstr>Benefits of Engineering Drawing in CSE</vt:lpstr>
      <vt:lpstr>Benefits of Digital Manufacturing in CSE</vt:lpstr>
      <vt:lpstr>Benefits of Digital Manufacturing in CSE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 135 BASICS OF MECHANICAL engineering L : 2 T: 1 P: 0  Credit: 3</dc:title>
  <dc:creator>Kalidasan Rathinam</dc:creator>
  <cp:lastModifiedBy>USER</cp:lastModifiedBy>
  <cp:revision>52</cp:revision>
  <dcterms:created xsi:type="dcterms:W3CDTF">2023-01-19T03:42:31Z</dcterms:created>
  <dcterms:modified xsi:type="dcterms:W3CDTF">2024-01-20T18:34:21Z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2023-01-18T00:00:00Z</vt:filetime>
  </property>
  <property fmtid="{D5CDD505-2E9C-101B-9397-08002B2CF9AE}" pid="3" name="Creator">
    <vt:lpwstr>Microsoft® PowerPoint® 2010</vt:lpwstr>
  </property>
  <property fmtid="{D5CDD505-2E9C-101B-9397-08002B2CF9AE}" pid="4" name="LastSaved">
    <vt:filetime>2023-01-19T00:00:00Z</vt:filetime>
  </property>
</Properties>
</file>